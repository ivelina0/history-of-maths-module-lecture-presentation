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0:00–2:00 [Ivelina]. Welcome. Ask students to scan the QR code now: it opens our booklet, "Historical Contributions of Different Cultures to Mathematics" (QMUL, 2024–2026), at https://www.seresearch.qmul.ac.uk/content/pce/schoolsedi/files/History_of_Maths_QMUL_2026.pdf — also post this link on the module page. Chapter 6 (calculus) and Chapter 7 (Bayesian probability) are the worked examples we return to near the end. This lecture summarises our summer research project. Plan: Section 1, eight rules for reading the history of mathematics; Section 2, real cases where the rules were broken; Section 3, writing carefully and the careful-sentence game; Section 4, where to start reading and where the originals live; Section 5, our booklet chapters; then a short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Brief introduction before Section 1. Norberto introduces himself at the start of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Section 1: the rules. We give all eight on one slide, then take them one at a time with an example from Euclid, Agnesi, Bayes, Newton and the 20th-century statisticians.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The eight rules on one slide; the next slides take them one at a time. Rule 8 is the one the real-world cases in Section 2 break most often. The 'Eight habits for writing' in Section 3 are the same rules applied to your own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7:00–9:00 [Ivelina]. Define the terms. A primary source is the document from the period. Secondary: a scholar's argument built on primaries, with footnotes you can check. Tertiary: summaries of secondaries. An LLM (ChatGPT, Claude, any of them) sits at the end of the chain: it has absorbed all three layers and reproduces their patterns, including their errors, and can produce plausible references that do not exist. It is fine for orientation; it is never a source. We will see the compression effect concretely in the Bayes–Hume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The curve had been studied by Fermat and by Guido Grandi, who named it versiera in 1718. Colson (Lucasian Professor at Cambridge) learned Italian to translate Agnesi; his translation was published posthumously in 1801. Accounts differ slightly on exactly how the error happened (misreading versiera as avversiera, or knowing that versiera could also mean she-devil) — a nice small example of competing secondary explanations. Exercise: compare the two scans yourself. Also note Colson replaced Leibniz's notation with Newton's — the translation changed the mathematics' presentation, not just a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Start with the example: a coin of unknown bias, seven heads in ten tosses. What's the chance its true probability of heads is between 0.5 and 0.9? That's the inverse problem (Hartley's name for it, 1749). The direct problem goes the other way: θ = ½ is known and you predict the data. Bayes's wording: 'Given the number of times in which an unknown event has happened and failed: Required the chance that the probability of its happening in a single trial lies somewhere between any two degrees of probability that can be named.' Left column: Bernoulli's law of large numbers is about the frequency when θ is known; run backwards it gives a point guess θ ≈ 0.7. De Moivre's normal approximation says how much the frequency wobbles around θ (s.d. ≈ 0.14 at θ = 0.7, n = 10) — still about the data given θ, exact only as n grows. Right column: Bayes treats θ as uncertain, starts from a flat prior (his billiard table), weights each θ by the likelihood θ⁷(1−θ)³, and divides by the normalising integral, the Beta function B(8, 4) = 1/1320. The result is a Beta(8, 4) curve for θ, mean 2/3; the area between 0.5 and 0.9 is 0.868 — a direct answer at n = 10. The dispute: the 1756 edition of De Moivre (perhaps written by its editor Patrick Murdoch, per Diniz &amp; Bellhouse) implies Approach 1 is enough; Price says no one before Bayes had solved it. The calculation shows they answer different questions, so Price was right. Note the denominator: here it has a closed form; in general it doesn't — the 'intractable denominator' of our Bayes chapter. Optional: 70 heads in 100 gives P(0.6 &lt; θ &lt; 0.8) ≈ 0.97.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19:00–23:00 [Ivelina]. The two papers are open access — students can read both this week. Stigler found offprints of Bayes's essay and Price's supplement with titles far bolder than the journal's 'An Essay towards solving a Problem in the Doctrine of Chances'. He argues Price chose them, and that Price was almost surely, and Bayes not improbably, aiming at Hume's 'Of Miracles' (1748). Diniz and Bellhouse argue the opposite for Bayes: his work came from De Moivre, and if Bayes is Hartley's 'ingenious Friend' (Hartley 1749), the chronology leaves at most about eight months after Hume. Note that both camps agree Price used Bayes against Hume; they disagree about Bayes. Ask: what evidence would settle it? (A dated note in Bayes's hand mentioning Hume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23:00–25:00 [Ivelina]. This is the module's thesis in one slide. Each step away from the original strips qualifications. Primary: a title, chosen by Price, silent on Bayes's motive. Secondary: Stigler's careful 'almost surely' for Price and 'not improbably' for Bayes, with his own warning that Bayes's motive is the most speculative step. Popular: 'inspired to prove Hume wrong' — the qualifier is gone. Repost: a Yale faculty blog shares the Nautilus piece under the headline 'Bayes' theorem began as a defense of Christianity' — now it's no longer about Bayes's or Price's motives but about the origin of the theorem itself, which no source supports (and Diniz &amp; Bellhouse argue Bayes came to the problem through De Moivre). Note the extra authority effect: a university domain makes the claim look more reliable, but it is a blog repost of a magazine article. Nobody lied; the qualifying words just did not survive compression. Live demo option: ask ChatGPT or Claude 'Why did Bayes write his essay?' and see which layer the answer resembles.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Two people, two routes to the same result. Newton developed fluxions in 1665–66 but kept them largely in manuscript (De analysi went to John Collins in 1669; the method appeared in print only in 1704 with the Opticks, and De analysi in 1711). Leibniz worked out his differential calculus around 1675 and published first, in Acta Eruditorum in 1684, with the dx and ∫ notation we still use. When Leibniz appealed to the Royal Society in 1711–12, its committee report, the Commercium Epistolicum, sided with Newton and implied plagiarism. The manuscripts in Cambridge (MS Add. 3968) show Newton, the Society's President, chose the material and drafted the report himself; he then reviewed it anonymously in Philosophical Transactions (1715; 1714 in England's old calendar). The 'official' verdict was repeated in Britain for over a century, until Leibniz's own papers were published. Lesson: always ask who wrote a source and why. Optional bridge to the Bayes chapter: in 1736 Thomas Bayes anonymously defended Newton's fluxions against Berkeley's The Analyst (1734). Booklet Chapter 6, section 6.6, p.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16:00–19:00 [Ivelina]. From our Bayes chapter. The 'frequentist vs Bayesian' quarrel was not a distraction from mathematics; it produced it. Fisher built information and likelihood partly to avoid priors; Jeffreys then turned Fisher's information into a prior (1946) — Fisher's machinery powering a method he opposed. Wald, preferring minimax, proved that every admissible rule is (a limit of) a Bayes rule. Point out a dating subtlety: Ramsey wrote 'Truth and Probability' in 1926 but it was published posthumously in 1931 — written date vs published date is exactly the kind of thing a summary gets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47:00–50:00 [Ivelina / Norberto]. Discrimination by gender, nationality and language shaped who got credit and whose texts got translated. Kerala work was in Sanskrit and Malayalam and reached European historians late; Agnesi is known for a 'witch'; Wrinch's collaboration with Jeffreys is acknowledged in his own words yet rarely mentioned; Scott's name is in the 'Neyman–Scott problem' but she is often omitted; Clarke's statistical contribution is less documented than Turing's or Good's. The search itself is an exercise in primary sources: author lists, acknowledgements, archives, minutes. But be disciplined: claim only what the documents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28:00–29:00 [Norberto]. Transition. The habits we're asking for are not academic fussiness: professionals who skipped them have been sanctioned, refunded fees, retracted papers, and in one case contributed to a public-health crisis. Two failure modes to watch for: fabrication (often, now, from generative AI) and distortion (people citing a real source for something it doesn't say — the older and arguably more dangerous problem, and exactly the Stigler-hedge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29:00–31:00 [Norberto]. The famous first case. The lawyer had practised for thirty years. The key lesson for students: you cannot verify a source by asking the system that produced it. Verification means opening the actual source — here a legal database; for us, the Royal Society archive or a library. Also note: the sanctions were partly for continuing to stand by the fake opinions after their existence was questioned.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33:00–35:00 [Norberto]. A professional services firm, a government client, a large fee. The department said the substance of the report was unchanged after corrections — but that is exactly the point: once a reader finds one invented citation, every other claim needs re-checking. Misquoting a judge is the legal-world equivalent of misquoting Bayes or Newton. Deloitte did not confirm to AP whether the errors came from AI, but the revised version disclosed Azure OpenAI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37:00–40:00 [Norberto]. The most important case, because nothing was fabricated. The source was real and short enough to read in thirty seconds. Hundreds of authors cited it for a claim it never made — that long-term outpatient opioid therapy is safe — because they were citing other citations rather than the letter. The 2017 analysis argues this citation pattern helped shape the narrative that reassured prescribers. Connect back: this is the same mechanism as 'not improbably' becoming 'inspired to prove Hume wrong'. Only reading the original catches it. (Check the NEJM volume/page numbers on the footer against the journal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40:00–41:30 [Norberto]. Pharma example. Not an AI case — a primary-data case. The analysis may have been competent, but nobody outside the company had seen the underlying records. For historians the analogue is quoting a 'manuscript' you've only seen described, or a 'letter' known from a biography. If you haven't seen it,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Summarise quickly — the table maps each case to a rule from Section 1. The last row is ours: the history of mathematics has exactly the same failure modes, just with lower stakes than a court or a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Section 3: a practical path. Good secondary histories are where you start, not where you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Serious, well-sourced starting points — not the last word. Stedall's short book is the ideal first read: it is explicitly about how history of mathematics is done, and her sourcebook puts facsimiles and translations of originals in your hands. Use these to find the primary sources, then read those — and feel free to end up disagreeing with the authors, as Diniz and Bellhouse disagree with Stigler.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Almost everything discussed today can be read free, tonight. The links are clickable in the shared deck. Library access adds JSTOR and journal archives. Agnesi's 1748 and 1801 editions are in the Linda Hall Library's digital collections (lindahall.org).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Section 4: from reading to writing. Eight writing habits, one sentence written three ways, then the careful-sentence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Walk through, with an example for each: (1) quote Bayes from the Phil. Trans. text, not from a website; (2) versiera, sēmeion; (3) Stigler's 'not improbably'; (4) Ramsey 1926/1931; the Commercium 'Account' dated 1714 in England's Julian calendar but 1715 on the Continent; (5) every DOI should open; (6) you can't judge Bayes vs De Moivre without the mathematics; (7) e.g. 'We follow Diniz &amp; Bellhouse against Stigler on Bayes's motive, because…'; (8) AI tools are useful for finding where to look and for translation drafts — but every fact and every reference must be checked at its source, and you are responsible for what you submit. Then straight into the careful-sentence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46:00–47:00 [Ivelina]. The weak version states speculation as fact. The 'better' version is vague — which historians, on what evidence? The careful version names the scholars, the evidence, the strength of each claim, the counter-argument, and what the primary source does and doesn't say. It's longer — that's the price of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Four rounds (a spare fifth round is in the appendix), about a minute each. Split the room into teams if you like: a point for spotting the problem, a point for naming the rule, a point for the best rewrite. On each round slide, click once in Present mode to reveal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Click to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Click to reveal. Good credited both Jeffreys and Turing, who had called it 'the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The trick round. Click to reveal. Contrast with the 'weak' sentence earlier: the evidence is documented for Price, speculative for Bayes.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Click to reveal. Link back to the Rule 5 slide (Commercium Epistolicum).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Brief introduction.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Picks up straight from the last game round: the same sentence, now taken apart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The method for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Claim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3-minute pair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Claim 2. Links back to the Newton–Leibniz slide in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4-minute group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Claim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Case study: sums of powers.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Case study: Madhava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Claim 4. Agnesi links back to the 'Witch' slide in Section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The FTC as the link between the two old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Norberto's own research area: stochastic calculus.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5-minute group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Compare with the groups' rewrites.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[Norberto]. Wrap-up, then hand back for the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and Norberto]. Thank the students and take questions. Remind them the booklet is linked from the QR code on the first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[Ivelina]. Appendix: spare round, use only if there is time. Click to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1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F2433"/>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F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1E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F2433"/>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F24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ivelina0.github.io/" TargetMode="External"/><Relationship Id="rId1"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Maria_Gaetana_Agnesi" TargetMode="External"/><Relationship Id="rId4" Type="http://schemas.openxmlformats.org/officeDocument/2006/relationships/hyperlink" Target="https://mathshistory.st-andrews.ac.uk/Biographies/Agnesi/" TargetMode="External"/><Relationship Id="rId5" Type="http://schemas.openxmlformats.org/officeDocument/2006/relationships/hyperlink" Target="https://www.lindahall.org" TargetMode="External"/><Relationship Id="rId1" Type="http://schemas.openxmlformats.org/officeDocument/2006/relationships/image" Target="../media/image-6-1.png"/><Relationship Id="rId2" Type="http://schemas.openxmlformats.org/officeDocument/2006/relationships/image" Target="../media/image-6-2.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098/rstl.1763.0053" TargetMode="External"/><Relationship Id="rId2" Type="http://schemas.openxmlformats.org/officeDocument/2006/relationships/hyperlink" Target="https://arxiv.org/pdf/2202.03819" TargetMode="Externa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faculty.som.yale.edu/jameschoi/bayes-theorem-began-as-a-defense-of-christianity/" TargetMode="External"/><Relationship Id="rId3" Type="http://schemas.openxmlformats.org/officeDocument/2006/relationships/hyperlink" Target="https://faculty.som.yale.edu/jameschoi/bayes-theorem-began-as-a-defense-of-christianity/" TargetMode="External"/><Relationship Id="rId2" Type="http://schemas.openxmlformats.org/officeDocument/2006/relationships/image" Target="../media/image-9-1.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dl.lib.cam.ac.uk/view/MS-ADD-03968/1"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www.law.berkeley.edu/wp-content/uploads/archive/2025/12/Mata-v-Avianca-Inc.pdf" TargetMode="External"/><Relationship Id="rId2" Type="http://schemas.openxmlformats.org/officeDocument/2006/relationships/hyperlink" Target="https://en.wikipedia.org/wiki/Mata_v._Avianca,_Inc." TargetMode="External"/><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apnews.com/article/australia-ai-errors-deloitte-ab54858680ffc4ae6555b31c8fb987f3" TargetMode="External"/><Relationship Id="rId2" Type="http://schemas.openxmlformats.org/officeDocument/2006/relationships/hyperlink" Target="https://www.usnews.com/news/business/articles/2025-10-07/deloitte-to-partially-refund-australian-government-for-report-with-apparent-ai-generated-errors" TargetMode="External"/><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nejm.org/doi/full/10.1056/NEJM198001103020221" TargetMode="External"/><Relationship Id="rId2" Type="http://schemas.openxmlformats.org/officeDocument/2006/relationships/hyperlink" Target="https://doi.org/10.1056/NEJM198001103020221" TargetMode="External"/><Relationship Id="rId3" Type="http://schemas.openxmlformats.org/officeDocument/2006/relationships/hyperlink" Target="https://en.wikipedia.org/wiki/Addiction_Rare_in_Patients_Treated_with_Narcotics" TargetMode="External"/><Relationship Id="rId4" Type="http://schemas.openxmlformats.org/officeDocument/2006/relationships/hyperlink" Target="https://www.nejm.org/doi/full/10.1056/NEJMc1700150" TargetMode="External"/><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www.ncbi.nlm.nih.gov/search/research-news/11590/" TargetMode="External"/><Relationship Id="rId2" Type="http://schemas.openxmlformats.org/officeDocument/2006/relationships/hyperlink" Target="https://ui.adsabs.harvard.edu/abs/2021Sci...371..331P/abstract" TargetMode="External"/><Relationship Id="rId3" Type="http://schemas.openxmlformats.org/officeDocument/2006/relationships/hyperlink" Target="https://ui.adsabs.harvard.edu/abs/2021Sci...371..331P/abstract" TargetMode="External"/><Relationship Id="rId4" Type="http://schemas.openxmlformats.org/officeDocument/2006/relationships/hyperlink" Target="https://ui.adsabs.harvard.edu/abs/2021Sci...371..331P/abstract" TargetMode="External"/><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33"/>
        </a:solidFill>
      </p:bgPr>
    </p:bg>
    <p:spTree>
      <p:nvGrpSpPr>
        <p:cNvPr id="1" name=""/>
        <p:cNvGrpSpPr/>
        <p:nvPr/>
      </p:nvGrpSpPr>
      <p:grpSpPr>
        <a:xfrm>
          <a:off x="0" y="0"/>
          <a:ext cx="0" cy="0"/>
          <a:chOff x="0" y="0"/>
          <a:chExt cx="0" cy="0"/>
        </a:xfrm>
      </p:grpSpPr>
      <p:sp>
        <p:nvSpPr>
          <p:cNvPr id="2" name="Text 0"/>
          <p:cNvSpPr/>
          <p:nvPr/>
        </p:nvSpPr>
        <p:spPr>
          <a:xfrm>
            <a:off x="812800" y="812800"/>
            <a:ext cx="711606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0A458"/>
                </a:solidFill>
                <a:latin typeface="IBM Plex Sans" pitchFamily="34" charset="0"/>
                <a:ea typeface="IBM Plex Sans" pitchFamily="34" charset="-122"/>
                <a:cs typeface="IBM Plex Sans" pitchFamily="34" charset="-120"/>
              </a:rPr>
              <a:t>HISTORY OF MATHEMATICS · MTH6003U</a:t>
            </a:r>
            <a:endParaRPr lang="en-US" sz="1200" dirty="0"/>
          </a:p>
        </p:txBody>
      </p:sp>
      <p:sp>
        <p:nvSpPr>
          <p:cNvPr id="3" name="Text 1"/>
          <p:cNvSpPr/>
          <p:nvPr>
            <p:ph type="title"/>
          </p:nvPr>
        </p:nvSpPr>
        <p:spPr>
          <a:xfrm>
            <a:off x="812800" y="2507059"/>
            <a:ext cx="7116064" cy="914400"/>
          </a:xfrm>
          <a:prstGeom prst="rect">
            <a:avLst/>
          </a:prstGeom>
          <a:noFill/>
          <a:ln/>
        </p:spPr>
        <p:txBody>
          <a:bodyPr wrap="square" lIns="0" tIns="0" rIns="0" bIns="0" rtlCol="0" anchor="t">
            <a:normAutofit/>
          </a:bodyPr>
          <a:lstStyle/>
          <a:p>
            <a:pPr algn="l" indent="0" marL="0">
              <a:lnSpc>
                <a:spcPts val="7000"/>
              </a:lnSpc>
              <a:buNone/>
            </a:pPr>
            <a:r>
              <a:rPr lang="en-US" sz="7000" b="0" i="0" dirty="0">
                <a:solidFill>
                  <a:srgbClr val="F6F1E7"/>
                </a:solidFill>
                <a:latin typeface="EB Garamond" pitchFamily="18" charset="0"/>
                <a:ea typeface="EB Garamond" pitchFamily="18" charset="-122"/>
                <a:cs typeface="EB Garamond" pitchFamily="18" charset="-120"/>
              </a:rPr>
              <a:t>History of Maths</a:t>
            </a:r>
            <a:endParaRPr lang="en-US" sz="7000" dirty="0"/>
          </a:p>
        </p:txBody>
      </p:sp>
      <p:sp>
        <p:nvSpPr>
          <p:cNvPr id="4" name="Text 2"/>
          <p:cNvSpPr/>
          <p:nvPr/>
        </p:nvSpPr>
        <p:spPr>
          <a:xfrm>
            <a:off x="812800" y="3650059"/>
            <a:ext cx="711606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CED8"/>
                </a:solidFill>
                <a:latin typeface="IBM Plex Sans" pitchFamily="34" charset="0"/>
                <a:ea typeface="IBM Plex Sans" pitchFamily="34" charset="-122"/>
                <a:cs typeface="IBM Plex Sans" pitchFamily="34" charset="-120"/>
              </a:rPr>
              <a:t>Our summer research project — what we have learnt</a:t>
            </a:r>
            <a:endParaRPr lang="en-US" sz="2000" dirty="0"/>
          </a:p>
        </p:txBody>
      </p:sp>
      <p:sp>
        <p:nvSpPr>
          <p:cNvPr id="5" name="Text 3"/>
          <p:cNvSpPr/>
          <p:nvPr/>
        </p:nvSpPr>
        <p:spPr>
          <a:xfrm>
            <a:off x="812800" y="5461099"/>
            <a:ext cx="711606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1E7"/>
                </a:solidFill>
                <a:latin typeface="IBM Plex Sans" pitchFamily="34" charset="0"/>
                <a:ea typeface="IBM Plex Sans" pitchFamily="34" charset="-122"/>
                <a:cs typeface="IBM Plex Sans" pitchFamily="34" charset="-120"/>
              </a:rPr>
              <a:t>Ivelina Mladenova · Norberto Lucero Azuara</a:t>
            </a:r>
            <a:endParaRPr lang="en-US" sz="1600" dirty="0"/>
          </a:p>
        </p:txBody>
      </p:sp>
      <p:sp>
        <p:nvSpPr>
          <p:cNvPr id="6" name="Text 4"/>
          <p:cNvSpPr/>
          <p:nvPr/>
        </p:nvSpPr>
        <p:spPr>
          <a:xfrm>
            <a:off x="812800" y="5796359"/>
            <a:ext cx="71160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ED8"/>
                </a:solidFill>
                <a:latin typeface="IBM Plex Sans" pitchFamily="34" charset="0"/>
                <a:ea typeface="IBM Plex Sans" pitchFamily="34" charset="-122"/>
                <a:cs typeface="IBM Plex Sans" pitchFamily="34" charset="-120"/>
              </a:rPr>
              <a:t>Queen Mary University of London · 13 October 2026</a:t>
            </a:r>
            <a:endParaRPr lang="en-US" sz="1400" dirty="0"/>
          </a:p>
        </p:txBody>
      </p:sp>
      <p:sp>
        <p:nvSpPr>
          <p:cNvPr id="7" name="Shape 5"/>
          <p:cNvSpPr/>
          <p:nvPr/>
        </p:nvSpPr>
        <p:spPr>
          <a:xfrm>
            <a:off x="8331200" y="812800"/>
            <a:ext cx="3048000" cy="5232400"/>
          </a:xfrm>
          <a:prstGeom prst="roundRect">
            <a:avLst>
              <a:gd name="adj" fmla="val 5000"/>
            </a:avLst>
          </a:prstGeom>
          <a:solidFill>
            <a:srgbClr val="F6F1E7"/>
          </a:solidFill>
          <a:ln/>
        </p:spPr>
      </p:sp>
      <p:sp>
        <p:nvSpPr>
          <p:cNvPr id="8" name="Text 6"/>
          <p:cNvSpPr/>
          <p:nvPr/>
        </p:nvSpPr>
        <p:spPr>
          <a:xfrm>
            <a:off x="8636000" y="1242120"/>
            <a:ext cx="25115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SCAN FOR THE BOOKLET</a:t>
            </a:r>
            <a:endParaRPr lang="en-US" sz="1200" dirty="0"/>
          </a:p>
        </p:txBody>
      </p:sp>
      <p:pic>
        <p:nvPicPr>
          <p:cNvPr id="9" name="Image 0" descr="QR code linking to the booklet PDF">    </p:cNvPr>
          <p:cNvPicPr>
            <a:picLocks noChangeAspect="1"/>
          </p:cNvPicPr>
          <p:nvPr/>
        </p:nvPicPr>
        <p:blipFill>
          <a:blip r:embed="rId1"/>
          <a:srcRect l="0" r="0" t="0" b="0"/>
          <a:stretch/>
        </p:blipFill>
        <p:spPr>
          <a:xfrm>
            <a:off x="8636000" y="1633240"/>
            <a:ext cx="2438400" cy="2438400"/>
          </a:xfrm>
          <a:prstGeom prst="rect">
            <a:avLst/>
          </a:prstGeom>
        </p:spPr>
      </p:pic>
      <p:sp>
        <p:nvSpPr>
          <p:cNvPr id="10" name="Text 7"/>
          <p:cNvSpPr/>
          <p:nvPr/>
        </p:nvSpPr>
        <p:spPr>
          <a:xfrm>
            <a:off x="8636000" y="4249440"/>
            <a:ext cx="2511552" cy="787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F2433"/>
                </a:solidFill>
                <a:latin typeface="EB Garamond" pitchFamily="18" charset="0"/>
                <a:ea typeface="EB Garamond" pitchFamily="18" charset="-122"/>
                <a:cs typeface="EB Garamond" pitchFamily="18" charset="-120"/>
              </a:rPr>
              <a:t>Historical Contributions of Different Cultures to Mathematics</a:t>
            </a:r>
            <a:endParaRPr lang="en-US" sz="1600" dirty="0"/>
          </a:p>
        </p:txBody>
      </p:sp>
      <p:sp>
        <p:nvSpPr>
          <p:cNvPr id="11" name="Text 8"/>
          <p:cNvSpPr/>
          <p:nvPr/>
        </p:nvSpPr>
        <p:spPr>
          <a:xfrm>
            <a:off x="8636000" y="5189240"/>
            <a:ext cx="251155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5C"/>
                </a:solidFill>
                <a:latin typeface="IBM Plex Sans" pitchFamily="34" charset="0"/>
                <a:ea typeface="IBM Plex Sans" pitchFamily="34" charset="-122"/>
                <a:cs typeface="IBM Plex Sans" pitchFamily="34" charset="-120"/>
              </a:rPr>
              <a:t>QMUL, 2024–2026 · seresearch.qmul.ac.uk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737768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IVELINA MLADENOVA</a:t>
            </a:r>
            <a:endParaRPr lang="en-US" sz="1200" dirty="0"/>
          </a:p>
        </p:txBody>
      </p:sp>
      <p:sp>
        <p:nvSpPr>
          <p:cNvPr id="3" name="Text 1"/>
          <p:cNvSpPr/>
          <p:nvPr>
            <p:ph type="title"/>
          </p:nvPr>
        </p:nvSpPr>
        <p:spPr>
          <a:xfrm>
            <a:off x="812800" y="1102320"/>
            <a:ext cx="7377684"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A little bit about me</a:t>
            </a:r>
            <a:endParaRPr lang="en-US" sz="3600" dirty="0"/>
          </a:p>
        </p:txBody>
      </p:sp>
      <p:sp>
        <p:nvSpPr>
          <p:cNvPr id="4" name="Text 2"/>
          <p:cNvSpPr/>
          <p:nvPr/>
        </p:nvSpPr>
        <p:spPr>
          <a:xfrm>
            <a:off x="812800" y="1909961"/>
            <a:ext cx="7377684" cy="2292350"/>
          </a:xfrm>
          <a:prstGeom prst="rect">
            <a:avLst/>
          </a:prstGeom>
          <a:noFill/>
          <a:ln/>
        </p:spPr>
        <p:txBody>
          <a:bodyPr wrap="square" lIns="0" tIns="0" rIns="0" bIns="0" rtlCol="0" anchor="t">
            <a:normAutofit/>
          </a:bodyPr>
          <a:lstStyle/>
          <a:p>
            <a:pPr algn="l" marL="254000" indent="-203454">
              <a:lnSpc>
                <a:spcPts val="2550"/>
              </a:lnSpc>
              <a:buSzPct val="100000"/>
              <a:buChar char="•"/>
            </a:pPr>
            <a:r>
              <a:rPr lang="en-US" sz="1700" dirty="0">
                <a:solidFill>
                  <a:srgbClr val="3B4050"/>
                </a:solidFill>
                <a:latin typeface="IBM Plex Sans" pitchFamily="34" charset="0"/>
                <a:ea typeface="IBM Plex Sans" pitchFamily="34" charset="-122"/>
                <a:cs typeface="IBM Plex Sans" pitchFamily="34" charset="-120"/>
              </a:rPr>
              <a:t>I am currently a </a:t>
            </a:r>
            <a:r>
              <a:rPr lang="en-US" sz="1700" b="1" dirty="0">
                <a:solidFill>
                  <a:srgbClr val="3B4050"/>
                </a:solidFill>
                <a:latin typeface="IBM Plex Sans" pitchFamily="34" charset="0"/>
                <a:ea typeface="IBM Plex Sans" pitchFamily="34" charset="-122"/>
                <a:cs typeface="IBM Plex Sans" pitchFamily="34" charset="-120"/>
              </a:rPr>
              <a:t>PhD student at QMUL</a:t>
            </a:r>
            <a:r>
              <a:rPr lang="en-US" sz="1700" dirty="0">
                <a:solidFill>
                  <a:srgbClr val="3B4050"/>
                </a:solidFill>
                <a:latin typeface="IBM Plex Sans" pitchFamily="34" charset="0"/>
                <a:ea typeface="IBM Plex Sans" pitchFamily="34" charset="-122"/>
                <a:cs typeface="IBM Plex Sans" pitchFamily="34" charset="-120"/>
              </a:rPr>
              <a:t>.</a:t>
            </a:r>
            <a:endParaRPr lang="en-US" sz="1700" dirty="0"/>
          </a:p>
          <a:p>
            <a:pPr algn="l" marL="254000" indent="-203454">
              <a:lnSpc>
                <a:spcPts val="2550"/>
              </a:lnSpc>
              <a:buSzPct val="100000"/>
              <a:buChar char="•"/>
            </a:pPr>
            <a:r>
              <a:rPr lang="en-US" sz="1700" dirty="0">
                <a:solidFill>
                  <a:srgbClr val="3B4050"/>
                </a:solidFill>
                <a:latin typeface="IBM Plex Sans" pitchFamily="34" charset="0"/>
                <a:ea typeface="IBM Plex Sans" pitchFamily="34" charset="-122"/>
                <a:cs typeface="IBM Plex Sans" pitchFamily="34" charset="-120"/>
              </a:rPr>
              <a:t>My research combines </a:t>
            </a:r>
            <a:r>
              <a:rPr lang="en-US" sz="1700" b="1" dirty="0">
                <a:solidFill>
                  <a:srgbClr val="3B4050"/>
                </a:solidFill>
                <a:latin typeface="IBM Plex Sans" pitchFamily="34" charset="0"/>
                <a:ea typeface="IBM Plex Sans" pitchFamily="34" charset="-122"/>
                <a:cs typeface="IBM Plex Sans" pitchFamily="34" charset="-120"/>
              </a:rPr>
              <a:t>deep learning methods for solving PDEs</a:t>
            </a:r>
            <a:r>
              <a:rPr lang="en-US" sz="1700" dirty="0">
                <a:solidFill>
                  <a:srgbClr val="3B4050"/>
                </a:solidFill>
                <a:latin typeface="IBM Plex Sans" pitchFamily="34" charset="0"/>
                <a:ea typeface="IBM Plex Sans" pitchFamily="34" charset="-122"/>
                <a:cs typeface="IBM Plex Sans" pitchFamily="34" charset="-120"/>
              </a:rPr>
              <a:t>, with applications in </a:t>
            </a:r>
            <a:r>
              <a:rPr lang="en-US" sz="1700" b="1" dirty="0">
                <a:solidFill>
                  <a:srgbClr val="3B4050"/>
                </a:solidFill>
                <a:latin typeface="IBM Plex Sans" pitchFamily="34" charset="0"/>
                <a:ea typeface="IBM Plex Sans" pitchFamily="34" charset="-122"/>
                <a:cs typeface="IBM Plex Sans" pitchFamily="34" charset="-120"/>
              </a:rPr>
              <a:t>option pricing</a:t>
            </a:r>
            <a:r>
              <a:rPr lang="en-US" sz="1700" dirty="0">
                <a:solidFill>
                  <a:srgbClr val="3B4050"/>
                </a:solidFill>
                <a:latin typeface="IBM Plex Sans" pitchFamily="34" charset="0"/>
                <a:ea typeface="IBM Plex Sans" pitchFamily="34" charset="-122"/>
                <a:cs typeface="IBM Plex Sans" pitchFamily="34" charset="-120"/>
              </a:rPr>
              <a:t>.</a:t>
            </a:r>
            <a:endParaRPr lang="en-US" sz="1700" dirty="0"/>
          </a:p>
          <a:p>
            <a:pPr algn="l" indent="0" marL="0">
              <a:lnSpc>
                <a:spcPts val="2550"/>
              </a:lnSpc>
              <a:buNone/>
            </a:pPr>
            <a:endParaRPr lang="en-US" sz="1700" dirty="0"/>
          </a:p>
          <a:p>
            <a:pPr algn="l" indent="0" marL="0">
              <a:lnSpc>
                <a:spcPts val="2550"/>
              </a:lnSpc>
              <a:buNone/>
            </a:pPr>
            <a:r>
              <a:rPr lang="en-US" sz="1700" dirty="0">
                <a:solidFill>
                  <a:srgbClr val="3B4050"/>
                </a:solidFill>
                <a:latin typeface="IBM Plex Sans" pitchFamily="34" charset="0"/>
                <a:ea typeface="IBM Plex Sans" pitchFamily="34" charset="-122"/>
                <a:cs typeface="IBM Plex Sans" pitchFamily="34" charset="-120"/>
              </a:rPr>
              <a:t>In the booklet, I contributed to:</a:t>
            </a:r>
            <a:endParaRPr lang="en-US" sz="1700" dirty="0"/>
          </a:p>
          <a:p>
            <a:pPr algn="l" marL="254000" indent="-203454">
              <a:lnSpc>
                <a:spcPts val="2550"/>
              </a:lnSpc>
              <a:buSzPct val="100000"/>
              <a:buChar char="•"/>
            </a:pPr>
            <a:r>
              <a:rPr lang="en-US" sz="1700" b="1" dirty="0">
                <a:solidFill>
                  <a:srgbClr val="3B4050"/>
                </a:solidFill>
                <a:latin typeface="IBM Plex Sans" pitchFamily="34" charset="0"/>
                <a:ea typeface="IBM Plex Sans" pitchFamily="34" charset="-122"/>
                <a:cs typeface="IBM Plex Sans" pitchFamily="34" charset="-120"/>
              </a:rPr>
              <a:t>Chapter 4</a:t>
            </a:r>
            <a:r>
              <a:rPr lang="en-US" sz="1700" dirty="0">
                <a:solidFill>
                  <a:srgbClr val="3B4050"/>
                </a:solidFill>
                <a:latin typeface="IBM Plex Sans" pitchFamily="34" charset="0"/>
                <a:ea typeface="IBM Plex Sans" pitchFamily="34" charset="-122"/>
                <a:cs typeface="IBM Plex Sans" pitchFamily="34" charset="-120"/>
              </a:rPr>
              <a:t>, </a:t>
            </a:r>
            <a:r>
              <a:rPr lang="en-US" sz="1700" i="1" dirty="0">
                <a:solidFill>
                  <a:srgbClr val="3B4050"/>
                </a:solidFill>
                <a:latin typeface="IBM Plex Sans" pitchFamily="34" charset="0"/>
                <a:ea typeface="IBM Plex Sans" pitchFamily="34" charset="-122"/>
                <a:cs typeface="IBM Plex Sans" pitchFamily="34" charset="-120"/>
              </a:rPr>
              <a:t>Laws, Limits, and Randomness.</a:t>
            </a:r>
            <a:endParaRPr lang="en-US" sz="1700" dirty="0"/>
          </a:p>
          <a:p>
            <a:pPr algn="l" marL="254000" indent="-203454">
              <a:lnSpc>
                <a:spcPts val="2550"/>
              </a:lnSpc>
              <a:buSzPct val="100000"/>
              <a:buChar char="•"/>
            </a:pPr>
            <a:r>
              <a:rPr lang="en-US" sz="1700" b="1" dirty="0">
                <a:solidFill>
                  <a:srgbClr val="3B4050"/>
                </a:solidFill>
                <a:latin typeface="IBM Plex Sans" pitchFamily="34" charset="0"/>
                <a:ea typeface="IBM Plex Sans" pitchFamily="34" charset="-122"/>
                <a:cs typeface="IBM Plex Sans" pitchFamily="34" charset="-120"/>
              </a:rPr>
              <a:t>Chapter 7</a:t>
            </a:r>
            <a:r>
              <a:rPr lang="en-US" sz="1700" dirty="0">
                <a:solidFill>
                  <a:srgbClr val="3B4050"/>
                </a:solidFill>
                <a:latin typeface="IBM Plex Sans" pitchFamily="34" charset="0"/>
                <a:ea typeface="IBM Plex Sans" pitchFamily="34" charset="-122"/>
                <a:cs typeface="IBM Plex Sans" pitchFamily="34" charset="-120"/>
              </a:rPr>
              <a:t>, </a:t>
            </a:r>
            <a:r>
              <a:rPr lang="en-US" sz="1700" i="1" dirty="0">
                <a:solidFill>
                  <a:srgbClr val="3B4050"/>
                </a:solidFill>
                <a:latin typeface="IBM Plex Sans" pitchFamily="34" charset="0"/>
                <a:ea typeface="IBM Plex Sans" pitchFamily="34" charset="-122"/>
                <a:cs typeface="IBM Plex Sans" pitchFamily="34" charset="-120"/>
              </a:rPr>
              <a:t>The Theory That Would Not Die: Bayesian Probability.</a:t>
            </a:r>
            <a:endParaRPr lang="en-US" sz="1700" dirty="0"/>
          </a:p>
        </p:txBody>
      </p:sp>
      <p:sp>
        <p:nvSpPr>
          <p:cNvPr id="5" name="Shape 3"/>
          <p:cNvSpPr/>
          <p:nvPr/>
        </p:nvSpPr>
        <p:spPr>
          <a:xfrm>
            <a:off x="8591550" y="819150"/>
            <a:ext cx="2781300" cy="5016500"/>
          </a:xfrm>
          <a:prstGeom prst="roundRect">
            <a:avLst>
              <a:gd name="adj" fmla="val 5251"/>
            </a:avLst>
          </a:prstGeom>
          <a:solidFill>
            <a:srgbClr val="E6ECF3"/>
          </a:solidFill>
          <a:ln w="12700">
            <a:solidFill>
              <a:srgbClr val="1F2433"/>
            </a:solidFill>
            <a:prstDash val="solid"/>
          </a:ln>
        </p:spPr>
      </p:sp>
      <p:sp>
        <p:nvSpPr>
          <p:cNvPr id="6" name="Text 4"/>
          <p:cNvSpPr/>
          <p:nvPr/>
        </p:nvSpPr>
        <p:spPr>
          <a:xfrm>
            <a:off x="9309507" y="1864420"/>
            <a:ext cx="1345287" cy="238720"/>
          </a:xfrm>
          <a:prstGeom prst="rect">
            <a:avLst/>
          </a:prstGeom>
          <a:noFill/>
          <a:ln/>
        </p:spPr>
        <p:txBody>
          <a:bodyPr wrap="square" lIns="0" tIns="0" rIns="0" bIns="0" rtlCol="0" anchor="t">
            <a:normAutofit/>
          </a:bodyPr>
          <a:lstStyle/>
          <a:p>
            <a:pPr algn="ctr"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MY WEBSITE</a:t>
            </a:r>
            <a:endParaRPr lang="en-US" sz="1200" dirty="0"/>
          </a:p>
        </p:txBody>
      </p:sp>
      <p:pic>
        <p:nvPicPr>
          <p:cNvPr id="7" name="Image 0" descr="QR code linking to Ivelina's personal website">    </p:cNvPr>
          <p:cNvPicPr>
            <a:picLocks noChangeAspect="1"/>
          </p:cNvPicPr>
          <p:nvPr/>
        </p:nvPicPr>
        <p:blipFill>
          <a:blip r:embed="rId1"/>
          <a:srcRect l="0" r="0" t="0" b="0"/>
          <a:stretch/>
        </p:blipFill>
        <p:spPr>
          <a:xfrm>
            <a:off x="8902700" y="2230140"/>
            <a:ext cx="2159000" cy="2159000"/>
          </a:xfrm>
          <a:prstGeom prst="rect">
            <a:avLst/>
          </a:prstGeom>
        </p:spPr>
      </p:pic>
      <p:sp>
        <p:nvSpPr>
          <p:cNvPr id="8" name="Text 5"/>
          <p:cNvSpPr/>
          <p:nvPr/>
        </p:nvSpPr>
        <p:spPr>
          <a:xfrm>
            <a:off x="9162703" y="4541540"/>
            <a:ext cx="1638895" cy="274241"/>
          </a:xfrm>
          <a:prstGeom prst="rect">
            <a:avLst/>
          </a:prstGeom>
          <a:noFill/>
          <a:ln/>
        </p:spPr>
        <p:txBody>
          <a:bodyPr wrap="square" lIns="0" tIns="0" rIns="0" bIns="0" rtlCol="0" anchor="t">
            <a:normAutofit/>
          </a:bodyPr>
          <a:lstStyle/>
          <a:p>
            <a:pPr algn="ctr" indent="0" marL="0">
              <a:lnSpc>
                <a:spcPts val="1960"/>
              </a:lnSpc>
              <a:buNone/>
            </a:pPr>
            <a:r>
              <a:rPr lang="en-US" sz="1400" u="sng" dirty="0">
                <a:solidFill>
                  <a:srgbClr val="1F2433"/>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ivelina0.github.io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F2433"/>
        </a:solidFill>
      </p:bgPr>
    </p:bg>
    <p:spTree>
      <p:nvGrpSpPr>
        <p:cNvPr id="1" name=""/>
        <p:cNvGrpSpPr/>
        <p:nvPr/>
      </p:nvGrpSpPr>
      <p:grpSpPr>
        <a:xfrm>
          <a:off x="0" y="0"/>
          <a:ext cx="0" cy="0"/>
          <a:chOff x="0" y="0"/>
          <a:chExt cx="0" cy="0"/>
        </a:xfrm>
      </p:grpSpPr>
      <p:sp>
        <p:nvSpPr>
          <p:cNvPr id="2" name="Text 0"/>
          <p:cNvSpPr/>
          <p:nvPr/>
        </p:nvSpPr>
        <p:spPr>
          <a:xfrm>
            <a:off x="812800" y="214124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E0A458"/>
                </a:solidFill>
                <a:latin typeface="IBM Plex Sans" pitchFamily="34" charset="0"/>
                <a:ea typeface="IBM Plex Sans" pitchFamily="34" charset="-122"/>
                <a:cs typeface="IBM Plex Sans" pitchFamily="34" charset="-120"/>
              </a:rPr>
              <a:t>SECTION 1</a:t>
            </a:r>
            <a:endParaRPr lang="en-US" sz="1400" dirty="0"/>
          </a:p>
        </p:txBody>
      </p:sp>
      <p:sp>
        <p:nvSpPr>
          <p:cNvPr id="3" name="Text 1"/>
          <p:cNvSpPr/>
          <p:nvPr>
            <p:ph type="title"/>
          </p:nvPr>
        </p:nvSpPr>
        <p:spPr>
          <a:xfrm>
            <a:off x="812800" y="259328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6F1E7"/>
                </a:solidFill>
                <a:latin typeface="EB Garamond" pitchFamily="18" charset="0"/>
                <a:ea typeface="EB Garamond" pitchFamily="18" charset="-122"/>
                <a:cs typeface="EB Garamond" pitchFamily="18" charset="-120"/>
              </a:rPr>
              <a:t>How to read the history of mathematics</a:t>
            </a:r>
            <a:endParaRPr lang="en-US" sz="6000" dirty="0"/>
          </a:p>
        </p:txBody>
      </p:sp>
      <p:sp>
        <p:nvSpPr>
          <p:cNvPr id="4" name="Text 2"/>
          <p:cNvSpPr/>
          <p:nvPr/>
        </p:nvSpPr>
        <p:spPr>
          <a:xfrm>
            <a:off x="812800" y="439668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Eight rules — each shown with a case from the history of mathematics.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1 · THE RULES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Eight rules for reading the history of mathematics</a:t>
            </a:r>
            <a:endParaRPr lang="en-US" sz="3600" dirty="0"/>
          </a:p>
        </p:txBody>
      </p:sp>
      <p:sp>
        <p:nvSpPr>
          <p:cNvPr id="4" name="Text 2"/>
          <p:cNvSpPr/>
          <p:nvPr/>
        </p:nvSpPr>
        <p:spPr>
          <a:xfrm>
            <a:off x="812800" y="1884561"/>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1 · Study the originals.</a:t>
            </a:r>
            <a:r>
              <a:rPr lang="en-US" sz="1400" dirty="0">
                <a:solidFill>
                  <a:srgbClr val="3B4050"/>
                </a:solidFill>
                <a:latin typeface="IBM Plex Sans" pitchFamily="34" charset="0"/>
                <a:ea typeface="IBM Plex Sans" pitchFamily="34" charset="-122"/>
                <a:cs typeface="IBM Plex Sans" pitchFamily="34" charset="-120"/>
              </a:rPr>
              <a:t> Read the source itself, not someone's summary of it.</a:t>
            </a:r>
            <a:endParaRPr lang="en-US" sz="1400" dirty="0"/>
          </a:p>
        </p:txBody>
      </p:sp>
      <p:sp>
        <p:nvSpPr>
          <p:cNvPr id="5" name="Text 3"/>
          <p:cNvSpPr/>
          <p:nvPr/>
        </p:nvSpPr>
        <p:spPr>
          <a:xfrm>
            <a:off x="812800" y="2534642"/>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2 · Translate exactly.</a:t>
            </a:r>
            <a:r>
              <a:rPr lang="en-US" sz="1400" dirty="0">
                <a:solidFill>
                  <a:srgbClr val="3B4050"/>
                </a:solidFill>
                <a:latin typeface="IBM Plex Sans" pitchFamily="34" charset="0"/>
                <a:ea typeface="IBM Plex Sans" pitchFamily="34" charset="-122"/>
                <a:cs typeface="IBM Plex Sans" pitchFamily="34" charset="-120"/>
              </a:rPr>
              <a:t> Keep the original word where it matters (</a:t>
            </a:r>
            <a:r>
              <a:rPr lang="en-US" sz="1400" i="1" dirty="0">
                <a:solidFill>
                  <a:srgbClr val="3B4050"/>
                </a:solidFill>
                <a:latin typeface="IBM Plex Sans" pitchFamily="34" charset="0"/>
                <a:ea typeface="IBM Plex Sans" pitchFamily="34" charset="-122"/>
                <a:cs typeface="IBM Plex Sans" pitchFamily="34" charset="-120"/>
              </a:rPr>
              <a:t>versiera</a:t>
            </a:r>
            <a:r>
              <a:rPr lang="en-US" sz="1400" dirty="0">
                <a:solidFill>
                  <a:srgbClr val="3B4050"/>
                </a:solidFill>
                <a:latin typeface="IBM Plex Sans" pitchFamily="34" charset="0"/>
                <a:ea typeface="IBM Plex Sans" pitchFamily="34" charset="-122"/>
                <a:cs typeface="IBM Plex Sans" pitchFamily="34" charset="-120"/>
              </a:rPr>
              <a:t>, </a:t>
            </a:r>
            <a:r>
              <a:rPr lang="en-US" sz="1400" i="1" dirty="0">
                <a:solidFill>
                  <a:srgbClr val="3B4050"/>
                </a:solidFill>
                <a:latin typeface="IBM Plex Sans" pitchFamily="34" charset="0"/>
                <a:ea typeface="IBM Plex Sans" pitchFamily="34" charset="-122"/>
                <a:cs typeface="IBM Plex Sans" pitchFamily="34" charset="-120"/>
              </a:rPr>
              <a:t>sēmeion</a:t>
            </a:r>
            <a:r>
              <a:rPr lang="en-US" sz="1400" dirty="0">
                <a:solidFill>
                  <a:srgbClr val="3B4050"/>
                </a:solidFill>
                <a:latin typeface="IBM Plex Sans" pitchFamily="34" charset="0"/>
                <a:ea typeface="IBM Plex Sans" pitchFamily="34" charset="-122"/>
                <a:cs typeface="IBM Plex Sans" pitchFamily="34" charset="-120"/>
              </a:rPr>
              <a:t>).</a:t>
            </a:r>
            <a:endParaRPr lang="en-US" sz="1400" dirty="0"/>
          </a:p>
        </p:txBody>
      </p:sp>
      <p:sp>
        <p:nvSpPr>
          <p:cNvPr id="6" name="Text 4"/>
          <p:cNvSpPr/>
          <p:nvPr/>
        </p:nvSpPr>
        <p:spPr>
          <a:xfrm>
            <a:off x="812800" y="3184723"/>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3 · Do the mathematics.</a:t>
            </a:r>
            <a:r>
              <a:rPr lang="en-US" sz="1400" dirty="0">
                <a:solidFill>
                  <a:srgbClr val="3B4050"/>
                </a:solidFill>
                <a:latin typeface="IBM Plex Sans" pitchFamily="34" charset="0"/>
                <a:ea typeface="IBM Plex Sans" pitchFamily="34" charset="-122"/>
                <a:cs typeface="IBM Plex Sans" pitchFamily="34" charset="-120"/>
              </a:rPr>
              <a:t> You cannot explain what you cannot read.</a:t>
            </a:r>
            <a:endParaRPr lang="en-US" sz="1400" dirty="0"/>
          </a:p>
        </p:txBody>
      </p:sp>
      <p:sp>
        <p:nvSpPr>
          <p:cNvPr id="7" name="Text 5"/>
          <p:cNvSpPr/>
          <p:nvPr/>
        </p:nvSpPr>
        <p:spPr>
          <a:xfrm>
            <a:off x="812800" y="3834805"/>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4 · Keep the uncertainty.</a:t>
            </a:r>
            <a:r>
              <a:rPr lang="en-US" sz="1400" dirty="0">
                <a:solidFill>
                  <a:srgbClr val="3B4050"/>
                </a:solidFill>
                <a:latin typeface="IBM Plex Sans" pitchFamily="34" charset="0"/>
                <a:ea typeface="IBM Plex Sans" pitchFamily="34" charset="-122"/>
                <a:cs typeface="IBM Plex Sans" pitchFamily="34" charset="-120"/>
              </a:rPr>
              <a:t> Don't turn "probably" into "definitely"; separate fact from guess; date precisely.</a:t>
            </a:r>
            <a:endParaRPr lang="en-US" sz="1400" dirty="0"/>
          </a:p>
        </p:txBody>
      </p:sp>
      <p:sp>
        <p:nvSpPr>
          <p:cNvPr id="8" name="Text 6"/>
          <p:cNvSpPr/>
          <p:nvPr/>
        </p:nvSpPr>
        <p:spPr>
          <a:xfrm>
            <a:off x="6299200" y="1884561"/>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5 · Ask who wrote it, and why.</a:t>
            </a:r>
            <a:r>
              <a:rPr lang="en-US" sz="1400" dirty="0">
                <a:solidFill>
                  <a:srgbClr val="3B4050"/>
                </a:solidFill>
                <a:latin typeface="IBM Plex Sans" pitchFamily="34" charset="0"/>
                <a:ea typeface="IBM Plex Sans" pitchFamily="34" charset="-122"/>
                <a:cs typeface="IBM Plex Sans" pitchFamily="34" charset="-120"/>
              </a:rPr>
              <a:t> Even an "official" report has an author.</a:t>
            </a:r>
            <a:endParaRPr lang="en-US" sz="1400" dirty="0"/>
          </a:p>
        </p:txBody>
      </p:sp>
      <p:sp>
        <p:nvSpPr>
          <p:cNvPr id="9" name="Text 7"/>
          <p:cNvSpPr/>
          <p:nvPr/>
        </p:nvSpPr>
        <p:spPr>
          <a:xfrm>
            <a:off x="6299200" y="2534642"/>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6 · Expect to disagree.</a:t>
            </a:r>
            <a:r>
              <a:rPr lang="en-US" sz="1400" dirty="0">
                <a:solidFill>
                  <a:srgbClr val="3B4050"/>
                </a:solidFill>
                <a:latin typeface="IBM Plex Sans" pitchFamily="34" charset="0"/>
                <a:ea typeface="IBM Plex Sans" pitchFamily="34" charset="-122"/>
                <a:cs typeface="IBM Plex Sans" pitchFamily="34" charset="-120"/>
              </a:rPr>
              <a:t> Interpretation is where new mathematics came from.</a:t>
            </a:r>
            <a:endParaRPr lang="en-US" sz="1400" dirty="0"/>
          </a:p>
        </p:txBody>
      </p:sp>
      <p:sp>
        <p:nvSpPr>
          <p:cNvPr id="10" name="Text 8"/>
          <p:cNvSpPr/>
          <p:nvPr/>
        </p:nvSpPr>
        <p:spPr>
          <a:xfrm>
            <a:off x="6299200" y="3184723"/>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7 · Look for who is missing.</a:t>
            </a:r>
            <a:r>
              <a:rPr lang="en-US" sz="1400" dirty="0">
                <a:solidFill>
                  <a:srgbClr val="3B4050"/>
                </a:solidFill>
                <a:latin typeface="IBM Plex Sans" pitchFamily="34" charset="0"/>
                <a:ea typeface="IBM Plex Sans" pitchFamily="34" charset="-122"/>
                <a:cs typeface="IBM Plex Sans" pitchFamily="34" charset="-120"/>
              </a:rPr>
              <a:t> Credit what the record documents.</a:t>
            </a:r>
            <a:endParaRPr lang="en-US" sz="1400" dirty="0"/>
          </a:p>
        </p:txBody>
      </p:sp>
      <p:sp>
        <p:nvSpPr>
          <p:cNvPr id="11" name="Text 9"/>
          <p:cNvSpPr/>
          <p:nvPr/>
        </p:nvSpPr>
        <p:spPr>
          <a:xfrm>
            <a:off x="6299200" y="3834805"/>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Rule 8 · Verify every reference.</a:t>
            </a:r>
            <a:r>
              <a:rPr lang="en-US" sz="1400" dirty="0">
                <a:solidFill>
                  <a:srgbClr val="3B4050"/>
                </a:solidFill>
                <a:latin typeface="IBM Plex Sans" pitchFamily="34" charset="0"/>
                <a:ea typeface="IBM Plex Sans" pitchFamily="34" charset="-122"/>
                <a:cs typeface="IBM Plex Sans" pitchFamily="34" charset="-120"/>
              </a:rPr>
              <a:t> Open it before you cite it — AI output included.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1 · STUDY THE ORIGINALS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Layers between you and the past — now there are four</a:t>
            </a:r>
            <a:endParaRPr lang="en-US" sz="3600" dirty="0"/>
          </a:p>
        </p:txBody>
      </p:sp>
      <p:sp>
        <p:nvSpPr>
          <p:cNvPr id="4" name="Shape 2"/>
          <p:cNvSpPr/>
          <p:nvPr/>
        </p:nvSpPr>
        <p:spPr>
          <a:xfrm>
            <a:off x="812800" y="1987550"/>
            <a:ext cx="2209800" cy="2712244"/>
          </a:xfrm>
          <a:prstGeom prst="roundRect">
            <a:avLst>
              <a:gd name="adj" fmla="val 4598"/>
            </a:avLst>
          </a:prstGeom>
          <a:solidFill>
            <a:srgbClr val="1F2433"/>
          </a:solidFill>
          <a:ln/>
        </p:spPr>
      </p:sp>
      <p:sp>
        <p:nvSpPr>
          <p:cNvPr id="5" name="Text 3"/>
          <p:cNvSpPr/>
          <p:nvPr/>
        </p:nvSpPr>
        <p:spPr>
          <a:xfrm>
            <a:off x="1041400" y="2216150"/>
            <a:ext cx="18051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1E7"/>
                </a:solidFill>
                <a:latin typeface="EB Garamond" pitchFamily="18" charset="0"/>
                <a:ea typeface="EB Garamond" pitchFamily="18" charset="-122"/>
                <a:cs typeface="EB Garamond" pitchFamily="18" charset="-120"/>
              </a:rPr>
              <a:t>Primary</a:t>
            </a:r>
            <a:endParaRPr lang="en-US" sz="2000" dirty="0"/>
          </a:p>
        </p:txBody>
      </p:sp>
      <p:sp>
        <p:nvSpPr>
          <p:cNvPr id="6" name="Text 4"/>
          <p:cNvSpPr/>
          <p:nvPr/>
        </p:nvSpPr>
        <p:spPr>
          <a:xfrm>
            <a:off x="1041400" y="2622550"/>
            <a:ext cx="1805178" cy="187404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ED8"/>
                </a:solidFill>
                <a:latin typeface="IBM Plex Sans" pitchFamily="34" charset="0"/>
                <a:ea typeface="IBM Plex Sans" pitchFamily="34" charset="-122"/>
                <a:cs typeface="IBM Plex Sans" pitchFamily="34" charset="-120"/>
              </a:rPr>
              <a:t>The text itself: </a:t>
            </a:r>
            <a:endParaRPr lang="en-US" sz="1300" dirty="0"/>
          </a:p>
          <a:p>
            <a:pPr algn="l" indent="0" marL="0">
              <a:lnSpc>
                <a:spcPts val="1820"/>
              </a:lnSpc>
              <a:buNone/>
            </a:pPr>
            <a:endParaRPr lang="en-US" sz="1300" dirty="0"/>
          </a:p>
          <a:p>
            <a:pPr algn="l" marL="254000" indent="-168656">
              <a:lnSpc>
                <a:spcPts val="1820"/>
              </a:lnSpc>
              <a:buSzPct val="100000"/>
              <a:buChar char="•"/>
            </a:pPr>
            <a:r>
              <a:rPr lang="en-US" sz="1300" dirty="0">
                <a:solidFill>
                  <a:srgbClr val="C9CED8"/>
                </a:solidFill>
                <a:latin typeface="IBM Plex Sans" pitchFamily="34" charset="0"/>
                <a:ea typeface="IBM Plex Sans" pitchFamily="34" charset="-122"/>
                <a:cs typeface="IBM Plex Sans" pitchFamily="34" charset="-120"/>
              </a:rPr>
              <a:t>Bayes's </a:t>
            </a:r>
            <a:r>
              <a:rPr lang="en-US" sz="1300" i="1" dirty="0">
                <a:solidFill>
                  <a:srgbClr val="C9CED8"/>
                </a:solidFill>
                <a:latin typeface="IBM Plex Sans" pitchFamily="34" charset="0"/>
                <a:ea typeface="IBM Plex Sans" pitchFamily="34" charset="-122"/>
                <a:cs typeface="IBM Plex Sans" pitchFamily="34" charset="-120"/>
              </a:rPr>
              <a:t>Essay</a:t>
            </a:r>
            <a:r>
              <a:rPr lang="en-US" sz="1300" dirty="0">
                <a:solidFill>
                  <a:srgbClr val="C9CED8"/>
                </a:solidFill>
                <a:latin typeface="IBM Plex Sans" pitchFamily="34" charset="0"/>
                <a:ea typeface="IBM Plex Sans" pitchFamily="34" charset="-122"/>
                <a:cs typeface="IBM Plex Sans" pitchFamily="34" charset="-120"/>
              </a:rPr>
              <a:t> (1763), </a:t>
            </a:r>
            <a:endParaRPr lang="en-US" sz="1300" dirty="0"/>
          </a:p>
          <a:p>
            <a:pPr algn="l" marL="254000" indent="-168656">
              <a:lnSpc>
                <a:spcPts val="1820"/>
              </a:lnSpc>
              <a:buSzPct val="100000"/>
              <a:buChar char="•"/>
            </a:pPr>
            <a:r>
              <a:rPr lang="en-US" sz="1300" dirty="0">
                <a:solidFill>
                  <a:srgbClr val="C9CED8"/>
                </a:solidFill>
                <a:latin typeface="IBM Plex Sans" pitchFamily="34" charset="0"/>
                <a:ea typeface="IBM Plex Sans" pitchFamily="34" charset="-122"/>
                <a:cs typeface="IBM Plex Sans" pitchFamily="34" charset="-120"/>
              </a:rPr>
              <a:t>Euclid's </a:t>
            </a:r>
            <a:r>
              <a:rPr lang="en-US" sz="1300" i="1" dirty="0">
                <a:solidFill>
                  <a:srgbClr val="C9CED8"/>
                </a:solidFill>
                <a:latin typeface="IBM Plex Sans" pitchFamily="34" charset="0"/>
                <a:ea typeface="IBM Plex Sans" pitchFamily="34" charset="-122"/>
                <a:cs typeface="IBM Plex Sans" pitchFamily="34" charset="-120"/>
              </a:rPr>
              <a:t>Elements</a:t>
            </a:r>
            <a:r>
              <a:rPr lang="en-US" sz="1300" dirty="0">
                <a:solidFill>
                  <a:srgbClr val="C9CED8"/>
                </a:solidFill>
                <a:latin typeface="IBM Plex Sans" pitchFamily="34" charset="0"/>
                <a:ea typeface="IBM Plex Sans" pitchFamily="34" charset="-122"/>
                <a:cs typeface="IBM Plex Sans" pitchFamily="34" charset="-120"/>
              </a:rPr>
              <a:t>,</a:t>
            </a:r>
            <a:endParaRPr lang="en-US" sz="1300" dirty="0"/>
          </a:p>
          <a:p>
            <a:pPr algn="l" marL="254000" indent="-168656">
              <a:lnSpc>
                <a:spcPts val="1820"/>
              </a:lnSpc>
              <a:buSzPct val="100000"/>
              <a:buChar char="•"/>
            </a:pPr>
            <a:r>
              <a:rPr lang="en-US" sz="1300" dirty="0">
                <a:solidFill>
                  <a:srgbClr val="C9CED8"/>
                </a:solidFill>
                <a:latin typeface="IBM Plex Sans" pitchFamily="34" charset="0"/>
                <a:ea typeface="IBM Plex Sans" pitchFamily="34" charset="-122"/>
                <a:cs typeface="IBM Plex Sans" pitchFamily="34" charset="-120"/>
              </a:rPr>
              <a:t>actual letters exchanged between people.</a:t>
            </a:r>
            <a:endParaRPr lang="en-US" sz="1300" dirty="0"/>
          </a:p>
        </p:txBody>
      </p:sp>
      <p:pic>
        <p:nvPicPr>
          <p:cNvPr id="7" name="Image 0" descr="arrow-right">    </p:cNvPr>
          <p:cNvPicPr>
            <a:picLocks noChangeAspect="1"/>
          </p:cNvPicPr>
          <p:nvPr/>
        </p:nvPicPr>
        <p:blipFill>
          <a:blip r:embed="rId1"/>
          <a:srcRect l="0" r="0" t="0" b="0"/>
          <a:stretch/>
        </p:blipFill>
        <p:spPr>
          <a:xfrm>
            <a:off x="3149600" y="3254772"/>
            <a:ext cx="304800" cy="177800"/>
          </a:xfrm>
          <a:prstGeom prst="rect">
            <a:avLst/>
          </a:prstGeom>
        </p:spPr>
      </p:pic>
      <p:sp>
        <p:nvSpPr>
          <p:cNvPr id="8" name="Shape 5"/>
          <p:cNvSpPr/>
          <p:nvPr/>
        </p:nvSpPr>
        <p:spPr>
          <a:xfrm>
            <a:off x="3584575" y="2446536"/>
            <a:ext cx="2216150" cy="1794272"/>
          </a:xfrm>
          <a:prstGeom prst="roundRect">
            <a:avLst>
              <a:gd name="adj" fmla="val 5486"/>
            </a:avLst>
          </a:prstGeom>
          <a:solidFill>
            <a:srgbClr val="FBF8F1"/>
          </a:solidFill>
          <a:ln w="6350">
            <a:solidFill>
              <a:srgbClr val="D9CFBD"/>
            </a:solidFill>
            <a:prstDash val="solid"/>
          </a:ln>
        </p:spPr>
      </p:sp>
      <p:sp>
        <p:nvSpPr>
          <p:cNvPr id="9" name="Text 6"/>
          <p:cNvSpPr/>
          <p:nvPr/>
        </p:nvSpPr>
        <p:spPr>
          <a:xfrm>
            <a:off x="3816350" y="2678311"/>
            <a:ext cx="18051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433"/>
                </a:solidFill>
                <a:latin typeface="EB Garamond" pitchFamily="18" charset="0"/>
                <a:ea typeface="EB Garamond" pitchFamily="18" charset="-122"/>
                <a:cs typeface="EB Garamond" pitchFamily="18" charset="-120"/>
              </a:rPr>
              <a:t>Secondary</a:t>
            </a:r>
            <a:endParaRPr lang="en-US" sz="2000" dirty="0"/>
          </a:p>
        </p:txBody>
      </p:sp>
      <p:sp>
        <p:nvSpPr>
          <p:cNvPr id="10" name="Text 7"/>
          <p:cNvSpPr/>
          <p:nvPr/>
        </p:nvSpPr>
        <p:spPr>
          <a:xfrm>
            <a:off x="3816350" y="3084711"/>
            <a:ext cx="180517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050"/>
                </a:solidFill>
                <a:latin typeface="IBM Plex Sans" pitchFamily="34" charset="0"/>
                <a:ea typeface="IBM Plex Sans" pitchFamily="34" charset="-122"/>
                <a:cs typeface="IBM Plex Sans" pitchFamily="34" charset="-120"/>
              </a:rPr>
              <a:t>Scholars arguing from primaries:</a:t>
            </a:r>
            <a:endParaRPr lang="en-US" sz="1300" dirty="0"/>
          </a:p>
          <a:p>
            <a:pPr algn="l" indent="0" marL="0">
              <a:lnSpc>
                <a:spcPts val="1820"/>
              </a:lnSpc>
              <a:buNone/>
            </a:pPr>
            <a:r>
              <a:rPr lang="en-US" sz="1300" dirty="0">
                <a:solidFill>
                  <a:srgbClr val="3B4050"/>
                </a:solidFill>
                <a:latin typeface="IBM Plex Sans" pitchFamily="34" charset="0"/>
                <a:ea typeface="IBM Plex Sans" pitchFamily="34" charset="-122"/>
                <a:cs typeface="IBM Plex Sans" pitchFamily="34" charset="-120"/>
              </a:rPr>
              <a:t> </a:t>
            </a:r>
            <a:endParaRPr lang="en-US" sz="1300" dirty="0"/>
          </a:p>
          <a:p>
            <a:pPr algn="l" indent="0" marL="0">
              <a:lnSpc>
                <a:spcPts val="1820"/>
              </a:lnSpc>
              <a:buNone/>
            </a:pPr>
            <a:r>
              <a:rPr lang="en-US" sz="1300" dirty="0">
                <a:solidFill>
                  <a:srgbClr val="3B4050"/>
                </a:solidFill>
                <a:latin typeface="IBM Plex Sans" pitchFamily="34" charset="0"/>
                <a:ea typeface="IBM Plex Sans" pitchFamily="34" charset="-122"/>
                <a:cs typeface="IBM Plex Sans" pitchFamily="34" charset="-120"/>
              </a:rPr>
              <a:t>Stigler, Dale, Bellhouse</a:t>
            </a:r>
            <a:endParaRPr lang="en-US" sz="1300" dirty="0"/>
          </a:p>
        </p:txBody>
      </p:sp>
      <p:pic>
        <p:nvPicPr>
          <p:cNvPr id="11" name="Image 1" descr="arrow-right">    </p:cNvPr>
          <p:cNvPicPr>
            <a:picLocks noChangeAspect="1"/>
          </p:cNvPicPr>
          <p:nvPr/>
        </p:nvPicPr>
        <p:blipFill>
          <a:blip r:embed="rId2"/>
          <a:srcRect l="0" r="0" t="0" b="0"/>
          <a:stretch/>
        </p:blipFill>
        <p:spPr>
          <a:xfrm>
            <a:off x="5930900" y="3254772"/>
            <a:ext cx="304800" cy="177800"/>
          </a:xfrm>
          <a:prstGeom prst="rect">
            <a:avLst/>
          </a:prstGeom>
        </p:spPr>
      </p:pic>
      <p:sp>
        <p:nvSpPr>
          <p:cNvPr id="12" name="Shape 8"/>
          <p:cNvSpPr/>
          <p:nvPr/>
        </p:nvSpPr>
        <p:spPr>
          <a:xfrm>
            <a:off x="6365875" y="2562027"/>
            <a:ext cx="2216150" cy="1563191"/>
          </a:xfrm>
          <a:prstGeom prst="roundRect">
            <a:avLst>
              <a:gd name="adj" fmla="val 6296"/>
            </a:avLst>
          </a:prstGeom>
          <a:solidFill>
            <a:srgbClr val="FBF8F1"/>
          </a:solidFill>
          <a:ln w="6350">
            <a:solidFill>
              <a:srgbClr val="D9CFBD"/>
            </a:solidFill>
            <a:prstDash val="solid"/>
          </a:ln>
        </p:spPr>
      </p:sp>
      <p:sp>
        <p:nvSpPr>
          <p:cNvPr id="13" name="Text 9"/>
          <p:cNvSpPr/>
          <p:nvPr/>
        </p:nvSpPr>
        <p:spPr>
          <a:xfrm>
            <a:off x="6597650" y="2793802"/>
            <a:ext cx="18051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433"/>
                </a:solidFill>
                <a:latin typeface="EB Garamond" pitchFamily="18" charset="0"/>
                <a:ea typeface="EB Garamond" pitchFamily="18" charset="-122"/>
                <a:cs typeface="EB Garamond" pitchFamily="18" charset="-120"/>
              </a:rPr>
              <a:t>Tertiary</a:t>
            </a:r>
            <a:endParaRPr lang="en-US" sz="2000" dirty="0"/>
          </a:p>
        </p:txBody>
      </p:sp>
      <p:sp>
        <p:nvSpPr>
          <p:cNvPr id="14" name="Text 10"/>
          <p:cNvSpPr/>
          <p:nvPr/>
        </p:nvSpPr>
        <p:spPr>
          <a:xfrm>
            <a:off x="6597650" y="3200202"/>
            <a:ext cx="1805178"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050"/>
                </a:solidFill>
                <a:latin typeface="IBM Plex Sans" pitchFamily="34" charset="0"/>
                <a:ea typeface="IBM Plex Sans" pitchFamily="34" charset="-122"/>
                <a:cs typeface="IBM Plex Sans" pitchFamily="34" charset="-120"/>
              </a:rPr>
              <a:t>Textbooks, encyclopaedias, popular articles</a:t>
            </a:r>
            <a:endParaRPr lang="en-US" sz="1300" dirty="0"/>
          </a:p>
        </p:txBody>
      </p:sp>
      <p:pic>
        <p:nvPicPr>
          <p:cNvPr id="15" name="Image 2" descr="arrow-right">    </p:cNvPr>
          <p:cNvPicPr>
            <a:picLocks noChangeAspect="1"/>
          </p:cNvPicPr>
          <p:nvPr/>
        </p:nvPicPr>
        <p:blipFill>
          <a:blip r:embed="rId3"/>
          <a:srcRect l="0" r="0" t="0" b="0"/>
          <a:stretch/>
        </p:blipFill>
        <p:spPr>
          <a:xfrm>
            <a:off x="8712200" y="3254772"/>
            <a:ext cx="304800" cy="177800"/>
          </a:xfrm>
          <a:prstGeom prst="rect">
            <a:avLst/>
          </a:prstGeom>
        </p:spPr>
      </p:pic>
      <p:sp>
        <p:nvSpPr>
          <p:cNvPr id="16" name="Shape 11"/>
          <p:cNvSpPr/>
          <p:nvPr/>
        </p:nvSpPr>
        <p:spPr>
          <a:xfrm>
            <a:off x="9150350" y="2443361"/>
            <a:ext cx="2222500" cy="1800622"/>
          </a:xfrm>
          <a:prstGeom prst="roundRect">
            <a:avLst>
              <a:gd name="adj" fmla="val 5290"/>
            </a:avLst>
          </a:prstGeom>
          <a:solidFill>
            <a:srgbClr val="FBF8F1"/>
          </a:solidFill>
          <a:ln w="12700">
            <a:solidFill>
              <a:srgbClr val="8C2F39"/>
            </a:solidFill>
            <a:prstDash val="dash"/>
          </a:ln>
        </p:spPr>
      </p:sp>
      <p:sp>
        <p:nvSpPr>
          <p:cNvPr id="17" name="Text 12"/>
          <p:cNvSpPr/>
          <p:nvPr/>
        </p:nvSpPr>
        <p:spPr>
          <a:xfrm>
            <a:off x="9385300" y="2678311"/>
            <a:ext cx="180517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C2F39"/>
                </a:solidFill>
                <a:latin typeface="EB Garamond" pitchFamily="18" charset="0"/>
                <a:ea typeface="EB Garamond" pitchFamily="18" charset="-122"/>
                <a:cs typeface="EB Garamond" pitchFamily="18" charset="-120"/>
              </a:rPr>
              <a:t>LLM output</a:t>
            </a:r>
            <a:endParaRPr lang="en-US" sz="2000" dirty="0"/>
          </a:p>
        </p:txBody>
      </p:sp>
      <p:sp>
        <p:nvSpPr>
          <p:cNvPr id="18" name="Text 13"/>
          <p:cNvSpPr/>
          <p:nvPr/>
        </p:nvSpPr>
        <p:spPr>
          <a:xfrm>
            <a:off x="9385300" y="3084711"/>
            <a:ext cx="1805178" cy="94972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050"/>
                </a:solidFill>
                <a:latin typeface="IBM Plex Sans" pitchFamily="34" charset="0"/>
                <a:ea typeface="IBM Plex Sans" pitchFamily="34" charset="-122"/>
                <a:cs typeface="IBM Plex Sans" pitchFamily="34" charset="-120"/>
              </a:rPr>
              <a:t>A fluent blend of all three — no page numbers, and it can invent</a:t>
            </a:r>
            <a:endParaRPr lang="en-US" sz="1300" dirty="0"/>
          </a:p>
        </p:txBody>
      </p:sp>
      <p:sp>
        <p:nvSpPr>
          <p:cNvPr id="19" name="Text 14"/>
          <p:cNvSpPr/>
          <p:nvPr/>
        </p:nvSpPr>
        <p:spPr>
          <a:xfrm>
            <a:off x="812800" y="5426273"/>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F2433"/>
                </a:solidFill>
                <a:latin typeface="IBM Plex Sans" pitchFamily="34" charset="0"/>
                <a:ea typeface="IBM Plex Sans" pitchFamily="34" charset="-122"/>
                <a:cs typeface="IBM Plex Sans" pitchFamily="34" charset="-120"/>
              </a:rPr>
              <a:t>Every layer </a:t>
            </a:r>
            <a:r>
              <a:rPr lang="en-US" sz="1800" b="1" dirty="0">
                <a:solidFill>
                  <a:srgbClr val="1F2433"/>
                </a:solidFill>
                <a:latin typeface="IBM Plex Sans" pitchFamily="34" charset="0"/>
                <a:ea typeface="IBM Plex Sans" pitchFamily="34" charset="-122"/>
                <a:cs typeface="IBM Plex Sans" pitchFamily="34" charset="-120"/>
              </a:rPr>
              <a:t>compresses</a:t>
            </a:r>
            <a:r>
              <a:rPr lang="en-US" sz="1800" dirty="0">
                <a:solidFill>
                  <a:srgbClr val="1F2433"/>
                </a:solidFill>
                <a:latin typeface="IBM Plex Sans" pitchFamily="34" charset="0"/>
                <a:ea typeface="IBM Plex Sans" pitchFamily="34" charset="-122"/>
                <a:cs typeface="IBM Plex Sans" pitchFamily="34" charset="-120"/>
              </a:rPr>
              <a:t> — and compression drops hedges, context and dates first.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2 · TRANSLATE EXACTLY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How one word made Maria Agnesi a "witch"</a:t>
            </a:r>
            <a:endParaRPr lang="en-US" sz="3600" dirty="0"/>
          </a:p>
        </p:txBody>
      </p:sp>
      <p:pic>
        <p:nvPicPr>
          <p:cNvPr id="4" name="Image 0" descr="Engraved portrait of Maria Gaetana Agnesi">    </p:cNvPr>
          <p:cNvPicPr>
            <a:picLocks noChangeAspect="1"/>
          </p:cNvPicPr>
          <p:nvPr/>
        </p:nvPicPr>
        <p:blipFill>
          <a:blip r:embed="rId1"/>
          <a:srcRect l="86" r="86" t="0" b="0"/>
          <a:stretch/>
        </p:blipFill>
        <p:spPr>
          <a:xfrm>
            <a:off x="819150" y="1890911"/>
            <a:ext cx="2273300" cy="2647950"/>
          </a:xfrm>
          <a:prstGeom prst="roundRect">
            <a:avLst>
              <a:gd name="adj" fmla="val 3073"/>
            </a:avLst>
          </a:prstGeom>
        </p:spPr>
      </p:pic>
      <p:sp>
        <p:nvSpPr>
          <p:cNvPr id="5" name="Shape 2"/>
          <p:cNvSpPr/>
          <p:nvPr/>
        </p:nvSpPr>
        <p:spPr>
          <a:xfrm>
            <a:off x="815975" y="1887736"/>
            <a:ext cx="2279650" cy="2654300"/>
          </a:xfrm>
          <a:prstGeom prst="roundRect">
            <a:avLst>
              <a:gd name="adj" fmla="val 3203"/>
            </a:avLst>
          </a:prstGeom>
          <a:noFill/>
          <a:ln w="6350">
            <a:solidFill>
              <a:srgbClr val="D9CFBD"/>
            </a:solidFill>
            <a:prstDash val="solid"/>
          </a:ln>
        </p:spPr>
      </p:sp>
      <p:sp>
        <p:nvSpPr>
          <p:cNvPr id="6" name="Text 3"/>
          <p:cNvSpPr/>
          <p:nvPr/>
        </p:nvSpPr>
        <p:spPr>
          <a:xfrm>
            <a:off x="812800" y="4621411"/>
            <a:ext cx="2354580"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6B6F7A"/>
                </a:solidFill>
                <a:latin typeface="IBM Plex Sans" pitchFamily="34" charset="0"/>
                <a:ea typeface="IBM Plex Sans" pitchFamily="34" charset="-122"/>
                <a:cs typeface="IBM Plex Sans" pitchFamily="34" charset="-120"/>
              </a:rPr>
              <a:t>Maria Gaetana Agnesi (1718–1799)</a:t>
            </a:r>
            <a:endParaRPr lang="en-US" sz="1200" dirty="0"/>
          </a:p>
        </p:txBody>
      </p:sp>
      <p:sp>
        <p:nvSpPr>
          <p:cNvPr id="7" name="Shape 4"/>
          <p:cNvSpPr/>
          <p:nvPr/>
        </p:nvSpPr>
        <p:spPr>
          <a:xfrm>
            <a:off x="3355975" y="1887736"/>
            <a:ext cx="2588617" cy="3079552"/>
          </a:xfrm>
          <a:prstGeom prst="roundRect">
            <a:avLst>
              <a:gd name="adj" fmla="val 3802"/>
            </a:avLst>
          </a:prstGeom>
          <a:solidFill>
            <a:srgbClr val="FBF8F1"/>
          </a:solidFill>
          <a:ln w="6350">
            <a:solidFill>
              <a:srgbClr val="D9CFBD"/>
            </a:solidFill>
            <a:prstDash val="solid"/>
          </a:ln>
        </p:spPr>
      </p:sp>
      <p:sp>
        <p:nvSpPr>
          <p:cNvPr id="8" name="Text 5"/>
          <p:cNvSpPr/>
          <p:nvPr/>
        </p:nvSpPr>
        <p:spPr>
          <a:xfrm>
            <a:off x="3562350" y="2094111"/>
            <a:ext cx="224114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MILAN, 1748</a:t>
            </a:r>
            <a:endParaRPr lang="en-US" sz="1200" dirty="0"/>
          </a:p>
        </p:txBody>
      </p:sp>
      <p:sp>
        <p:nvSpPr>
          <p:cNvPr id="9" name="Text 6"/>
          <p:cNvSpPr/>
          <p:nvPr/>
        </p:nvSpPr>
        <p:spPr>
          <a:xfrm>
            <a:off x="3647694" y="2383631"/>
            <a:ext cx="2148179" cy="1642963"/>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i="1" dirty="0">
                <a:solidFill>
                  <a:srgbClr val="3B4050"/>
                </a:solidFill>
                <a:latin typeface="IBM Plex Sans" pitchFamily="34" charset="0"/>
                <a:ea typeface="IBM Plex Sans" pitchFamily="34" charset="-122"/>
                <a:cs typeface="IBM Plex Sans" pitchFamily="34" charset="-120"/>
              </a:rPr>
              <a:t>She wrote Instituzioni analitiche</a:t>
            </a:r>
            <a:r>
              <a:rPr lang="en-US" sz="1300" dirty="0">
                <a:solidFill>
                  <a:srgbClr val="3B4050"/>
                </a:solidFill>
                <a:latin typeface="IBM Plex Sans" pitchFamily="34" charset="0"/>
                <a:ea typeface="IBM Plex Sans" pitchFamily="34" charset="-122"/>
                <a:cs typeface="IBM Plex Sans" pitchFamily="34" charset="-120"/>
              </a:rPr>
              <a:t>, a calculus textbook.</a:t>
            </a:r>
            <a:endParaRPr lang="en-US" sz="1300" dirty="0"/>
          </a:p>
          <a:p>
            <a:pPr algn="l" marL="168656" indent="-168656">
              <a:lnSpc>
                <a:spcPts val="1820"/>
              </a:lnSpc>
              <a:buSzPct val="100000"/>
              <a:buChar char="•"/>
            </a:pPr>
            <a:r>
              <a:rPr lang="en-US" sz="1300" dirty="0">
                <a:solidFill>
                  <a:srgbClr val="3B4050"/>
                </a:solidFill>
                <a:latin typeface="IBM Plex Sans" pitchFamily="34" charset="0"/>
                <a:ea typeface="IBM Plex Sans" pitchFamily="34" charset="-122"/>
                <a:cs typeface="IBM Plex Sans" pitchFamily="34" charset="-120"/>
              </a:rPr>
              <a:t>Written in Leibniz's notation.</a:t>
            </a:r>
            <a:endParaRPr lang="en-US" sz="1300" dirty="0"/>
          </a:p>
          <a:p>
            <a:pPr algn="l" marL="168656" indent="-168656">
              <a:lnSpc>
                <a:spcPts val="1820"/>
              </a:lnSpc>
              <a:buSzPct val="100000"/>
              <a:buChar char="•"/>
            </a:pPr>
            <a:r>
              <a:rPr lang="en-US" sz="1300" dirty="0">
                <a:solidFill>
                  <a:srgbClr val="3B4050"/>
                </a:solidFill>
                <a:latin typeface="IBM Plex Sans" pitchFamily="34" charset="0"/>
                <a:ea typeface="IBM Plex Sans" pitchFamily="34" charset="-122"/>
                <a:cs typeface="IBM Plex Sans" pitchFamily="34" charset="-120"/>
              </a:rPr>
              <a:t>The curve: </a:t>
            </a:r>
            <a:r>
              <a:rPr lang="en-US" sz="1300" b="1" dirty="0">
                <a:solidFill>
                  <a:srgbClr val="3B4050"/>
                </a:solidFill>
                <a:latin typeface="IBM Plex Sans" pitchFamily="34" charset="0"/>
                <a:ea typeface="IBM Plex Sans" pitchFamily="34" charset="-122"/>
                <a:cs typeface="IBM Plex Sans" pitchFamily="34" charset="-120"/>
              </a:rPr>
              <a:t>la versiera</a:t>
            </a:r>
            <a:r>
              <a:rPr lang="en-US" sz="1300" dirty="0">
                <a:solidFill>
                  <a:srgbClr val="3B4050"/>
                </a:solidFill>
                <a:latin typeface="IBM Plex Sans" pitchFamily="34" charset="0"/>
                <a:ea typeface="IBM Plex Sans" pitchFamily="34" charset="-122"/>
                <a:cs typeface="IBM Plex Sans" pitchFamily="34" charset="-120"/>
              </a:rPr>
              <a:t>, from </a:t>
            </a:r>
            <a:r>
              <a:rPr lang="en-US" sz="1300" i="1" dirty="0">
                <a:solidFill>
                  <a:srgbClr val="3B4050"/>
                </a:solidFill>
                <a:latin typeface="IBM Plex Sans" pitchFamily="34" charset="0"/>
                <a:ea typeface="IBM Plex Sans" pitchFamily="34" charset="-122"/>
                <a:cs typeface="IBM Plex Sans" pitchFamily="34" charset="-120"/>
              </a:rPr>
              <a:t>vertere</a:t>
            </a:r>
            <a:r>
              <a:rPr lang="en-US" sz="1300" dirty="0">
                <a:solidFill>
                  <a:srgbClr val="3B4050"/>
                </a:solidFill>
                <a:latin typeface="IBM Plex Sans" pitchFamily="34" charset="0"/>
                <a:ea typeface="IBM Plex Sans" pitchFamily="34" charset="-122"/>
                <a:cs typeface="IBM Plex Sans" pitchFamily="34" charset="-120"/>
              </a:rPr>
              <a:t>, "to turn".</a:t>
            </a:r>
            <a:endParaRPr lang="en-US" sz="1300" dirty="0"/>
          </a:p>
        </p:txBody>
      </p:sp>
      <p:sp>
        <p:nvSpPr>
          <p:cNvPr id="10" name="Shape 7"/>
          <p:cNvSpPr/>
          <p:nvPr/>
        </p:nvSpPr>
        <p:spPr>
          <a:xfrm>
            <a:off x="6077942" y="1887736"/>
            <a:ext cx="2588716" cy="3079552"/>
          </a:xfrm>
          <a:prstGeom prst="roundRect">
            <a:avLst>
              <a:gd name="adj" fmla="val 3802"/>
            </a:avLst>
          </a:prstGeom>
          <a:solidFill>
            <a:srgbClr val="FBF8F1"/>
          </a:solidFill>
          <a:ln w="6350">
            <a:solidFill>
              <a:srgbClr val="D9CFBD"/>
            </a:solidFill>
            <a:prstDash val="solid"/>
          </a:ln>
        </p:spPr>
      </p:sp>
      <p:sp>
        <p:nvSpPr>
          <p:cNvPr id="11" name="Text 8"/>
          <p:cNvSpPr/>
          <p:nvPr/>
        </p:nvSpPr>
        <p:spPr>
          <a:xfrm>
            <a:off x="6284317" y="2094111"/>
            <a:ext cx="224124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LONDON, 1801</a:t>
            </a:r>
            <a:endParaRPr lang="en-US" sz="1200" dirty="0"/>
          </a:p>
        </p:txBody>
      </p:sp>
      <p:sp>
        <p:nvSpPr>
          <p:cNvPr id="12" name="Text 9"/>
          <p:cNvSpPr/>
          <p:nvPr/>
        </p:nvSpPr>
        <p:spPr>
          <a:xfrm>
            <a:off x="6369661" y="2383631"/>
            <a:ext cx="2148281" cy="1642963"/>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3B4050"/>
                </a:solidFill>
                <a:latin typeface="IBM Plex Sans" pitchFamily="34" charset="0"/>
                <a:ea typeface="IBM Plex Sans" pitchFamily="34" charset="-122"/>
                <a:cs typeface="IBM Plex Sans" pitchFamily="34" charset="-120"/>
              </a:rPr>
              <a:t>John Colson translated it in English.</a:t>
            </a:r>
            <a:endParaRPr lang="en-US" sz="1300" dirty="0"/>
          </a:p>
          <a:p>
            <a:pPr algn="l" marL="168656" indent="-168656">
              <a:lnSpc>
                <a:spcPts val="1820"/>
              </a:lnSpc>
              <a:buSzPct val="100000"/>
              <a:buChar char="•"/>
            </a:pPr>
            <a:r>
              <a:rPr lang="en-US" sz="1300" dirty="0">
                <a:solidFill>
                  <a:srgbClr val="3B4050"/>
                </a:solidFill>
                <a:latin typeface="IBM Plex Sans" pitchFamily="34" charset="0"/>
                <a:ea typeface="IBM Plex Sans" pitchFamily="34" charset="-122"/>
                <a:cs typeface="IBM Plex Sans" pitchFamily="34" charset="-120"/>
              </a:rPr>
              <a:t>Read the curve as </a:t>
            </a:r>
            <a:r>
              <a:rPr lang="en-US" sz="1300" b="1" dirty="0">
                <a:solidFill>
                  <a:srgbClr val="3B4050"/>
                </a:solidFill>
                <a:latin typeface="IBM Plex Sans" pitchFamily="34" charset="0"/>
                <a:ea typeface="IBM Plex Sans" pitchFamily="34" charset="-122"/>
                <a:cs typeface="IBM Plex Sans" pitchFamily="34" charset="-120"/>
              </a:rPr>
              <a:t>avversiera</a:t>
            </a:r>
            <a:r>
              <a:rPr lang="en-US" sz="1300" dirty="0">
                <a:solidFill>
                  <a:srgbClr val="3B4050"/>
                </a:solidFill>
                <a:latin typeface="IBM Plex Sans" pitchFamily="34" charset="0"/>
                <a:ea typeface="IBM Plex Sans" pitchFamily="34" charset="-122"/>
                <a:cs typeface="IBM Plex Sans" pitchFamily="34" charset="-120"/>
              </a:rPr>
              <a:t>:</a:t>
            </a:r>
            <a:r>
              <a:rPr lang="en-US" sz="1300" b="1" dirty="0">
                <a:solidFill>
                  <a:srgbClr val="3B4050"/>
                </a:solidFill>
                <a:latin typeface="IBM Plex Sans" pitchFamily="34" charset="0"/>
                <a:ea typeface="IBM Plex Sans" pitchFamily="34" charset="-122"/>
                <a:cs typeface="IBM Plex Sans" pitchFamily="34" charset="-120"/>
              </a:rPr>
              <a:t> she-devil.</a:t>
            </a:r>
            <a:endParaRPr lang="en-US" sz="1300" dirty="0"/>
          </a:p>
          <a:p>
            <a:pPr algn="l" marL="168656" indent="-168656">
              <a:lnSpc>
                <a:spcPts val="1820"/>
              </a:lnSpc>
              <a:buSzPct val="100000"/>
              <a:buChar char="•"/>
            </a:pPr>
            <a:r>
              <a:rPr lang="en-US" sz="1300" dirty="0">
                <a:solidFill>
                  <a:srgbClr val="3B4050"/>
                </a:solidFill>
                <a:latin typeface="IBM Plex Sans" pitchFamily="34" charset="0"/>
                <a:ea typeface="IBM Plex Sans" pitchFamily="34" charset="-122"/>
                <a:cs typeface="IBM Plex Sans" pitchFamily="34" charset="-120"/>
              </a:rPr>
              <a:t>Calls it "the Witch".</a:t>
            </a:r>
            <a:endParaRPr lang="en-US" sz="1300" dirty="0"/>
          </a:p>
          <a:p>
            <a:pPr algn="l" marL="168656" indent="-168656">
              <a:lnSpc>
                <a:spcPts val="1820"/>
              </a:lnSpc>
              <a:buSzPct val="100000"/>
              <a:buChar char="•"/>
            </a:pPr>
            <a:r>
              <a:rPr lang="en-US" sz="1300" dirty="0">
                <a:solidFill>
                  <a:srgbClr val="3B4050"/>
                </a:solidFill>
                <a:latin typeface="IBM Plex Sans" pitchFamily="34" charset="0"/>
                <a:ea typeface="IBM Plex Sans" pitchFamily="34" charset="-122"/>
                <a:cs typeface="IBM Plex Sans" pitchFamily="34" charset="-120"/>
              </a:rPr>
              <a:t>Uses Newton's notation in his translation.</a:t>
            </a:r>
            <a:endParaRPr lang="en-US" sz="1300" dirty="0"/>
          </a:p>
        </p:txBody>
      </p:sp>
      <p:sp>
        <p:nvSpPr>
          <p:cNvPr id="13" name="Shape 10"/>
          <p:cNvSpPr/>
          <p:nvPr/>
        </p:nvSpPr>
        <p:spPr>
          <a:xfrm>
            <a:off x="8796834" y="1884561"/>
            <a:ext cx="2582366" cy="3085902"/>
          </a:xfrm>
          <a:prstGeom prst="roundRect">
            <a:avLst>
              <a:gd name="adj" fmla="val 3934"/>
            </a:avLst>
          </a:prstGeom>
          <a:solidFill>
            <a:srgbClr val="1F2433"/>
          </a:solidFill>
          <a:ln/>
        </p:spPr>
      </p:sp>
      <p:sp>
        <p:nvSpPr>
          <p:cNvPr id="14" name="Text 11"/>
          <p:cNvSpPr/>
          <p:nvPr/>
        </p:nvSpPr>
        <p:spPr>
          <a:xfrm>
            <a:off x="9000034" y="2087761"/>
            <a:ext cx="224124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0A458"/>
                </a:solidFill>
                <a:latin typeface="IBM Plex Sans" pitchFamily="34" charset="0"/>
                <a:ea typeface="IBM Plex Sans" pitchFamily="34" charset="-122"/>
                <a:cs typeface="IBM Plex Sans" pitchFamily="34" charset="-120"/>
              </a:rPr>
              <a:t>TODAY</a:t>
            </a:r>
            <a:endParaRPr lang="en-US" sz="1200" dirty="0"/>
          </a:p>
        </p:txBody>
      </p:sp>
      <p:pic>
        <p:nvPicPr>
          <p:cNvPr id="15" name="Image 1" descr="Cover of the novel The Witch of Agnesi by Eric D. Martin">    </p:cNvPr>
          <p:cNvPicPr>
            <a:picLocks noChangeAspect="1"/>
          </p:cNvPicPr>
          <p:nvPr/>
        </p:nvPicPr>
        <p:blipFill>
          <a:blip r:embed="rId2"/>
          <a:srcRect l="0" r="0" t="-13" b="-13"/>
          <a:stretch/>
        </p:blipFill>
        <p:spPr>
          <a:xfrm>
            <a:off x="9000034" y="2377281"/>
            <a:ext cx="1257300" cy="1917700"/>
          </a:xfrm>
          <a:prstGeom prst="roundRect">
            <a:avLst>
              <a:gd name="adj" fmla="val 3030"/>
            </a:avLst>
          </a:prstGeom>
        </p:spPr>
      </p:pic>
      <p:sp>
        <p:nvSpPr>
          <p:cNvPr id="16" name="Text 12"/>
          <p:cNvSpPr/>
          <p:nvPr/>
        </p:nvSpPr>
        <p:spPr>
          <a:xfrm>
            <a:off x="9000034" y="4371181"/>
            <a:ext cx="2241245" cy="42148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CED8"/>
                </a:solidFill>
                <a:latin typeface="IBM Plex Sans" pitchFamily="34" charset="0"/>
                <a:ea typeface="IBM Plex Sans" pitchFamily="34" charset="-122"/>
                <a:cs typeface="IBM Plex Sans" pitchFamily="34" charset="-120"/>
              </a:rPr>
              <a:t>Still "the Witch" — even on a novel's cover</a:t>
            </a:r>
            <a:endParaRPr lang="en-US" sz="1200" dirty="0"/>
          </a:p>
        </p:txBody>
      </p:sp>
      <p:sp>
        <p:nvSpPr>
          <p:cNvPr id="17" name="Text 13"/>
          <p:cNvSpPr/>
          <p:nvPr/>
        </p:nvSpPr>
        <p:spPr>
          <a:xfrm>
            <a:off x="3352800" y="5148263"/>
            <a:ext cx="82671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433"/>
                </a:solidFill>
                <a:latin typeface="IBM Plex Sans" pitchFamily="34" charset="0"/>
                <a:ea typeface="IBM Plex Sans" pitchFamily="34" charset="-122"/>
                <a:cs typeface="IBM Plex Sans" pitchFamily="34" charset="-120"/>
              </a:rPr>
              <a:t>One misread word decided how a woman mathematician has been remembered for two centuries.</a:t>
            </a:r>
            <a:endParaRPr lang="en-US" sz="1600" dirty="0"/>
          </a:p>
        </p:txBody>
      </p:sp>
      <p:sp>
        <p:nvSpPr>
          <p:cNvPr id="18"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IBM Plex Sans" pitchFamily="34" charset="0"/>
                <a:ea typeface="IBM Plex Sans" pitchFamily="34" charset="-122"/>
                <a:cs typeface="IBM Plex Sans" pitchFamily="34" charset="-120"/>
              </a:rPr>
              <a:t>Read more: </a:t>
            </a:r>
            <a:r>
              <a:rPr lang="en-US" sz="1200" u="sng" dirty="0">
                <a:solidFill>
                  <a:srgbClr val="6B6F7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Wikipedia</a:t>
            </a:r>
            <a:r>
              <a:rPr lang="en-US" sz="1200" dirty="0">
                <a:solidFill>
                  <a:srgbClr val="6B6F7A"/>
                </a:solidFill>
                <a:latin typeface="IBM Plex Sans" pitchFamily="34" charset="0"/>
                <a:ea typeface="IBM Plex Sans" pitchFamily="34" charset="-122"/>
                <a:cs typeface="IBM Plex Sans" pitchFamily="34" charset="-120"/>
              </a:rPr>
              <a:t> · </a:t>
            </a:r>
            <a:r>
              <a:rPr lang="en-US" sz="1200" u="sng" dirty="0">
                <a:solidFill>
                  <a:srgbClr val="6B6F7A"/>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MacTutor</a:t>
            </a:r>
            <a:r>
              <a:rPr lang="en-US" sz="1200" dirty="0">
                <a:solidFill>
                  <a:srgbClr val="6B6F7A"/>
                </a:solidFill>
                <a:latin typeface="IBM Plex Sans" pitchFamily="34" charset="0"/>
                <a:ea typeface="IBM Plex Sans" pitchFamily="34" charset="-122"/>
                <a:cs typeface="IBM Plex Sans" pitchFamily="34" charset="-120"/>
              </a:rPr>
              <a:t> · 1748 and 1801 editions: </a:t>
            </a:r>
            <a:r>
              <a:rPr lang="en-US" sz="1200" u="sng" dirty="0">
                <a:solidFill>
                  <a:srgbClr val="6B6F7A"/>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Linda Hall Library</a:t>
            </a:r>
            <a:r>
              <a:rPr lang="en-US" sz="1200" dirty="0">
                <a:solidFill>
                  <a:srgbClr val="6B6F7A"/>
                </a:solidFill>
                <a:latin typeface="IBM Plex Sans" pitchFamily="34" charset="0"/>
                <a:ea typeface="IBM Plex Sans" pitchFamily="34" charset="-122"/>
                <a:cs typeface="IBM Plex Sans" pitchFamily="34" charset="-120"/>
              </a:rPr>
              <a:t>. Portrait: engraving, via Wikipedia.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15305"/>
          </a:xfrm>
          <a:prstGeom prst="rect">
            <a:avLst/>
          </a:prstGeom>
          <a:noFill/>
          <a:ln/>
        </p:spPr>
        <p:txBody>
          <a:bodyPr wrap="square" lIns="0" tIns="0" rIns="0" bIns="0" rtlCol="0" anchor="t">
            <a:normAutofit/>
          </a:bodyPr>
          <a:lstStyle/>
          <a:p>
            <a:pPr algn="l" indent="0" marL="0">
              <a:lnSpc>
                <a:spcPts val="1523"/>
              </a:lnSpc>
              <a:buNone/>
            </a:pPr>
            <a:r>
              <a:rPr lang="en-US" sz="1088" b="1" spc="200" kern="0" dirty="0">
                <a:solidFill>
                  <a:srgbClr val="8C2F39"/>
                </a:solidFill>
                <a:latin typeface="IBM Plex Sans" pitchFamily="34" charset="0"/>
                <a:ea typeface="IBM Plex Sans" pitchFamily="34" charset="-122"/>
                <a:cs typeface="IBM Plex Sans" pitchFamily="34" charset="-120"/>
              </a:rPr>
              <a:t>RULE 3 · DO THE MATHEMATICS</a:t>
            </a:r>
            <a:endParaRPr lang="en-US" sz="1088" dirty="0"/>
          </a:p>
        </p:txBody>
      </p:sp>
      <p:sp>
        <p:nvSpPr>
          <p:cNvPr id="3" name="Text 1"/>
          <p:cNvSpPr/>
          <p:nvPr>
            <p:ph type="title"/>
          </p:nvPr>
        </p:nvSpPr>
        <p:spPr>
          <a:xfrm>
            <a:off x="812800" y="1078905"/>
            <a:ext cx="10883392" cy="423267"/>
          </a:xfrm>
          <a:prstGeom prst="rect">
            <a:avLst/>
          </a:prstGeom>
          <a:noFill/>
          <a:ln/>
        </p:spPr>
        <p:txBody>
          <a:bodyPr wrap="square" lIns="0" tIns="0" rIns="0" bIns="0" rtlCol="0" anchor="t">
            <a:normAutofit/>
          </a:bodyPr>
          <a:lstStyle/>
          <a:p>
            <a:pPr algn="l" indent="0" marL="0">
              <a:lnSpc>
                <a:spcPts val="3168"/>
              </a:lnSpc>
              <a:buNone/>
            </a:pPr>
            <a:r>
              <a:rPr lang="en-US" sz="2880" b="0" i="0" dirty="0">
                <a:solidFill>
                  <a:srgbClr val="1F2433"/>
                </a:solidFill>
                <a:latin typeface="EB Garamond" pitchFamily="18" charset="0"/>
                <a:ea typeface="EB Garamond" pitchFamily="18" charset="-122"/>
                <a:cs typeface="EB Garamond" pitchFamily="18" charset="-120"/>
              </a:rPr>
              <a:t>Who solved the inverse problem first?</a:t>
            </a:r>
            <a:endParaRPr lang="en-US" sz="2880" dirty="0"/>
          </a:p>
        </p:txBody>
      </p:sp>
      <p:sp>
        <p:nvSpPr>
          <p:cNvPr id="4" name="Shape 2"/>
          <p:cNvSpPr/>
          <p:nvPr/>
        </p:nvSpPr>
        <p:spPr>
          <a:xfrm>
            <a:off x="819150" y="1610122"/>
            <a:ext cx="10553700" cy="772815"/>
          </a:xfrm>
          <a:prstGeom prst="roundRect">
            <a:avLst>
              <a:gd name="adj" fmla="val 12325"/>
            </a:avLst>
          </a:prstGeom>
          <a:solidFill>
            <a:srgbClr val="E6ECF3"/>
          </a:solidFill>
          <a:ln w="12700">
            <a:solidFill>
              <a:srgbClr val="1F2433"/>
            </a:solidFill>
            <a:prstDash val="solid"/>
          </a:ln>
        </p:spPr>
      </p:sp>
      <p:sp>
        <p:nvSpPr>
          <p:cNvPr id="5" name="Text 3"/>
          <p:cNvSpPr/>
          <p:nvPr/>
        </p:nvSpPr>
        <p:spPr>
          <a:xfrm>
            <a:off x="1028700" y="1743472"/>
            <a:ext cx="10438638" cy="215702"/>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8C2F39"/>
                </a:solidFill>
                <a:latin typeface="IBM Plex Sans" pitchFamily="34" charset="0"/>
                <a:ea typeface="IBM Plex Sans" pitchFamily="34" charset="-122"/>
                <a:cs typeface="IBM Plex Sans" pitchFamily="34" charset="-120"/>
              </a:rPr>
              <a:t>THE INVERSE PROBLEM EXAMPLE</a:t>
            </a:r>
            <a:endParaRPr lang="en-US" sz="1088" dirty="0"/>
          </a:p>
        </p:txBody>
      </p:sp>
      <p:sp>
        <p:nvSpPr>
          <p:cNvPr id="6" name="Text 4"/>
          <p:cNvSpPr/>
          <p:nvPr/>
        </p:nvSpPr>
        <p:spPr>
          <a:xfrm>
            <a:off x="1028700" y="1984573"/>
            <a:ext cx="10438638" cy="290413"/>
          </a:xfrm>
          <a:prstGeom prst="rect">
            <a:avLst/>
          </a:prstGeom>
          <a:noFill/>
          <a:ln/>
        </p:spPr>
        <p:txBody>
          <a:bodyPr wrap="square" lIns="0" tIns="0" rIns="0" bIns="0" rtlCol="0" anchor="t">
            <a:normAutofit/>
          </a:bodyPr>
          <a:lstStyle/>
          <a:p>
            <a:pPr algn="l" indent="0" marL="0">
              <a:lnSpc>
                <a:spcPts val="2121"/>
              </a:lnSpc>
              <a:buNone/>
            </a:pPr>
            <a:r>
              <a:rPr lang="en-US" sz="1631" dirty="0">
                <a:solidFill>
                  <a:srgbClr val="1F2433"/>
                </a:solidFill>
                <a:latin typeface="EB Garamond" pitchFamily="18" charset="0"/>
                <a:ea typeface="EB Garamond" pitchFamily="18" charset="-122"/>
                <a:cs typeface="EB Garamond" pitchFamily="18" charset="-120"/>
              </a:rPr>
              <a:t>A coin of unknown bias θ lands heads 7 times in 10 tosses. How likely is it that </a:t>
            </a:r>
            <a:r>
              <a:rPr lang="en-US" sz="1631" b="1" dirty="0">
                <a:solidFill>
                  <a:srgbClr val="1F2433"/>
                </a:solidFill>
                <a:latin typeface="EB Garamond" pitchFamily="18" charset="0"/>
                <a:ea typeface="EB Garamond" pitchFamily="18" charset="-122"/>
                <a:cs typeface="EB Garamond" pitchFamily="18" charset="-120"/>
              </a:rPr>
              <a:t>θ</a:t>
            </a:r>
            <a:r>
              <a:rPr lang="en-US" sz="1631" dirty="0">
                <a:solidFill>
                  <a:srgbClr val="1F2433"/>
                </a:solidFill>
                <a:latin typeface="EB Garamond" pitchFamily="18" charset="0"/>
                <a:ea typeface="EB Garamond" pitchFamily="18" charset="-122"/>
                <a:cs typeface="EB Garamond" pitchFamily="18" charset="-120"/>
              </a:rPr>
              <a:t> lies between 0.5 and 0.9?</a:t>
            </a:r>
            <a:endParaRPr lang="en-US" sz="1631" dirty="0"/>
          </a:p>
        </p:txBody>
      </p:sp>
      <p:sp>
        <p:nvSpPr>
          <p:cNvPr id="7" name="Shape 5"/>
          <p:cNvSpPr/>
          <p:nvPr/>
        </p:nvSpPr>
        <p:spPr>
          <a:xfrm>
            <a:off x="815975" y="2519462"/>
            <a:ext cx="5200650" cy="2999978"/>
          </a:xfrm>
          <a:prstGeom prst="roundRect">
            <a:avLst>
              <a:gd name="adj" fmla="val 3281"/>
            </a:avLst>
          </a:prstGeom>
          <a:solidFill>
            <a:srgbClr val="FBF8F1"/>
          </a:solidFill>
          <a:ln w="6350">
            <a:solidFill>
              <a:srgbClr val="D9CFBD"/>
            </a:solidFill>
            <a:prstDash val="solid"/>
          </a:ln>
        </p:spPr>
      </p:sp>
      <p:sp>
        <p:nvSpPr>
          <p:cNvPr id="8" name="Text 6"/>
          <p:cNvSpPr/>
          <p:nvPr/>
        </p:nvSpPr>
        <p:spPr>
          <a:xfrm>
            <a:off x="996950" y="2700437"/>
            <a:ext cx="4983861" cy="213519"/>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8C2F39"/>
                </a:solidFill>
                <a:latin typeface="IBM Plex Sans" pitchFamily="34" charset="0"/>
                <a:ea typeface="IBM Plex Sans" pitchFamily="34" charset="-122"/>
                <a:cs typeface="IBM Plex Sans" pitchFamily="34" charset="-120"/>
              </a:rPr>
              <a:t>APPROACH 1 · BERNOULLI 1713, DE MOIVRE 1738</a:t>
            </a:r>
            <a:endParaRPr lang="en-US" sz="1088" dirty="0"/>
          </a:p>
        </p:txBody>
      </p:sp>
      <p:sp>
        <p:nvSpPr>
          <p:cNvPr id="9" name="Text 7"/>
          <p:cNvSpPr/>
          <p:nvPr/>
        </p:nvSpPr>
        <p:spPr>
          <a:xfrm>
            <a:off x="996950" y="2952055"/>
            <a:ext cx="4983861" cy="1718469"/>
          </a:xfrm>
          <a:prstGeom prst="rect">
            <a:avLst/>
          </a:prstGeom>
          <a:noFill/>
          <a:ln/>
        </p:spPr>
        <p:txBody>
          <a:bodyPr wrap="square" lIns="0" tIns="0" rIns="0" bIns="0" rtlCol="0" anchor="t">
            <a:normAutofit/>
          </a:bodyPr>
          <a:lstStyle/>
          <a:p>
            <a:pPr algn="l" marL="254000" indent="-254000">
              <a:lnSpc>
                <a:spcPts val="1596"/>
              </a:lnSpc>
              <a:buSzPct val="100000"/>
              <a:buFontTx/>
              <a:buAutoNum type="arabicPeriod" startAt="1"/>
            </a:pPr>
            <a:r>
              <a:rPr lang="en-US" sz="1140" dirty="0">
                <a:solidFill>
                  <a:srgbClr val="3B4050"/>
                </a:solidFill>
                <a:latin typeface="IBM Plex Sans" pitchFamily="34" charset="0"/>
                <a:ea typeface="IBM Plex Sans" pitchFamily="34" charset="-122"/>
                <a:cs typeface="IBM Plex Sans" pitchFamily="34" charset="-120"/>
              </a:rPr>
              <a:t>Bernoulli's law of large numbers: </a:t>
            </a:r>
            <a:endParaRPr lang="en-US" sz="1140" dirty="0"/>
          </a:p>
          <a:p>
            <a:pPr algn="l" indent="0" marL="0">
              <a:lnSpc>
                <a:spcPts val="1596"/>
              </a:lnSpc>
              <a:buNone/>
            </a:pPr>
            <a:r>
              <a:rPr lang="en-US" sz="1140" dirty="0">
                <a:solidFill>
                  <a:srgbClr val="3B4050"/>
                </a:solidFill>
                <a:latin typeface="IBM Plex Sans" pitchFamily="34" charset="0"/>
                <a:ea typeface="IBM Plex Sans" pitchFamily="34" charset="-122"/>
                <a:cs typeface="IBM Plex Sans" pitchFamily="34" charset="-120"/>
              </a:rPr>
              <a:t>                if θ is </a:t>
            </a:r>
            <a:r>
              <a:rPr lang="en-US" sz="1140" b="1" dirty="0">
                <a:solidFill>
                  <a:srgbClr val="3B4050"/>
                </a:solidFill>
                <a:latin typeface="IBM Plex Sans" pitchFamily="34" charset="0"/>
                <a:ea typeface="IBM Plex Sans" pitchFamily="34" charset="-122"/>
                <a:cs typeface="IBM Plex Sans" pitchFamily="34" charset="-120"/>
              </a:rPr>
              <a:t>known</a:t>
            </a:r>
            <a:r>
              <a:rPr lang="en-US" sz="1140" dirty="0">
                <a:solidFill>
                  <a:srgbClr val="3B4050"/>
                </a:solidFill>
                <a:latin typeface="IBM Plex Sans" pitchFamily="34" charset="0"/>
                <a:ea typeface="IBM Plex Sans" pitchFamily="34" charset="-122"/>
                <a:cs typeface="IBM Plex Sans" pitchFamily="34" charset="-120"/>
              </a:rPr>
              <a:t>, the share of heads x̄ₙ gets close to θ as number </a:t>
            </a:r>
            <a:endParaRPr lang="en-US" sz="1140" dirty="0"/>
          </a:p>
          <a:p>
            <a:pPr algn="l" indent="0" marL="0">
              <a:lnSpc>
                <a:spcPts val="1596"/>
              </a:lnSpc>
              <a:buNone/>
            </a:pPr>
            <a:r>
              <a:rPr lang="en-US" sz="1140" dirty="0">
                <a:solidFill>
                  <a:srgbClr val="3B4050"/>
                </a:solidFill>
                <a:latin typeface="IBM Plex Sans" pitchFamily="34" charset="0"/>
                <a:ea typeface="IBM Plex Sans" pitchFamily="34" charset="-122"/>
                <a:cs typeface="IBM Plex Sans" pitchFamily="34" charset="-120"/>
              </a:rPr>
              <a:t>                                                         of trials  → ∞</a:t>
            </a:r>
            <a:endParaRPr lang="en-US" sz="1140" dirty="0"/>
          </a:p>
          <a:p>
            <a:pPr algn="l" marL="254000" indent="-254000">
              <a:lnSpc>
                <a:spcPts val="1596"/>
              </a:lnSpc>
              <a:buSzPct val="100000"/>
              <a:buFontTx/>
              <a:buAutoNum type="arabicPeriod" startAt="1"/>
            </a:pPr>
            <a:r>
              <a:rPr lang="en-US" sz="1140" dirty="0">
                <a:solidFill>
                  <a:srgbClr val="3B4050"/>
                </a:solidFill>
                <a:latin typeface="IBM Plex Sans" pitchFamily="34" charset="0"/>
                <a:ea typeface="IBM Plex Sans" pitchFamily="34" charset="-122"/>
                <a:cs typeface="IBM Plex Sans" pitchFamily="34" charset="-120"/>
              </a:rPr>
              <a:t>So estimate θ by the sample proportion: θ ≈ x̄ = 7/10</a:t>
            </a:r>
            <a:endParaRPr lang="en-US" sz="1140" dirty="0"/>
          </a:p>
          <a:p>
            <a:pPr algn="l" marL="254000" indent="-254000">
              <a:lnSpc>
                <a:spcPts val="1596"/>
              </a:lnSpc>
              <a:buSzPct val="100000"/>
              <a:buFontTx/>
              <a:buAutoNum type="arabicPeriod" startAt="1"/>
            </a:pPr>
            <a:r>
              <a:rPr lang="en-US" sz="1140" dirty="0">
                <a:solidFill>
                  <a:srgbClr val="3B4050"/>
                </a:solidFill>
                <a:latin typeface="IBM Plex Sans" pitchFamily="34" charset="0"/>
                <a:ea typeface="IBM Plex Sans" pitchFamily="34" charset="-122"/>
                <a:cs typeface="IBM Plex Sans" pitchFamily="34" charset="-120"/>
              </a:rPr>
              <a:t>De Moivre's normal approximation: x̄ scatters around θ with s.d. √(θ(1−θ)/n) ≈ √(0.7 × 0.3 / 10) = √0.021 ≈ 0.14, using our guess θ ≈ 0.7</a:t>
            </a:r>
            <a:endParaRPr lang="en-US" sz="1140" dirty="0"/>
          </a:p>
          <a:p>
            <a:pPr algn="l" marL="254000" indent="-254000">
              <a:lnSpc>
                <a:spcPts val="1596"/>
              </a:lnSpc>
              <a:buSzPct val="100000"/>
              <a:buFontTx/>
              <a:buAutoNum type="arabicPeriod" startAt="1"/>
            </a:pPr>
            <a:r>
              <a:rPr lang="en-US" sz="1140" dirty="0">
                <a:solidFill>
                  <a:srgbClr val="3B4050"/>
                </a:solidFill>
                <a:latin typeface="IBM Plex Sans" pitchFamily="34" charset="0"/>
                <a:ea typeface="IBM Plex Sans" pitchFamily="34" charset="-122"/>
                <a:cs typeface="IBM Plex Sans" pitchFamily="34" charset="-120"/>
              </a:rPr>
              <a:t>Bernoulli's law and De Moivre's approximation both describe the data </a:t>
            </a:r>
            <a:r>
              <a:rPr lang="en-US" sz="1140" i="1" dirty="0">
                <a:solidFill>
                  <a:srgbClr val="3B4050"/>
                </a:solidFill>
                <a:latin typeface="IBM Plex Sans" pitchFamily="34" charset="0"/>
                <a:ea typeface="IBM Plex Sans" pitchFamily="34" charset="-122"/>
                <a:cs typeface="IBM Plex Sans" pitchFamily="34" charset="-120"/>
              </a:rPr>
              <a:t>given</a:t>
            </a:r>
            <a:r>
              <a:rPr lang="en-US" sz="1140" dirty="0">
                <a:solidFill>
                  <a:srgbClr val="3B4050"/>
                </a:solidFill>
                <a:latin typeface="IBM Plex Sans" pitchFamily="34" charset="0"/>
                <a:ea typeface="IBM Plex Sans" pitchFamily="34" charset="-122"/>
                <a:cs typeface="IBM Plex Sans" pitchFamily="34" charset="-120"/>
              </a:rPr>
              <a:t> θ, and become exact only as n → ∞</a:t>
            </a:r>
            <a:endParaRPr lang="en-US" sz="1140" dirty="0"/>
          </a:p>
        </p:txBody>
      </p:sp>
      <p:sp>
        <p:nvSpPr>
          <p:cNvPr id="10" name="Text 8"/>
          <p:cNvSpPr/>
          <p:nvPr/>
        </p:nvSpPr>
        <p:spPr>
          <a:xfrm>
            <a:off x="996950" y="4708624"/>
            <a:ext cx="4983861" cy="229096"/>
          </a:xfrm>
          <a:prstGeom prst="rect">
            <a:avLst/>
          </a:prstGeom>
          <a:noFill/>
          <a:ln/>
        </p:spPr>
        <p:txBody>
          <a:bodyPr wrap="square" lIns="0" tIns="0" rIns="0" bIns="0" rtlCol="0" anchor="t">
            <a:normAutofit/>
          </a:bodyPr>
          <a:lstStyle/>
          <a:p>
            <a:pPr algn="l" indent="0" marL="0">
              <a:lnSpc>
                <a:spcPts val="1621"/>
              </a:lnSpc>
              <a:buNone/>
            </a:pPr>
            <a:r>
              <a:rPr lang="en-US" sz="1247" b="1" dirty="0">
                <a:solidFill>
                  <a:srgbClr val="8C2F39"/>
                </a:solidFill>
                <a:latin typeface="Georgia" pitchFamily="18" charset="0"/>
                <a:ea typeface="Georgia" pitchFamily="18" charset="-122"/>
                <a:cs typeface="Georgia" pitchFamily="18" charset="-120"/>
              </a:rPr>
              <a:t>θ ≈ 0.7 — but can't say how likely 0.5 &lt; θ &lt; 0.9 is</a:t>
            </a:r>
            <a:endParaRPr lang="en-US" sz="1247" dirty="0"/>
          </a:p>
        </p:txBody>
      </p:sp>
      <p:sp>
        <p:nvSpPr>
          <p:cNvPr id="11" name="Text 9"/>
          <p:cNvSpPr/>
          <p:nvPr/>
        </p:nvSpPr>
        <p:spPr>
          <a:xfrm>
            <a:off x="996950" y="4975820"/>
            <a:ext cx="4983861" cy="388045"/>
          </a:xfrm>
          <a:prstGeom prst="rect">
            <a:avLst/>
          </a:prstGeom>
          <a:noFill/>
          <a:ln/>
        </p:spPr>
        <p:txBody>
          <a:bodyPr wrap="square" lIns="0" tIns="0" rIns="0" bIns="0" rtlCol="0" anchor="t">
            <a:normAutofit/>
          </a:bodyPr>
          <a:lstStyle/>
          <a:p>
            <a:pPr algn="l" indent="0" marL="0">
              <a:lnSpc>
                <a:spcPts val="1433"/>
              </a:lnSpc>
              <a:buNone/>
            </a:pPr>
            <a:r>
              <a:rPr lang="en-US" sz="1061" dirty="0">
                <a:solidFill>
                  <a:srgbClr val="6B6F7A"/>
                </a:solidFill>
                <a:latin typeface="IBM Plex Sans" pitchFamily="34" charset="0"/>
                <a:ea typeface="IBM Plex Sans" pitchFamily="34" charset="-122"/>
                <a:cs typeface="IBM Plex Sans" pitchFamily="34" charset="-120"/>
              </a:rPr>
              <a:t>Why: θ is one fixed, unknown number — not random. Probabilities apply only to the data (the tosses).</a:t>
            </a:r>
            <a:endParaRPr lang="en-US" sz="1061" dirty="0"/>
          </a:p>
        </p:txBody>
      </p:sp>
      <p:sp>
        <p:nvSpPr>
          <p:cNvPr id="12" name="Shape 10"/>
          <p:cNvSpPr/>
          <p:nvPr/>
        </p:nvSpPr>
        <p:spPr>
          <a:xfrm>
            <a:off x="6178550" y="2522637"/>
            <a:ext cx="5194300" cy="2993628"/>
          </a:xfrm>
          <a:prstGeom prst="roundRect">
            <a:avLst>
              <a:gd name="adj" fmla="val 3182"/>
            </a:avLst>
          </a:prstGeom>
          <a:solidFill>
            <a:srgbClr val="FBF8F1"/>
          </a:solidFill>
          <a:ln w="12700">
            <a:solidFill>
              <a:srgbClr val="8C2F39"/>
            </a:solidFill>
            <a:prstDash val="solid"/>
          </a:ln>
        </p:spPr>
      </p:sp>
      <p:sp>
        <p:nvSpPr>
          <p:cNvPr id="13" name="Text 11"/>
          <p:cNvSpPr/>
          <p:nvPr/>
        </p:nvSpPr>
        <p:spPr>
          <a:xfrm>
            <a:off x="6362700" y="2706787"/>
            <a:ext cx="497078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APPROACH 2 · BAYES 1763</a:t>
            </a:r>
            <a:endParaRPr lang="en-US" sz="1200" dirty="0"/>
          </a:p>
        </p:txBody>
      </p:sp>
      <p:sp>
        <p:nvSpPr>
          <p:cNvPr id="14" name="Text 12"/>
          <p:cNvSpPr/>
          <p:nvPr/>
        </p:nvSpPr>
        <p:spPr>
          <a:xfrm>
            <a:off x="6447730" y="2983607"/>
            <a:ext cx="4878130" cy="1092002"/>
          </a:xfrm>
          <a:prstGeom prst="rect">
            <a:avLst/>
          </a:prstGeom>
          <a:noFill/>
          <a:ln/>
        </p:spPr>
        <p:txBody>
          <a:bodyPr wrap="square" lIns="0" tIns="0" rIns="0" bIns="0" rtlCol="0" anchor="t">
            <a:normAutofit/>
          </a:bodyPr>
          <a:lstStyle/>
          <a:p>
            <a:pPr algn="l" marL="168970" indent="-168970">
              <a:lnSpc>
                <a:spcPts val="1680"/>
              </a:lnSpc>
              <a:buSzPct val="100000"/>
              <a:buFontTx/>
              <a:buAutoNum type="arabicPeriod" startAt="1"/>
            </a:pPr>
            <a:r>
              <a:rPr lang="en-US" sz="1200" dirty="0">
                <a:solidFill>
                  <a:srgbClr val="1F2433"/>
                </a:solidFill>
                <a:latin typeface="IBM Plex Sans" pitchFamily="34" charset="0"/>
                <a:ea typeface="IBM Plex Sans" pitchFamily="34" charset="-122"/>
                <a:cs typeface="IBM Plex Sans" pitchFamily="34" charset="-120"/>
              </a:rPr>
              <a:t>Prior: before tossing, every θ in [0, 1] is </a:t>
            </a:r>
            <a:r>
              <a:rPr lang="en-US" sz="1200" b="1" dirty="0">
                <a:solidFill>
                  <a:srgbClr val="1F2433"/>
                </a:solidFill>
                <a:latin typeface="IBM Plex Sans" pitchFamily="34" charset="0"/>
                <a:ea typeface="IBM Plex Sans" pitchFamily="34" charset="-122"/>
                <a:cs typeface="IBM Plex Sans" pitchFamily="34" charset="-120"/>
              </a:rPr>
              <a:t>equally likely</a:t>
            </a:r>
            <a:endParaRPr lang="en-US" sz="1200" dirty="0"/>
          </a:p>
          <a:p>
            <a:pPr algn="l" marL="168970" indent="-168970">
              <a:lnSpc>
                <a:spcPts val="1680"/>
              </a:lnSpc>
              <a:buSzPct val="100000"/>
              <a:buFontTx/>
              <a:buAutoNum type="arabicPeriod" startAt="1"/>
            </a:pPr>
            <a:r>
              <a:rPr lang="en-US" sz="1200" dirty="0">
                <a:solidFill>
                  <a:srgbClr val="1F2433"/>
                </a:solidFill>
                <a:latin typeface="IBM Plex Sans" pitchFamily="34" charset="0"/>
                <a:ea typeface="IBM Plex Sans" pitchFamily="34" charset="-122"/>
                <a:cs typeface="IBM Plex Sans" pitchFamily="34" charset="-120"/>
              </a:rPr>
              <a:t>Weigh each θ by how well it explains the data: θ⁷(1−θ)³</a:t>
            </a:r>
            <a:endParaRPr lang="en-US" sz="1200" dirty="0"/>
          </a:p>
          <a:p>
            <a:pPr algn="l" marL="168970" indent="-168970">
              <a:lnSpc>
                <a:spcPts val="1680"/>
              </a:lnSpc>
              <a:buSzPct val="100000"/>
              <a:buFontTx/>
              <a:buAutoNum type="arabicPeriod" startAt="1"/>
            </a:pPr>
            <a:r>
              <a:rPr lang="en-US" sz="1200" dirty="0">
                <a:solidFill>
                  <a:srgbClr val="1F2433"/>
                </a:solidFill>
                <a:latin typeface="IBM Plex Sans" pitchFamily="34" charset="0"/>
                <a:ea typeface="IBM Plex Sans" pitchFamily="34" charset="-122"/>
                <a:cs typeface="IBM Plex Sans" pitchFamily="34" charset="-120"/>
              </a:rPr>
              <a:t>Rescale to total 1: ∫₀¹ θ⁷(1−θ)³ dθ = 1/1320, so the curve for θ is 1320 θ⁷(1−θ)³</a:t>
            </a:r>
            <a:endParaRPr lang="en-US" sz="1200" dirty="0"/>
          </a:p>
          <a:p>
            <a:pPr algn="l" marL="168970" indent="-168970">
              <a:lnSpc>
                <a:spcPts val="1680"/>
              </a:lnSpc>
              <a:buSzPct val="100000"/>
              <a:buFontTx/>
              <a:buAutoNum type="arabicPeriod" startAt="1"/>
            </a:pPr>
            <a:r>
              <a:rPr lang="en-US" sz="1200" dirty="0">
                <a:solidFill>
                  <a:srgbClr val="1F2433"/>
                </a:solidFill>
                <a:latin typeface="IBM Plex Sans" pitchFamily="34" charset="0"/>
                <a:ea typeface="IBM Plex Sans" pitchFamily="34" charset="-122"/>
                <a:cs typeface="IBM Plex Sans" pitchFamily="34" charset="-120"/>
              </a:rPr>
              <a:t>Take the area from 0.5 to 0.9 under that curve</a:t>
            </a:r>
            <a:endParaRPr lang="en-US" sz="1200" dirty="0"/>
          </a:p>
        </p:txBody>
      </p:sp>
      <p:sp>
        <p:nvSpPr>
          <p:cNvPr id="15" name="Text 13"/>
          <p:cNvSpPr/>
          <p:nvPr/>
        </p:nvSpPr>
        <p:spPr>
          <a:xfrm>
            <a:off x="6362700" y="4113709"/>
            <a:ext cx="4970780" cy="487561"/>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8C2F39"/>
                </a:solidFill>
                <a:latin typeface="Georgia" pitchFamily="18" charset="0"/>
                <a:ea typeface="Georgia" pitchFamily="18" charset="-122"/>
                <a:cs typeface="Georgia" pitchFamily="18" charset="-120"/>
              </a:rPr>
              <a:t>P(0.5 &lt; θ &lt; 0.9 | 7 heads in 10) ≈ 0.87 — an exact probability for θ after just 10 tosses</a:t>
            </a:r>
            <a:endParaRPr lang="en-US" sz="1400" dirty="0"/>
          </a:p>
        </p:txBody>
      </p:sp>
      <p:sp>
        <p:nvSpPr>
          <p:cNvPr id="16" name="Text 14"/>
          <p:cNvSpPr/>
          <p:nvPr/>
        </p:nvSpPr>
        <p:spPr>
          <a:xfrm>
            <a:off x="6362700" y="4639370"/>
            <a:ext cx="497078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B6F7A"/>
                </a:solidFill>
                <a:latin typeface="IBM Plex Sans" pitchFamily="34" charset="0"/>
                <a:ea typeface="IBM Plex Sans" pitchFamily="34" charset="-122"/>
                <a:cs typeface="IBM Plex Sans" pitchFamily="34" charset="-120"/>
              </a:rPr>
              <a:t>Why: the prior treats θ as uncertain, so θ itself can carry a probability — updated by the data.</a:t>
            </a:r>
            <a:endParaRPr lang="en-US" sz="1200" dirty="0"/>
          </a:p>
        </p:txBody>
      </p:sp>
      <p:sp>
        <p:nvSpPr>
          <p:cNvPr id="17" name="Text 15"/>
          <p:cNvSpPr/>
          <p:nvPr/>
        </p:nvSpPr>
        <p:spPr>
          <a:xfrm>
            <a:off x="812800" y="5649615"/>
            <a:ext cx="10883392" cy="217785"/>
          </a:xfrm>
          <a:prstGeom prst="rect">
            <a:avLst/>
          </a:prstGeom>
          <a:noFill/>
          <a:ln/>
        </p:spPr>
        <p:txBody>
          <a:bodyPr wrap="square" lIns="0" tIns="0" rIns="0" bIns="0" rtlCol="0" anchor="t">
            <a:normAutofit/>
          </a:bodyPr>
          <a:lstStyle/>
          <a:p>
            <a:pPr algn="l" indent="0" marL="0">
              <a:lnSpc>
                <a:spcPts val="1523"/>
              </a:lnSpc>
              <a:buNone/>
            </a:pPr>
            <a:r>
              <a:rPr lang="en-US" sz="1088" b="1" dirty="0">
                <a:solidFill>
                  <a:srgbClr val="6B6F7A"/>
                </a:solidFill>
                <a:latin typeface="IBM Plex Sans" pitchFamily="34" charset="0"/>
                <a:ea typeface="IBM Plex Sans" pitchFamily="34" charset="-122"/>
                <a:cs typeface="IBM Plex Sans" pitchFamily="34" charset="-120"/>
              </a:rPr>
              <a:t>The dispute:</a:t>
            </a:r>
            <a:r>
              <a:rPr lang="en-US" sz="1088" dirty="0">
                <a:solidFill>
                  <a:srgbClr val="6B6F7A"/>
                </a:solidFill>
                <a:latin typeface="IBM Plex Sans" pitchFamily="34" charset="0"/>
                <a:ea typeface="IBM Plex Sans" pitchFamily="34" charset="-122"/>
                <a:cs typeface="IBM Plex Sans" pitchFamily="34" charset="-120"/>
              </a:rPr>
              <a:t> De Moivre (1756): Approach 1 is enough. Price (1763): no one before Bayes. Price was right.</a:t>
            </a:r>
            <a:endParaRPr lang="en-US" sz="1088"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IBM Plex Sans" pitchFamily="34" charset="0"/>
                <a:ea typeface="IBM Plex Sans" pitchFamily="34" charset="-122"/>
                <a:cs typeface="IBM Plex Sans" pitchFamily="34" charset="-120"/>
              </a:rPr>
              <a:t>Bayes, </a:t>
            </a:r>
            <a:r>
              <a:rPr lang="en-US" sz="1200" i="1" u="sng" dirty="0">
                <a:solidFill>
                  <a:srgbClr val="6B6F7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Essay</a:t>
            </a:r>
            <a:r>
              <a:rPr lang="en-US" sz="1200" dirty="0">
                <a:solidFill>
                  <a:srgbClr val="6B6F7A"/>
                </a:solidFill>
                <a:latin typeface="IBM Plex Sans" pitchFamily="34" charset="0"/>
                <a:ea typeface="IBM Plex Sans" pitchFamily="34" charset="-122"/>
                <a:cs typeface="IBM Plex Sans" pitchFamily="34" charset="-120"/>
              </a:rPr>
              <a:t>, Phil. Trans. 53 (1763) · Diniz &amp; Bellhouse, </a:t>
            </a:r>
            <a:r>
              <a:rPr lang="en-US" sz="1200" i="1" u="sng" dirty="0">
                <a:solidFill>
                  <a:srgbClr val="6B6F7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Mr. Bayes and the classics: a suggested interpretation</a:t>
            </a:r>
            <a:r>
              <a:rPr lang="en-US" sz="1200" dirty="0">
                <a:solidFill>
                  <a:srgbClr val="6B6F7A"/>
                </a:solidFill>
                <a:latin typeface="IBM Plex Sans" pitchFamily="34" charset="0"/>
                <a:ea typeface="IBM Plex Sans" pitchFamily="34" charset="-122"/>
                <a:cs typeface="IBM Plex Sans" pitchFamily="34" charset="-120"/>
              </a:rPr>
              <a:t> (2022)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4 · KEEP THE UNCERTAINTY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Was Bayes's essay written to answer Hume on miracles?</a:t>
            </a:r>
            <a:endParaRPr lang="en-US" sz="3600" dirty="0"/>
          </a:p>
        </p:txBody>
      </p:sp>
      <p:sp>
        <p:nvSpPr>
          <p:cNvPr id="4" name="Shape 2"/>
          <p:cNvSpPr/>
          <p:nvPr/>
        </p:nvSpPr>
        <p:spPr>
          <a:xfrm>
            <a:off x="815975" y="1887736"/>
            <a:ext cx="5149850" cy="2321024"/>
          </a:xfrm>
          <a:prstGeom prst="roundRect">
            <a:avLst>
              <a:gd name="adj" fmla="val 4241"/>
            </a:avLst>
          </a:prstGeom>
          <a:solidFill>
            <a:srgbClr val="FBF8F1"/>
          </a:solidFill>
          <a:ln w="6350">
            <a:solidFill>
              <a:srgbClr val="D9CFBD"/>
            </a:solidFill>
            <a:prstDash val="solid"/>
          </a:ln>
        </p:spPr>
      </p:sp>
      <p:sp>
        <p:nvSpPr>
          <p:cNvPr id="5" name="Text 3"/>
          <p:cNvSpPr/>
          <p:nvPr/>
        </p:nvSpPr>
        <p:spPr>
          <a:xfrm>
            <a:off x="1073150" y="2144911"/>
            <a:ext cx="47745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8C2F39"/>
                </a:solidFill>
                <a:latin typeface="IBM Plex Sans" pitchFamily="34" charset="0"/>
                <a:ea typeface="IBM Plex Sans" pitchFamily="34" charset="-122"/>
                <a:cs typeface="IBM Plex Sans" pitchFamily="34" charset="-120"/>
              </a:rPr>
              <a:t>For — Stigler (2013)</a:t>
            </a:r>
            <a:endParaRPr lang="en-US" sz="1600" dirty="0"/>
          </a:p>
        </p:txBody>
      </p:sp>
      <p:sp>
        <p:nvSpPr>
          <p:cNvPr id="6" name="Text 4"/>
          <p:cNvSpPr/>
          <p:nvPr/>
        </p:nvSpPr>
        <p:spPr>
          <a:xfrm>
            <a:off x="1158494" y="2515691"/>
            <a:ext cx="4681601" cy="1461294"/>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050"/>
                </a:solidFill>
                <a:latin typeface="IBM Plex Sans" pitchFamily="34" charset="0"/>
                <a:ea typeface="IBM Plex Sans" pitchFamily="34" charset="-122"/>
                <a:cs typeface="IBM Plex Sans" pitchFamily="34" charset="-120"/>
              </a:rPr>
              <a:t>1764 offprints carry Price's own title: "A Method of Calculating the Exact Probability of All Conclusions founded on Induction"</a:t>
            </a:r>
            <a:endParaRPr lang="en-US" sz="1300" dirty="0"/>
          </a:p>
          <a:p>
            <a:pPr algn="l" marL="168656" indent="-168656">
              <a:lnSpc>
                <a:spcPts val="1885"/>
              </a:lnSpc>
              <a:buSzPct val="100000"/>
              <a:buChar char="•"/>
            </a:pPr>
            <a:r>
              <a:rPr lang="en-US" sz="1300" dirty="0">
                <a:solidFill>
                  <a:srgbClr val="3B4050"/>
                </a:solidFill>
                <a:latin typeface="IBM Plex Sans" pitchFamily="34" charset="0"/>
                <a:ea typeface="IBM Plex Sans" pitchFamily="34" charset="-122"/>
                <a:cs typeface="IBM Plex Sans" pitchFamily="34" charset="-120"/>
              </a:rPr>
              <a:t>Price openly used Bayes against Hume in </a:t>
            </a:r>
            <a:r>
              <a:rPr lang="en-US" sz="1300" i="1" dirty="0">
                <a:solidFill>
                  <a:srgbClr val="3B4050"/>
                </a:solidFill>
                <a:latin typeface="IBM Plex Sans" pitchFamily="34" charset="0"/>
                <a:ea typeface="IBM Plex Sans" pitchFamily="34" charset="-122"/>
                <a:cs typeface="IBM Plex Sans" pitchFamily="34" charset="-120"/>
              </a:rPr>
              <a:t>Four Dissertations</a:t>
            </a:r>
            <a:r>
              <a:rPr lang="en-US" sz="1300" dirty="0">
                <a:solidFill>
                  <a:srgbClr val="3B4050"/>
                </a:solidFill>
                <a:latin typeface="IBM Plex Sans" pitchFamily="34" charset="0"/>
                <a:ea typeface="IBM Plex Sans" pitchFamily="34" charset="-122"/>
                <a:cs typeface="IBM Plex Sans" pitchFamily="34" charset="-120"/>
              </a:rPr>
              <a:t> (1767)</a:t>
            </a:r>
            <a:endParaRPr lang="en-US" sz="1300" dirty="0"/>
          </a:p>
          <a:p>
            <a:pPr algn="l" marL="168656" indent="-168656">
              <a:lnSpc>
                <a:spcPts val="1885"/>
              </a:lnSpc>
              <a:buSzPct val="100000"/>
              <a:buChar char="•"/>
            </a:pPr>
            <a:r>
              <a:rPr lang="en-US" sz="1300" dirty="0">
                <a:solidFill>
                  <a:srgbClr val="3B4050"/>
                </a:solidFill>
                <a:latin typeface="IBM Plex Sans" pitchFamily="34" charset="0"/>
                <a:ea typeface="IBM Plex Sans" pitchFamily="34" charset="-122"/>
                <a:cs typeface="IBM Plex Sans" pitchFamily="34" charset="-120"/>
              </a:rPr>
              <a:t>Verdict: Price "almost surely", Bayes "not improbably"</a:t>
            </a:r>
            <a:endParaRPr lang="en-US" sz="1300" dirty="0"/>
          </a:p>
        </p:txBody>
      </p:sp>
      <p:sp>
        <p:nvSpPr>
          <p:cNvPr id="7" name="Shape 5"/>
          <p:cNvSpPr/>
          <p:nvPr/>
        </p:nvSpPr>
        <p:spPr>
          <a:xfrm>
            <a:off x="6226175" y="1887736"/>
            <a:ext cx="5149850" cy="2321024"/>
          </a:xfrm>
          <a:prstGeom prst="roundRect">
            <a:avLst>
              <a:gd name="adj" fmla="val 4241"/>
            </a:avLst>
          </a:prstGeom>
          <a:solidFill>
            <a:srgbClr val="FBF8F1"/>
          </a:solidFill>
          <a:ln w="6350">
            <a:solidFill>
              <a:srgbClr val="D9CFBD"/>
            </a:solidFill>
            <a:prstDash val="solid"/>
          </a:ln>
        </p:spPr>
      </p:sp>
      <p:sp>
        <p:nvSpPr>
          <p:cNvPr id="8" name="Text 6"/>
          <p:cNvSpPr/>
          <p:nvPr/>
        </p:nvSpPr>
        <p:spPr>
          <a:xfrm>
            <a:off x="6483350" y="2144911"/>
            <a:ext cx="4774565"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433"/>
                </a:solidFill>
                <a:latin typeface="IBM Plex Sans" pitchFamily="34" charset="0"/>
                <a:ea typeface="IBM Plex Sans" pitchFamily="34" charset="-122"/>
                <a:cs typeface="IBM Plex Sans" pitchFamily="34" charset="-120"/>
              </a:rPr>
              <a:t>Against — Diniz &amp; Bellhouse (2022)</a:t>
            </a:r>
            <a:endParaRPr lang="en-US" sz="1600" dirty="0"/>
          </a:p>
        </p:txBody>
      </p:sp>
      <p:sp>
        <p:nvSpPr>
          <p:cNvPr id="9" name="Text 7"/>
          <p:cNvSpPr/>
          <p:nvPr/>
        </p:nvSpPr>
        <p:spPr>
          <a:xfrm>
            <a:off x="6568694" y="2515691"/>
            <a:ext cx="4681601" cy="1461294"/>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050"/>
                </a:solidFill>
                <a:latin typeface="IBM Plex Sans" pitchFamily="34" charset="0"/>
                <a:ea typeface="IBM Plex Sans" pitchFamily="34" charset="-122"/>
                <a:cs typeface="IBM Plex Sans" pitchFamily="34" charset="-120"/>
              </a:rPr>
              <a:t>Nowhere in his writings does Bayes look for applications</a:t>
            </a:r>
            <a:endParaRPr lang="en-US" sz="1300" dirty="0"/>
          </a:p>
          <a:p>
            <a:pPr algn="l" marL="168656" indent="-168656">
              <a:lnSpc>
                <a:spcPts val="1885"/>
              </a:lnSpc>
              <a:buSzPct val="100000"/>
              <a:buChar char="•"/>
            </a:pPr>
            <a:r>
              <a:rPr lang="en-US" sz="1300" dirty="0">
                <a:solidFill>
                  <a:srgbClr val="3B4050"/>
                </a:solidFill>
                <a:latin typeface="IBM Plex Sans" pitchFamily="34" charset="0"/>
                <a:ea typeface="IBM Plex Sans" pitchFamily="34" charset="-122"/>
                <a:cs typeface="IBM Plex Sans" pitchFamily="34" charset="-120"/>
              </a:rPr>
              <a:t>His route runs through De Moivre's </a:t>
            </a:r>
            <a:r>
              <a:rPr lang="en-US" sz="1300" i="1" dirty="0">
                <a:solidFill>
                  <a:srgbClr val="3B4050"/>
                </a:solidFill>
                <a:latin typeface="IBM Plex Sans" pitchFamily="34" charset="0"/>
                <a:ea typeface="IBM Plex Sans" pitchFamily="34" charset="-122"/>
                <a:cs typeface="IBM Plex Sans" pitchFamily="34" charset="-120"/>
              </a:rPr>
              <a:t>Doctrine of Chances</a:t>
            </a:r>
            <a:r>
              <a:rPr lang="en-US" sz="1300" dirty="0">
                <a:solidFill>
                  <a:srgbClr val="3B4050"/>
                </a:solidFill>
                <a:latin typeface="IBM Plex Sans" pitchFamily="34" charset="0"/>
                <a:ea typeface="IBM Plex Sans" pitchFamily="34" charset="-122"/>
                <a:cs typeface="IBM Plex Sans" pitchFamily="34" charset="-120"/>
              </a:rPr>
              <a:t> (1738)</a:t>
            </a:r>
            <a:endParaRPr lang="en-US" sz="1300" dirty="0"/>
          </a:p>
          <a:p>
            <a:pPr algn="l" marL="168656" indent="-168656">
              <a:lnSpc>
                <a:spcPts val="1885"/>
              </a:lnSpc>
              <a:buSzPct val="100000"/>
              <a:buChar char="•"/>
            </a:pPr>
            <a:r>
              <a:rPr lang="en-US" sz="1300" dirty="0">
                <a:solidFill>
                  <a:srgbClr val="3B4050"/>
                </a:solidFill>
                <a:latin typeface="IBM Plex Sans" pitchFamily="34" charset="0"/>
                <a:ea typeface="IBM Plex Sans" pitchFamily="34" charset="-122"/>
                <a:cs typeface="IBM Plex Sans" pitchFamily="34" charset="-120"/>
              </a:rPr>
              <a:t>Hume's essay appeared April 1748; Hartley's book, citing an "ingenious Friend's" solution, went to press December 1748 — little time</a:t>
            </a:r>
            <a:endParaRPr lang="en-US" sz="1300" dirty="0"/>
          </a:p>
        </p:txBody>
      </p:sp>
      <p:sp>
        <p:nvSpPr>
          <p:cNvPr id="10" name="Text 8"/>
          <p:cNvSpPr/>
          <p:nvPr/>
        </p:nvSpPr>
        <p:spPr>
          <a:xfrm>
            <a:off x="812800" y="4465935"/>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Stigler himself calls Bayes's motive the </a:t>
            </a:r>
            <a:r>
              <a:rPr lang="en-US" sz="1500" b="1" dirty="0">
                <a:solidFill>
                  <a:srgbClr val="1F2433"/>
                </a:solidFill>
                <a:latin typeface="IBM Plex Sans" pitchFamily="34" charset="0"/>
                <a:ea typeface="IBM Plex Sans" pitchFamily="34" charset="-122"/>
                <a:cs typeface="IBM Plex Sans" pitchFamily="34" charset="-120"/>
              </a:rPr>
              <a:t>most speculative step</a:t>
            </a:r>
            <a:r>
              <a:rPr lang="en-US" sz="1500" dirty="0">
                <a:solidFill>
                  <a:srgbClr val="1F2433"/>
                </a:solidFill>
                <a:latin typeface="IBM Plex Sans" pitchFamily="34" charset="0"/>
                <a:ea typeface="IBM Plex Sans" pitchFamily="34" charset="-122"/>
                <a:cs typeface="IBM Plex Sans" pitchFamily="34" charset="-120"/>
              </a:rPr>
              <a:t>: the essay never mentions Hume, and most of Bayes's notes are lost.</a:t>
            </a:r>
            <a:endParaRPr lang="en-US" sz="15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IBM Plex Sans" pitchFamily="34" charset="0"/>
                <a:ea typeface="IBM Plex Sans" pitchFamily="34" charset="-122"/>
                <a:cs typeface="IBM Plex Sans" pitchFamily="34" charset="-120"/>
              </a:rPr>
              <a:t>Stigler, Statistical Science 28 (2013) 283–288 · Stigler, Statistical Science 33 (2018) 117–125 · Diniz &amp; Bellhouse, arXiv:2202.03819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4 · KEEP THE UNCERTAINTY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How an open debate becomes a "fact"</a:t>
            </a:r>
            <a:endParaRPr lang="en-US" sz="3600" dirty="0"/>
          </a:p>
        </p:txBody>
      </p:sp>
      <p:sp>
        <p:nvSpPr>
          <p:cNvPr id="4" name="Shape 2"/>
          <p:cNvSpPr/>
          <p:nvPr/>
        </p:nvSpPr>
        <p:spPr>
          <a:xfrm>
            <a:off x="812800" y="1840111"/>
            <a:ext cx="10566400" cy="0"/>
          </a:xfrm>
          <a:prstGeom prst="line">
            <a:avLst/>
          </a:prstGeom>
          <a:noFill/>
          <a:ln w="12700">
            <a:solidFill>
              <a:srgbClr val="1F2433"/>
            </a:solidFill>
            <a:prstDash val="solid"/>
          </a:ln>
        </p:spPr>
      </p:sp>
      <p:sp>
        <p:nvSpPr>
          <p:cNvPr id="5" name="Text 3"/>
          <p:cNvSpPr/>
          <p:nvPr/>
        </p:nvSpPr>
        <p:spPr>
          <a:xfrm>
            <a:off x="812800" y="1986161"/>
            <a:ext cx="2092960" cy="2921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C2F39"/>
                </a:solidFill>
                <a:latin typeface="IBM Plex Sans" pitchFamily="34" charset="0"/>
                <a:ea typeface="IBM Plex Sans" pitchFamily="34" charset="-122"/>
                <a:cs typeface="IBM Plex Sans" pitchFamily="34" charset="-120"/>
              </a:rPr>
              <a:t>PRIMARY · 1764</a:t>
            </a:r>
            <a:endParaRPr lang="en-US" sz="1300" dirty="0"/>
          </a:p>
        </p:txBody>
      </p:sp>
      <p:sp>
        <p:nvSpPr>
          <p:cNvPr id="6" name="Text 4"/>
          <p:cNvSpPr/>
          <p:nvPr/>
        </p:nvSpPr>
        <p:spPr>
          <a:xfrm>
            <a:off x="3098800" y="1986161"/>
            <a:ext cx="85288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The essay title chosen by Price. It says nothing about Bayes's motive.</a:t>
            </a:r>
            <a:endParaRPr lang="en-US" sz="1500" dirty="0"/>
          </a:p>
        </p:txBody>
      </p:sp>
      <p:sp>
        <p:nvSpPr>
          <p:cNvPr id="7" name="Shape 5"/>
          <p:cNvSpPr/>
          <p:nvPr/>
        </p:nvSpPr>
        <p:spPr>
          <a:xfrm>
            <a:off x="812800" y="2395736"/>
            <a:ext cx="10566400" cy="0"/>
          </a:xfrm>
          <a:prstGeom prst="line">
            <a:avLst/>
          </a:prstGeom>
          <a:noFill/>
          <a:ln w="6350">
            <a:solidFill>
              <a:srgbClr val="D9CFBD"/>
            </a:solidFill>
            <a:prstDash val="solid"/>
          </a:ln>
        </p:spPr>
      </p:sp>
      <p:sp>
        <p:nvSpPr>
          <p:cNvPr id="8" name="Text 6"/>
          <p:cNvSpPr/>
          <p:nvPr/>
        </p:nvSpPr>
        <p:spPr>
          <a:xfrm>
            <a:off x="812800" y="2538611"/>
            <a:ext cx="2092960" cy="55880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C2F39"/>
                </a:solidFill>
                <a:latin typeface="IBM Plex Sans" pitchFamily="34" charset="0"/>
                <a:ea typeface="IBM Plex Sans" pitchFamily="34" charset="-122"/>
                <a:cs typeface="IBM Plex Sans" pitchFamily="34" charset="-120"/>
              </a:rPr>
              <a:t>SECONDARY · 2013</a:t>
            </a:r>
            <a:endParaRPr lang="en-US" sz="1300" dirty="0"/>
          </a:p>
        </p:txBody>
      </p:sp>
      <p:sp>
        <p:nvSpPr>
          <p:cNvPr id="9" name="Text 7"/>
          <p:cNvSpPr/>
          <p:nvPr/>
        </p:nvSpPr>
        <p:spPr>
          <a:xfrm>
            <a:off x="3098800" y="2538611"/>
            <a:ext cx="852881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Stigler</a:t>
            </a:r>
            <a:r>
              <a:rPr lang="en-US" sz="1500" dirty="0">
                <a:solidFill>
                  <a:srgbClr val="1F2433"/>
                </a:solidFill>
                <a:latin typeface="IBM Plex Sans" pitchFamily="34" charset="0"/>
                <a:ea typeface="IBM Plex Sans" pitchFamily="34" charset="-122"/>
                <a:cs typeface="IBM Plex Sans" pitchFamily="34" charset="-120"/>
              </a:rPr>
              <a:t>: Price almost surely, Bayes "not improbably" — and Bayes's motive is the most speculative step.</a:t>
            </a:r>
            <a:endParaRPr lang="en-US" sz="1500" dirty="0"/>
          </a:p>
        </p:txBody>
      </p:sp>
      <p:sp>
        <p:nvSpPr>
          <p:cNvPr id="10" name="Shape 8"/>
          <p:cNvSpPr/>
          <p:nvPr/>
        </p:nvSpPr>
        <p:spPr>
          <a:xfrm>
            <a:off x="812800" y="3214886"/>
            <a:ext cx="10566400" cy="0"/>
          </a:xfrm>
          <a:prstGeom prst="line">
            <a:avLst/>
          </a:prstGeom>
          <a:noFill/>
          <a:ln w="6350">
            <a:solidFill>
              <a:srgbClr val="D9CFBD"/>
            </a:solidFill>
            <a:prstDash val="solid"/>
          </a:ln>
        </p:spPr>
      </p:sp>
      <p:sp>
        <p:nvSpPr>
          <p:cNvPr id="11" name="Text 9"/>
          <p:cNvSpPr/>
          <p:nvPr/>
        </p:nvSpPr>
        <p:spPr>
          <a:xfrm>
            <a:off x="812800" y="3718421"/>
            <a:ext cx="2286000" cy="25648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8C2F39"/>
                </a:solidFill>
                <a:latin typeface="IBM Plex Sans" pitchFamily="34" charset="0"/>
                <a:ea typeface="IBM Plex Sans" pitchFamily="34" charset="-122"/>
                <a:cs typeface="IBM Plex Sans" pitchFamily="34" charset="-120"/>
              </a:rPr>
              <a:t>POPULAR · YALE BLOG</a:t>
            </a:r>
            <a:endParaRPr lang="en-US" sz="1300" dirty="0"/>
          </a:p>
        </p:txBody>
      </p:sp>
      <p:sp>
        <p:nvSpPr>
          <p:cNvPr id="12" name="Text 10"/>
          <p:cNvSpPr/>
          <p:nvPr/>
        </p:nvSpPr>
        <p:spPr>
          <a:xfrm>
            <a:off x="3098800" y="3433961"/>
            <a:ext cx="604342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Shared under the headline </a:t>
            </a:r>
            <a:r>
              <a:rPr lang="en-US" sz="1500" u="sng" dirty="0">
                <a:solidFill>
                  <a:srgbClr val="1F2433"/>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"Bayes' theorem began as a defense of Christianity"</a:t>
            </a:r>
            <a:r>
              <a:rPr lang="en-US" sz="1500" dirty="0">
                <a:solidFill>
                  <a:srgbClr val="1F2433"/>
                </a:solidFill>
                <a:latin typeface="IBM Plex Sans" pitchFamily="34" charset="0"/>
                <a:ea typeface="IBM Plex Sans" pitchFamily="34" charset="-122"/>
                <a:cs typeface="IBM Plex Sans" pitchFamily="34" charset="-120"/>
              </a:rPr>
              <a:t>. Now the </a:t>
            </a:r>
            <a:r>
              <a:rPr lang="en-US" sz="1500" i="1" dirty="0">
                <a:solidFill>
                  <a:srgbClr val="1F2433"/>
                </a:solidFill>
                <a:latin typeface="IBM Plex Sans" pitchFamily="34" charset="0"/>
                <a:ea typeface="IBM Plex Sans" pitchFamily="34" charset="-122"/>
                <a:cs typeface="IBM Plex Sans" pitchFamily="34" charset="-120"/>
              </a:rPr>
              <a:t>theorem itself</a:t>
            </a:r>
            <a:r>
              <a:rPr lang="en-US" sz="1500" dirty="0">
                <a:solidFill>
                  <a:srgbClr val="1F2433"/>
                </a:solidFill>
                <a:latin typeface="IBM Plex Sans" pitchFamily="34" charset="0"/>
                <a:ea typeface="IBM Plex Sans" pitchFamily="34" charset="-122"/>
                <a:cs typeface="IBM Plex Sans" pitchFamily="34" charset="-120"/>
              </a:rPr>
              <a:t> has a motive — no source says so.</a:t>
            </a:r>
            <a:endParaRPr lang="en-US" sz="1500" dirty="0"/>
          </a:p>
        </p:txBody>
      </p:sp>
      <p:sp>
        <p:nvSpPr>
          <p:cNvPr id="13" name="Shape 11"/>
          <p:cNvSpPr/>
          <p:nvPr/>
        </p:nvSpPr>
        <p:spPr>
          <a:xfrm>
            <a:off x="9220200" y="3357761"/>
            <a:ext cx="2159000" cy="952500"/>
          </a:xfrm>
          <a:prstGeom prst="roundRect">
            <a:avLst>
              <a:gd name="adj" fmla="val 5333"/>
            </a:avLst>
          </a:prstGeom>
          <a:solidFill>
            <a:srgbClr val="FFFFFF"/>
          </a:solidFill>
          <a:ln/>
        </p:spPr>
      </p:sp>
      <p:pic>
        <p:nvPicPr>
          <p:cNvPr id="14" name="Image 0" descr="Screenshot of the Yale SOM faculty blog post headlined Bayes' theorem began as a defense of Christianity">    </p:cNvPr>
          <p:cNvPicPr>
            <a:picLocks noChangeAspect="1"/>
          </p:cNvPicPr>
          <p:nvPr/>
        </p:nvPicPr>
        <p:blipFill>
          <a:blip r:embed="rId2"/>
          <a:srcRect l="0" r="0" t="-200" b="-200"/>
          <a:stretch/>
        </p:blipFill>
        <p:spPr>
          <a:xfrm>
            <a:off x="9226550" y="3364111"/>
            <a:ext cx="2146300" cy="939800"/>
          </a:xfrm>
          <a:prstGeom prst="roundRect">
            <a:avLst>
              <a:gd name="adj" fmla="val 4730"/>
            </a:avLst>
          </a:prstGeom>
        </p:spPr>
      </p:pic>
      <p:sp>
        <p:nvSpPr>
          <p:cNvPr id="15" name="Shape 12"/>
          <p:cNvSpPr/>
          <p:nvPr/>
        </p:nvSpPr>
        <p:spPr>
          <a:xfrm>
            <a:off x="9223375" y="3360936"/>
            <a:ext cx="2152650" cy="946150"/>
          </a:xfrm>
          <a:prstGeom prst="roundRect">
            <a:avLst>
              <a:gd name="adj" fmla="val 5034"/>
            </a:avLst>
          </a:prstGeom>
          <a:noFill/>
          <a:ln w="6350">
            <a:solidFill>
              <a:srgbClr val="D9CFBD"/>
            </a:solidFill>
            <a:prstDash val="solid"/>
          </a:ln>
        </p:spPr>
      </p:sp>
      <p:sp>
        <p:nvSpPr>
          <p:cNvPr id="16" name="Text 13"/>
          <p:cNvSpPr/>
          <p:nvPr/>
        </p:nvSpPr>
        <p:spPr>
          <a:xfrm>
            <a:off x="812800" y="4653161"/>
            <a:ext cx="1088339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8C2F39"/>
                </a:solidFill>
                <a:latin typeface="EB Garamond" pitchFamily="18" charset="0"/>
                <a:ea typeface="EB Garamond" pitchFamily="18" charset="-122"/>
                <a:cs typeface="EB Garamond" pitchFamily="18" charset="-120"/>
              </a:rPr>
              <a:t>Your job: trace the claim back to the original, note who says what and how confidently, and set the rival interpretations side by side.</a:t>
            </a:r>
            <a:endParaRPr lang="en-US" sz="2000" dirty="0"/>
          </a:p>
        </p:txBody>
      </p:sp>
      <p:sp>
        <p:nvSpPr>
          <p:cNvPr id="17"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IBM Plex Sans" pitchFamily="34" charset="0"/>
                <a:ea typeface="IBM Plex Sans" pitchFamily="34" charset="-122"/>
                <a:cs typeface="IBM Plex Sans" pitchFamily="34" charset="-120"/>
              </a:rPr>
              <a:t>J. Cepelewicz, Nautilus, 20 Dec 2016 · reposted on </a:t>
            </a:r>
            <a:r>
              <a:rPr lang="en-US" sz="1200" u="sng" dirty="0">
                <a:solidFill>
                  <a:srgbClr val="6B6F7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J. J. Choi's Yale SOM faculty page</a:t>
            </a:r>
            <a:r>
              <a:rPr lang="en-US" sz="1200" dirty="0">
                <a:solidFill>
                  <a:srgbClr val="6B6F7A"/>
                </a:solidFill>
                <a:latin typeface="IBM Plex Sans" pitchFamily="34" charset="0"/>
                <a:ea typeface="IBM Plex Sans" pitchFamily="34" charset="-122"/>
                <a:cs typeface="IBM Plex Sans" pitchFamily="34" charset="-120"/>
              </a:rPr>
              <a:t>. Ask an AI chatbot the same question and compare.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5 · ASK WHO WROTE IT, AND WHY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The "impartial" verdict on who invented calculus</a:t>
            </a:r>
            <a:endParaRPr lang="en-US" sz="3600" dirty="0"/>
          </a:p>
        </p:txBody>
      </p:sp>
      <p:sp>
        <p:nvSpPr>
          <p:cNvPr id="4" name="Shape 2"/>
          <p:cNvSpPr/>
          <p:nvPr/>
        </p:nvSpPr>
        <p:spPr>
          <a:xfrm>
            <a:off x="819150" y="1840111"/>
            <a:ext cx="5181600" cy="1754882"/>
          </a:xfrm>
          <a:prstGeom prst="roundRect">
            <a:avLst>
              <a:gd name="adj" fmla="val 5428"/>
            </a:avLst>
          </a:prstGeom>
          <a:solidFill>
            <a:srgbClr val="E6ECF3"/>
          </a:solidFill>
          <a:ln w="12700">
            <a:solidFill>
              <a:srgbClr val="1F2433"/>
            </a:solidFill>
            <a:prstDash val="solid"/>
          </a:ln>
        </p:spPr>
      </p:sp>
      <p:sp>
        <p:nvSpPr>
          <p:cNvPr id="5" name="Text 3"/>
          <p:cNvSpPr/>
          <p:nvPr/>
        </p:nvSpPr>
        <p:spPr>
          <a:xfrm>
            <a:off x="1028700" y="2049661"/>
            <a:ext cx="490537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433"/>
                </a:solidFill>
                <a:latin typeface="EB Garamond" pitchFamily="18" charset="0"/>
                <a:ea typeface="EB Garamond" pitchFamily="18" charset="-122"/>
                <a:cs typeface="EB Garamond" pitchFamily="18" charset="-120"/>
              </a:rPr>
              <a:t>Newton</a:t>
            </a:r>
            <a:endParaRPr lang="en-US" sz="2200" dirty="0"/>
          </a:p>
        </p:txBody>
      </p:sp>
      <p:sp>
        <p:nvSpPr>
          <p:cNvPr id="6" name="Text 4"/>
          <p:cNvSpPr/>
          <p:nvPr/>
        </p:nvSpPr>
        <p:spPr>
          <a:xfrm>
            <a:off x="1114044" y="2461121"/>
            <a:ext cx="4812411" cy="949722"/>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Method of fluxions, c. 1665–66</a:t>
            </a:r>
            <a:endParaRPr lang="en-US" sz="1300" dirty="0"/>
          </a:p>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Shared in manuscript (</a:t>
            </a:r>
            <a:r>
              <a:rPr lang="en-US" sz="1300" i="1" dirty="0">
                <a:solidFill>
                  <a:srgbClr val="1F2433"/>
                </a:solidFill>
                <a:latin typeface="IBM Plex Sans" pitchFamily="34" charset="0"/>
                <a:ea typeface="IBM Plex Sans" pitchFamily="34" charset="-122"/>
                <a:cs typeface="IBM Plex Sans" pitchFamily="34" charset="-120"/>
              </a:rPr>
              <a:t>De analysi</a:t>
            </a:r>
            <a:r>
              <a:rPr lang="en-US" sz="1300" dirty="0">
                <a:solidFill>
                  <a:srgbClr val="1F2433"/>
                </a:solidFill>
                <a:latin typeface="IBM Plex Sans" pitchFamily="34" charset="0"/>
                <a:ea typeface="IBM Plex Sans" pitchFamily="34" charset="-122"/>
                <a:cs typeface="IBM Plex Sans" pitchFamily="34" charset="-120"/>
              </a:rPr>
              <a:t>, 1669); published only in 1704 and 1711</a:t>
            </a:r>
            <a:endParaRPr lang="en-US" sz="1300" dirty="0"/>
          </a:p>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Dot notation: ẋ</a:t>
            </a:r>
            <a:endParaRPr lang="en-US" sz="1300" dirty="0"/>
          </a:p>
        </p:txBody>
      </p:sp>
      <p:sp>
        <p:nvSpPr>
          <p:cNvPr id="7" name="Shape 5"/>
          <p:cNvSpPr/>
          <p:nvPr/>
        </p:nvSpPr>
        <p:spPr>
          <a:xfrm>
            <a:off x="6191250" y="1840111"/>
            <a:ext cx="5181600" cy="1754882"/>
          </a:xfrm>
          <a:prstGeom prst="roundRect">
            <a:avLst>
              <a:gd name="adj" fmla="val 5428"/>
            </a:avLst>
          </a:prstGeom>
          <a:solidFill>
            <a:srgbClr val="E6ECF3"/>
          </a:solidFill>
          <a:ln w="12700">
            <a:solidFill>
              <a:srgbClr val="1F2433"/>
            </a:solidFill>
            <a:prstDash val="solid"/>
          </a:ln>
        </p:spPr>
      </p:sp>
      <p:sp>
        <p:nvSpPr>
          <p:cNvPr id="8" name="Text 6"/>
          <p:cNvSpPr/>
          <p:nvPr/>
        </p:nvSpPr>
        <p:spPr>
          <a:xfrm>
            <a:off x="6400800" y="2049661"/>
            <a:ext cx="4905375"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F2433"/>
                </a:solidFill>
                <a:latin typeface="EB Garamond" pitchFamily="18" charset="0"/>
                <a:ea typeface="EB Garamond" pitchFamily="18" charset="-122"/>
                <a:cs typeface="EB Garamond" pitchFamily="18" charset="-120"/>
              </a:rPr>
              <a:t>Leibniz</a:t>
            </a:r>
            <a:endParaRPr lang="en-US" sz="2200" dirty="0"/>
          </a:p>
        </p:txBody>
      </p:sp>
      <p:sp>
        <p:nvSpPr>
          <p:cNvPr id="9" name="Text 7"/>
          <p:cNvSpPr/>
          <p:nvPr/>
        </p:nvSpPr>
        <p:spPr>
          <a:xfrm>
            <a:off x="6486144" y="2461121"/>
            <a:ext cx="4812411" cy="718641"/>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Differential calculus, c. 1675</a:t>
            </a:r>
            <a:endParaRPr lang="en-US" sz="1300" dirty="0"/>
          </a:p>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First in print: </a:t>
            </a:r>
            <a:r>
              <a:rPr lang="en-US" sz="1300" i="1" dirty="0">
                <a:solidFill>
                  <a:srgbClr val="1F2433"/>
                </a:solidFill>
                <a:latin typeface="IBM Plex Sans" pitchFamily="34" charset="0"/>
                <a:ea typeface="IBM Plex Sans" pitchFamily="34" charset="-122"/>
                <a:cs typeface="IBM Plex Sans" pitchFamily="34" charset="-120"/>
              </a:rPr>
              <a:t>Acta Eruditorum</a:t>
            </a:r>
            <a:r>
              <a:rPr lang="en-US" sz="1300" dirty="0">
                <a:solidFill>
                  <a:srgbClr val="1F2433"/>
                </a:solidFill>
                <a:latin typeface="IBM Plex Sans" pitchFamily="34" charset="0"/>
                <a:ea typeface="IBM Plex Sans" pitchFamily="34" charset="-122"/>
                <a:cs typeface="IBM Plex Sans" pitchFamily="34" charset="-120"/>
              </a:rPr>
              <a:t>, 1684</a:t>
            </a:r>
            <a:endParaRPr lang="en-US" sz="1300" dirty="0"/>
          </a:p>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Notation dx and ∫ — the one we still use</a:t>
            </a:r>
            <a:endParaRPr lang="en-US" sz="1300" dirty="0"/>
          </a:p>
        </p:txBody>
      </p:sp>
      <p:sp>
        <p:nvSpPr>
          <p:cNvPr id="10" name="Shape 8"/>
          <p:cNvSpPr/>
          <p:nvPr/>
        </p:nvSpPr>
        <p:spPr>
          <a:xfrm>
            <a:off x="819150" y="3810893"/>
            <a:ext cx="10553700" cy="1351062"/>
          </a:xfrm>
          <a:prstGeom prst="roundRect">
            <a:avLst>
              <a:gd name="adj" fmla="val 7050"/>
            </a:avLst>
          </a:prstGeom>
          <a:solidFill>
            <a:srgbClr val="FBF8F1"/>
          </a:solidFill>
          <a:ln w="12700">
            <a:solidFill>
              <a:srgbClr val="8C2F39"/>
            </a:solidFill>
            <a:prstDash val="solid"/>
          </a:ln>
        </p:spPr>
      </p:sp>
      <p:sp>
        <p:nvSpPr>
          <p:cNvPr id="11" name="Text 9"/>
          <p:cNvSpPr/>
          <p:nvPr/>
        </p:nvSpPr>
        <p:spPr>
          <a:xfrm>
            <a:off x="1028700" y="3995043"/>
            <a:ext cx="1043863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THE VERDICT · ROYAL SOCIETY, 1712</a:t>
            </a:r>
            <a:endParaRPr lang="en-US" sz="1200" dirty="0"/>
          </a:p>
        </p:txBody>
      </p:sp>
      <p:sp>
        <p:nvSpPr>
          <p:cNvPr id="12" name="Text 10"/>
          <p:cNvSpPr/>
          <p:nvPr/>
        </p:nvSpPr>
        <p:spPr>
          <a:xfrm>
            <a:off x="1114044" y="4284563"/>
            <a:ext cx="10345674" cy="718641"/>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The </a:t>
            </a:r>
            <a:r>
              <a:rPr lang="en-US" sz="1300" i="1" dirty="0">
                <a:solidFill>
                  <a:srgbClr val="1F2433"/>
                </a:solidFill>
                <a:latin typeface="IBM Plex Sans" pitchFamily="34" charset="0"/>
                <a:ea typeface="IBM Plex Sans" pitchFamily="34" charset="-122"/>
                <a:cs typeface="IBM Plex Sans" pitchFamily="34" charset="-120"/>
              </a:rPr>
              <a:t>Commercium Epistolicum</a:t>
            </a:r>
            <a:r>
              <a:rPr lang="en-US" sz="1300" dirty="0">
                <a:solidFill>
                  <a:srgbClr val="1F2433"/>
                </a:solidFill>
                <a:latin typeface="IBM Plex Sans" pitchFamily="34" charset="0"/>
                <a:ea typeface="IBM Plex Sans" pitchFamily="34" charset="-122"/>
                <a:cs typeface="IBM Plex Sans" pitchFamily="34" charset="-120"/>
              </a:rPr>
              <a:t> backs Newton and implies Leibniz copied him</a:t>
            </a:r>
            <a:endParaRPr lang="en-US" sz="1300" dirty="0"/>
          </a:p>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But Newton was the Society's President: he </a:t>
            </a:r>
            <a:r>
              <a:rPr lang="en-US" sz="1300" b="1" dirty="0">
                <a:solidFill>
                  <a:srgbClr val="1F2433"/>
                </a:solidFill>
                <a:latin typeface="IBM Plex Sans" pitchFamily="34" charset="0"/>
                <a:ea typeface="IBM Plex Sans" pitchFamily="34" charset="-122"/>
                <a:cs typeface="IBM Plex Sans" pitchFamily="34" charset="-120"/>
              </a:rPr>
              <a:t>drafted the report himself</a:t>
            </a:r>
            <a:r>
              <a:rPr lang="en-US" sz="1300" dirty="0">
                <a:solidFill>
                  <a:srgbClr val="1F2433"/>
                </a:solidFill>
                <a:latin typeface="IBM Plex Sans" pitchFamily="34" charset="0"/>
                <a:ea typeface="IBM Plex Sans" pitchFamily="34" charset="-122"/>
                <a:cs typeface="IBM Plex Sans" pitchFamily="34" charset="-120"/>
              </a:rPr>
              <a:t> and reviewed it anonymously</a:t>
            </a:r>
            <a:endParaRPr lang="en-US" sz="1300" dirty="0"/>
          </a:p>
          <a:p>
            <a:pPr algn="l" marL="168656" indent="-168656">
              <a:lnSpc>
                <a:spcPts val="1820"/>
              </a:lnSpc>
              <a:buSzPct val="100000"/>
              <a:buChar char="•"/>
            </a:pPr>
            <a:r>
              <a:rPr lang="en-US" sz="1300" dirty="0">
                <a:solidFill>
                  <a:srgbClr val="1F2433"/>
                </a:solidFill>
                <a:latin typeface="IBM Plex Sans" pitchFamily="34" charset="0"/>
                <a:ea typeface="IBM Plex Sans" pitchFamily="34" charset="-122"/>
                <a:cs typeface="IBM Plex Sans" pitchFamily="34" charset="-120"/>
              </a:rPr>
              <a:t>Today historians agree: </a:t>
            </a:r>
            <a:r>
              <a:rPr lang="en-US" sz="1300" b="1" dirty="0">
                <a:solidFill>
                  <a:srgbClr val="1F2433"/>
                </a:solidFill>
                <a:latin typeface="IBM Plex Sans" pitchFamily="34" charset="0"/>
                <a:ea typeface="IBM Plex Sans" pitchFamily="34" charset="-122"/>
                <a:cs typeface="IBM Plex Sans" pitchFamily="34" charset="-120"/>
              </a:rPr>
              <a:t>independent discovery</a:t>
            </a:r>
            <a:endParaRPr lang="en-US" sz="13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6B6F7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Newton Papers, Cambridge Digital Library (MS Add. 3968)</a:t>
            </a:r>
            <a:r>
              <a:rPr lang="en-US" sz="1200" dirty="0">
                <a:solidFill>
                  <a:srgbClr val="6B6F7A"/>
                </a:solidFill>
                <a:latin typeface="IBM Plex Sans" pitchFamily="34" charset="0"/>
                <a:ea typeface="IBM Plex Sans" pitchFamily="34" charset="-122"/>
                <a:cs typeface="IBM Plex Sans" pitchFamily="34" charset="-120"/>
              </a:rPr>
              <a:t> · The Newton Project, Oxford · Booklet Ch. 6.6, p. 57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6 · EXPECT TO DISAGREE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The quarrel that built modern statistics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745978"/>
        </p:xfrm>
        <a:graphic>
          <a:graphicData uri="http://schemas.openxmlformats.org/drawingml/2006/table">
            <a:tbl>
              <a:tblPr/>
              <a:tblGrid>
                <a:gridCol w="2743962"/>
                <a:gridCol w="4854702"/>
                <a:gridCol w="2955036"/>
              </a:tblGrid>
              <a:tr h="359271">
                <a:tc>
                  <a:txBody>
                    <a:bodyPr/>
                    <a:lstStyle/>
                    <a:p>
                      <a:pPr indent="0" marL="0">
                        <a:lnSpc>
                          <a:spcPts val="1820"/>
                        </a:lnSpc>
                        <a:buNone/>
                      </a:pPr>
                      <a:r>
                        <a:rPr lang="en-US" sz="1300" b="1" dirty="0">
                          <a:solidFill>
                            <a:srgbClr val="1F2433"/>
                          </a:solidFill>
                          <a:latin typeface="IBM Plex Sans" pitchFamily="34" charset="0"/>
                          <a:ea typeface="IBM Plex Sans" pitchFamily="34" charset="-122"/>
                          <a:cs typeface="IBM Plex Sans" pitchFamily="34" charset="-120"/>
                        </a:rPr>
                        <a:t>Who, when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1820"/>
                        </a:lnSpc>
                        <a:buNone/>
                      </a:pPr>
                      <a:r>
                        <a:rPr lang="en-US" sz="1300" b="1" dirty="0">
                          <a:solidFill>
                            <a:srgbClr val="1F2433"/>
                          </a:solidFill>
                          <a:latin typeface="IBM Plex Sans" pitchFamily="34" charset="0"/>
                          <a:ea typeface="IBM Plex Sans" pitchFamily="34" charset="-122"/>
                          <a:cs typeface="IBM Plex Sans" pitchFamily="34" charset="-120"/>
                        </a:rPr>
                        <a:t>What they built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1820"/>
                        </a:lnSpc>
                        <a:buNone/>
                      </a:pPr>
                      <a:r>
                        <a:rPr lang="en-US" sz="1300" b="1" dirty="0">
                          <a:solidFill>
                            <a:srgbClr val="1F2433"/>
                          </a:solidFill>
                          <a:latin typeface="IBM Plex Sans" pitchFamily="34" charset="0"/>
                          <a:ea typeface="IBM Plex Sans" pitchFamily="34" charset="-122"/>
                          <a:cs typeface="IBM Plex Sans" pitchFamily="34" charset="-120"/>
                        </a:rPr>
                        <a:t>Position on priors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Fisher, 1922–1925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Maximum likelihood, sufficiency, Fisher information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Rejected them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Neyman &amp; E. Pearson, 1928–33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Tests as decisions: error rates, power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No prior at all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590352">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Ramsey (1926/31), de Finetti (1930s)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Probability as coherent belief; exchangeability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Personal priors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Jeffreys, 1939–1946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Invariant prior from Fisher's own information; the K ratio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Objective priors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Wald, 1947–1950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Complete class theorem: admissible rules are Bayes rules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Minimax preferred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Savage, 1954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Subjective expected utility: a single axiomatic theory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Personal priors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bl>
          </a:graphicData>
        </a:graphic>
      </p:graphicFrame>
      <p:sp>
        <p:nvSpPr>
          <p:cNvPr id="5" name="Text 2"/>
          <p:cNvSpPr/>
          <p:nvPr/>
        </p:nvSpPr>
        <p:spPr>
          <a:xfrm>
            <a:off x="812800" y="4897239"/>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433"/>
                </a:solidFill>
                <a:latin typeface="IBM Plex Sans" pitchFamily="34" charset="0"/>
                <a:ea typeface="IBM Plex Sans" pitchFamily="34" charset="-122"/>
                <a:cs typeface="IBM Plex Sans" pitchFamily="34" charset="-120"/>
              </a:rPr>
              <a:t>Each theorem was a move in an argument. Read the papers and you hear the argument; read a textbook and you get only the theorems.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RULE 7 · LOOK FOR WHO IS MISSING</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Who is missing from the story — and why?</a:t>
            </a:r>
            <a:endParaRPr lang="en-US" sz="3600" dirty="0"/>
          </a:p>
        </p:txBody>
      </p:sp>
      <p:sp>
        <p:nvSpPr>
          <p:cNvPr id="4" name="Shape 2"/>
          <p:cNvSpPr/>
          <p:nvPr/>
        </p:nvSpPr>
        <p:spPr>
          <a:xfrm>
            <a:off x="815975" y="1836936"/>
            <a:ext cx="3414117" cy="1390452"/>
          </a:xfrm>
          <a:prstGeom prst="roundRect">
            <a:avLst>
              <a:gd name="adj" fmla="val 7079"/>
            </a:avLst>
          </a:prstGeom>
          <a:solidFill>
            <a:srgbClr val="FBF8F1"/>
          </a:solidFill>
          <a:ln w="6350">
            <a:solidFill>
              <a:srgbClr val="D9CFBD"/>
            </a:solidFill>
            <a:prstDash val="solid"/>
          </a:ln>
        </p:spPr>
      </p:sp>
      <p:sp>
        <p:nvSpPr>
          <p:cNvPr id="5" name="Text 3"/>
          <p:cNvSpPr/>
          <p:nvPr/>
        </p:nvSpPr>
        <p:spPr>
          <a:xfrm>
            <a:off x="1022350" y="2043311"/>
            <a:ext cx="30914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433"/>
                </a:solidFill>
                <a:latin typeface="EB Garamond" pitchFamily="18" charset="0"/>
                <a:ea typeface="EB Garamond" pitchFamily="18" charset="-122"/>
                <a:cs typeface="EB Garamond" pitchFamily="18" charset="-120"/>
              </a:rPr>
              <a:t>Madhava &amp; the Kerala school</a:t>
            </a:r>
            <a:endParaRPr lang="en-US" sz="1800" dirty="0"/>
          </a:p>
        </p:txBody>
      </p:sp>
      <p:sp>
        <p:nvSpPr>
          <p:cNvPr id="6" name="Text 4"/>
          <p:cNvSpPr/>
          <p:nvPr/>
        </p:nvSpPr>
        <p:spPr>
          <a:xfrm>
            <a:off x="1022350" y="2381052"/>
            <a:ext cx="30914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c. 1350–1530 · power series for sine, cosine and arctangent, centuries before Europe</a:t>
            </a:r>
            <a:endParaRPr lang="en-US" sz="1200" dirty="0"/>
          </a:p>
        </p:txBody>
      </p:sp>
      <p:sp>
        <p:nvSpPr>
          <p:cNvPr id="7" name="Shape 5"/>
          <p:cNvSpPr/>
          <p:nvPr/>
        </p:nvSpPr>
        <p:spPr>
          <a:xfrm>
            <a:off x="4388842" y="1836936"/>
            <a:ext cx="3414216" cy="1390452"/>
          </a:xfrm>
          <a:prstGeom prst="roundRect">
            <a:avLst>
              <a:gd name="adj" fmla="val 7079"/>
            </a:avLst>
          </a:prstGeom>
          <a:solidFill>
            <a:srgbClr val="FBF8F1"/>
          </a:solidFill>
          <a:ln w="6350">
            <a:solidFill>
              <a:srgbClr val="D9CFBD"/>
            </a:solidFill>
            <a:prstDash val="solid"/>
          </a:ln>
        </p:spPr>
      </p:sp>
      <p:sp>
        <p:nvSpPr>
          <p:cNvPr id="8" name="Text 6"/>
          <p:cNvSpPr/>
          <p:nvPr/>
        </p:nvSpPr>
        <p:spPr>
          <a:xfrm>
            <a:off x="4595217" y="2043311"/>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433"/>
                </a:solidFill>
                <a:latin typeface="EB Garamond" pitchFamily="18" charset="0"/>
                <a:ea typeface="EB Garamond" pitchFamily="18" charset="-122"/>
                <a:cs typeface="EB Garamond" pitchFamily="18" charset="-120"/>
              </a:rPr>
              <a:t>Maria Gaetana Agnesi</a:t>
            </a:r>
            <a:endParaRPr lang="en-US" sz="1800" dirty="0"/>
          </a:p>
        </p:txBody>
      </p:sp>
      <p:sp>
        <p:nvSpPr>
          <p:cNvPr id="9" name="Text 7"/>
          <p:cNvSpPr/>
          <p:nvPr/>
        </p:nvSpPr>
        <p:spPr>
          <a:xfrm>
            <a:off x="4595217" y="2381052"/>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1748 · a major calculus textbook; remembered mainly through a mistranslation</a:t>
            </a:r>
            <a:endParaRPr lang="en-US" sz="1200" dirty="0"/>
          </a:p>
        </p:txBody>
      </p:sp>
      <p:sp>
        <p:nvSpPr>
          <p:cNvPr id="10" name="Shape 8"/>
          <p:cNvSpPr/>
          <p:nvPr/>
        </p:nvSpPr>
        <p:spPr>
          <a:xfrm>
            <a:off x="7961809" y="1836936"/>
            <a:ext cx="3414216" cy="1390452"/>
          </a:xfrm>
          <a:prstGeom prst="roundRect">
            <a:avLst>
              <a:gd name="adj" fmla="val 7079"/>
            </a:avLst>
          </a:prstGeom>
          <a:solidFill>
            <a:srgbClr val="FBF8F1"/>
          </a:solidFill>
          <a:ln w="6350">
            <a:solidFill>
              <a:srgbClr val="D9CFBD"/>
            </a:solidFill>
            <a:prstDash val="solid"/>
          </a:ln>
        </p:spPr>
      </p:sp>
      <p:sp>
        <p:nvSpPr>
          <p:cNvPr id="11" name="Text 9"/>
          <p:cNvSpPr/>
          <p:nvPr/>
        </p:nvSpPr>
        <p:spPr>
          <a:xfrm>
            <a:off x="8168184" y="2043311"/>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433"/>
                </a:solidFill>
                <a:latin typeface="EB Garamond" pitchFamily="18" charset="0"/>
                <a:ea typeface="EB Garamond" pitchFamily="18" charset="-122"/>
                <a:cs typeface="EB Garamond" pitchFamily="18" charset="-120"/>
              </a:rPr>
              <a:t>Dorothy Wrinch</a:t>
            </a:r>
            <a:endParaRPr lang="en-US" sz="1800" dirty="0"/>
          </a:p>
        </p:txBody>
      </p:sp>
      <p:sp>
        <p:nvSpPr>
          <p:cNvPr id="12" name="Text 10"/>
          <p:cNvSpPr/>
          <p:nvPr/>
        </p:nvSpPr>
        <p:spPr>
          <a:xfrm>
            <a:off x="8168184" y="2381052"/>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1919–1923 · co-wrote the papers Jeffreys credited as the basis of </a:t>
            </a:r>
            <a:r>
              <a:rPr lang="en-US" sz="1200" i="1" dirty="0">
                <a:solidFill>
                  <a:srgbClr val="3B4050"/>
                </a:solidFill>
                <a:latin typeface="IBM Plex Sans" pitchFamily="34" charset="0"/>
                <a:ea typeface="IBM Plex Sans" pitchFamily="34" charset="-122"/>
                <a:cs typeface="IBM Plex Sans" pitchFamily="34" charset="-120"/>
              </a:rPr>
              <a:t>Scientific Inference</a:t>
            </a:r>
            <a:endParaRPr lang="en-US" sz="1200" dirty="0"/>
          </a:p>
        </p:txBody>
      </p:sp>
      <p:sp>
        <p:nvSpPr>
          <p:cNvPr id="13" name="Shape 11"/>
          <p:cNvSpPr/>
          <p:nvPr/>
        </p:nvSpPr>
        <p:spPr>
          <a:xfrm>
            <a:off x="815975" y="3386138"/>
            <a:ext cx="3414117" cy="1390452"/>
          </a:xfrm>
          <a:prstGeom prst="roundRect">
            <a:avLst>
              <a:gd name="adj" fmla="val 7079"/>
            </a:avLst>
          </a:prstGeom>
          <a:solidFill>
            <a:srgbClr val="FBF8F1"/>
          </a:solidFill>
          <a:ln w="6350">
            <a:solidFill>
              <a:srgbClr val="D9CFBD"/>
            </a:solidFill>
            <a:prstDash val="solid"/>
          </a:ln>
        </p:spPr>
      </p:sp>
      <p:sp>
        <p:nvSpPr>
          <p:cNvPr id="14" name="Text 12"/>
          <p:cNvSpPr/>
          <p:nvPr/>
        </p:nvSpPr>
        <p:spPr>
          <a:xfrm>
            <a:off x="1022350" y="3592513"/>
            <a:ext cx="30914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433"/>
                </a:solidFill>
                <a:latin typeface="EB Garamond" pitchFamily="18" charset="0"/>
                <a:ea typeface="EB Garamond" pitchFamily="18" charset="-122"/>
                <a:cs typeface="EB Garamond" pitchFamily="18" charset="-120"/>
              </a:rPr>
              <a:t>Elizabeth L. Scott</a:t>
            </a:r>
            <a:endParaRPr lang="en-US" sz="1800" dirty="0"/>
          </a:p>
        </p:txBody>
      </p:sp>
      <p:sp>
        <p:nvSpPr>
          <p:cNvPr id="15" name="Text 13"/>
          <p:cNvSpPr/>
          <p:nvPr/>
        </p:nvSpPr>
        <p:spPr>
          <a:xfrm>
            <a:off x="1022350" y="3930253"/>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1948 · the Neyman–Scott problem: maximum likelihood can be inconsistent</a:t>
            </a:r>
            <a:endParaRPr lang="en-US" sz="1200" dirty="0"/>
          </a:p>
        </p:txBody>
      </p:sp>
      <p:sp>
        <p:nvSpPr>
          <p:cNvPr id="16" name="Shape 14"/>
          <p:cNvSpPr/>
          <p:nvPr/>
        </p:nvSpPr>
        <p:spPr>
          <a:xfrm>
            <a:off x="4388842" y="3386138"/>
            <a:ext cx="3414216" cy="1390452"/>
          </a:xfrm>
          <a:prstGeom prst="roundRect">
            <a:avLst>
              <a:gd name="adj" fmla="val 7079"/>
            </a:avLst>
          </a:prstGeom>
          <a:solidFill>
            <a:srgbClr val="FBF8F1"/>
          </a:solidFill>
          <a:ln w="6350">
            <a:solidFill>
              <a:srgbClr val="D9CFBD"/>
            </a:solidFill>
            <a:prstDash val="solid"/>
          </a:ln>
        </p:spPr>
      </p:sp>
      <p:sp>
        <p:nvSpPr>
          <p:cNvPr id="17" name="Text 15"/>
          <p:cNvSpPr/>
          <p:nvPr/>
        </p:nvSpPr>
        <p:spPr>
          <a:xfrm>
            <a:off x="4595217" y="3592513"/>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433"/>
                </a:solidFill>
                <a:latin typeface="EB Garamond" pitchFamily="18" charset="0"/>
                <a:ea typeface="EB Garamond" pitchFamily="18" charset="-122"/>
                <a:cs typeface="EB Garamond" pitchFamily="18" charset="-120"/>
              </a:rPr>
              <a:t>Joan Clarke</a:t>
            </a:r>
            <a:endParaRPr lang="en-US" sz="1800" dirty="0"/>
          </a:p>
        </p:txBody>
      </p:sp>
      <p:sp>
        <p:nvSpPr>
          <p:cNvPr id="18" name="Text 16"/>
          <p:cNvSpPr/>
          <p:nvPr/>
        </p:nvSpPr>
        <p:spPr>
          <a:xfrm>
            <a:off x="4595217" y="3930253"/>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1939–45 · Banburist with Turing; deputy head of Hut 8; Cambridge then denied women full degrees</a:t>
            </a:r>
            <a:endParaRPr lang="en-US" sz="1200" dirty="0"/>
          </a:p>
        </p:txBody>
      </p:sp>
      <p:sp>
        <p:nvSpPr>
          <p:cNvPr id="19" name="Shape 17"/>
          <p:cNvSpPr/>
          <p:nvPr/>
        </p:nvSpPr>
        <p:spPr>
          <a:xfrm>
            <a:off x="7961809" y="3386138"/>
            <a:ext cx="3414216" cy="1390452"/>
          </a:xfrm>
          <a:prstGeom prst="roundRect">
            <a:avLst>
              <a:gd name="adj" fmla="val 7079"/>
            </a:avLst>
          </a:prstGeom>
          <a:solidFill>
            <a:srgbClr val="FBF8F1"/>
          </a:solidFill>
          <a:ln w="6350">
            <a:solidFill>
              <a:srgbClr val="D9CFBD"/>
            </a:solidFill>
            <a:prstDash val="solid"/>
          </a:ln>
        </p:spPr>
      </p:sp>
      <p:sp>
        <p:nvSpPr>
          <p:cNvPr id="20" name="Text 18"/>
          <p:cNvSpPr/>
          <p:nvPr/>
        </p:nvSpPr>
        <p:spPr>
          <a:xfrm>
            <a:off x="8168184" y="3592513"/>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433"/>
                </a:solidFill>
                <a:latin typeface="EB Garamond" pitchFamily="18" charset="0"/>
                <a:ea typeface="EB Garamond" pitchFamily="18" charset="-122"/>
                <a:cs typeface="EB Garamond" pitchFamily="18" charset="-120"/>
              </a:rPr>
              <a:t>Arianna Rosenbluth</a:t>
            </a:r>
            <a:endParaRPr lang="en-US" sz="1800" dirty="0"/>
          </a:p>
        </p:txBody>
      </p:sp>
      <p:sp>
        <p:nvSpPr>
          <p:cNvPr id="21" name="Text 19"/>
          <p:cNvSpPr/>
          <p:nvPr/>
        </p:nvSpPr>
        <p:spPr>
          <a:xfrm>
            <a:off x="8168184" y="3930253"/>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1953 · wrote the first implementation of the Metropolis (MCMC) algorithm on MANIAC</a:t>
            </a:r>
            <a:endParaRPr lang="en-US" sz="1200" dirty="0"/>
          </a:p>
        </p:txBody>
      </p:sp>
      <p:sp>
        <p:nvSpPr>
          <p:cNvPr id="22" name="Text 20"/>
          <p:cNvSpPr/>
          <p:nvPr/>
        </p:nvSpPr>
        <p:spPr>
          <a:xfrm>
            <a:off x="812800" y="4982964"/>
            <a:ext cx="10883392"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433"/>
                </a:solidFill>
                <a:latin typeface="IBM Plex Sans" pitchFamily="34" charset="0"/>
                <a:ea typeface="IBM Plex Sans" pitchFamily="34" charset="-122"/>
                <a:cs typeface="IBM Plex Sans" pitchFamily="34" charset="-120"/>
              </a:rPr>
              <a:t>But stay with the evidence:</a:t>
            </a:r>
            <a:r>
              <a:rPr lang="en-US" sz="1400" dirty="0">
                <a:solidFill>
                  <a:srgbClr val="1F2433"/>
                </a:solidFill>
                <a:latin typeface="IBM Plex Sans" pitchFamily="34" charset="0"/>
                <a:ea typeface="IBM Plex Sans" pitchFamily="34" charset="-122"/>
                <a:cs typeface="IBM Plex Sans" pitchFamily="34" charset="-120"/>
              </a:rPr>
              <a:t> credit what documents show — a co-authored paper, an acknowledgement, a job title — not what someone "must have" done.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43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0A458"/>
                </a:solidFill>
                <a:latin typeface="IBM Plex Sans" pitchFamily="34" charset="0"/>
                <a:ea typeface="IBM Plex Sans" pitchFamily="34" charset="-122"/>
                <a:cs typeface="IBM Plex Sans" pitchFamily="34" charset="-120"/>
              </a:rPr>
              <a:t>SECTION 2 · WHY WE NEED THE ORIGINAL SOURCES</a:t>
            </a:r>
            <a:endParaRPr lang="en-US" sz="1200" dirty="0"/>
          </a:p>
        </p:txBody>
      </p:sp>
      <p:sp>
        <p:nvSpPr>
          <p:cNvPr id="3" name="Text 1"/>
          <p:cNvSpPr/>
          <p:nvPr>
            <p:ph type="title"/>
          </p:nvPr>
        </p:nvSpPr>
        <p:spPr>
          <a:xfrm>
            <a:off x="812800" y="1178520"/>
            <a:ext cx="10883392" cy="718741"/>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F6F1E7"/>
                </a:solidFill>
                <a:latin typeface="EB Garamond" pitchFamily="18" charset="0"/>
                <a:ea typeface="EB Garamond" pitchFamily="18" charset="-122"/>
                <a:cs typeface="EB Garamond" pitchFamily="18" charset="-120"/>
              </a:rPr>
              <a:t>When the rules were broken</a:t>
            </a:r>
            <a:endParaRPr lang="en-US" sz="5200" dirty="0"/>
          </a:p>
        </p:txBody>
      </p:sp>
      <p:sp>
        <p:nvSpPr>
          <p:cNvPr id="4" name="Text 2"/>
          <p:cNvSpPr/>
          <p:nvPr/>
        </p:nvSpPr>
        <p:spPr>
          <a:xfrm>
            <a:off x="812800" y="2024261"/>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Four cases: law, consulting, medicine, pharmaceutical research.</a:t>
            </a:r>
            <a:endParaRPr lang="en-US" sz="1800" dirty="0"/>
          </a:p>
        </p:txBody>
      </p:sp>
      <p:sp>
        <p:nvSpPr>
          <p:cNvPr id="5" name="Shape 3"/>
          <p:cNvSpPr/>
          <p:nvPr/>
        </p:nvSpPr>
        <p:spPr>
          <a:xfrm>
            <a:off x="812800" y="5016599"/>
            <a:ext cx="5130800" cy="0"/>
          </a:xfrm>
          <a:prstGeom prst="line">
            <a:avLst/>
          </a:prstGeom>
          <a:noFill/>
          <a:ln w="25400">
            <a:solidFill>
              <a:srgbClr val="E0A458"/>
            </a:solidFill>
            <a:prstDash val="solid"/>
          </a:ln>
        </p:spPr>
      </p:sp>
      <p:sp>
        <p:nvSpPr>
          <p:cNvPr id="6" name="Text 4"/>
          <p:cNvSpPr/>
          <p:nvPr/>
        </p:nvSpPr>
        <p:spPr>
          <a:xfrm>
            <a:off x="812800" y="5232499"/>
            <a:ext cx="5284724" cy="452041"/>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E0A458"/>
                </a:solidFill>
                <a:latin typeface="EB Garamond" pitchFamily="18" charset="0"/>
                <a:ea typeface="EB Garamond" pitchFamily="18" charset="-122"/>
                <a:cs typeface="EB Garamond" pitchFamily="18" charset="-120"/>
              </a:rPr>
              <a:t>Fabrication</a:t>
            </a:r>
            <a:endParaRPr lang="en-US" sz="2800" dirty="0"/>
          </a:p>
        </p:txBody>
      </p:sp>
      <p:sp>
        <p:nvSpPr>
          <p:cNvPr id="7" name="Text 5"/>
          <p:cNvSpPr/>
          <p:nvPr/>
        </p:nvSpPr>
        <p:spPr>
          <a:xfrm>
            <a:off x="812800" y="5760740"/>
            <a:ext cx="528472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1E7"/>
                </a:solidFill>
                <a:latin typeface="IBM Plex Sans" pitchFamily="34" charset="0"/>
                <a:ea typeface="IBM Plex Sans" pitchFamily="34" charset="-122"/>
                <a:cs typeface="IBM Plex Sans" pitchFamily="34" charset="-120"/>
              </a:rPr>
              <a:t>The cited source does not exist.</a:t>
            </a:r>
            <a:endParaRPr lang="en-US" sz="1600" dirty="0"/>
          </a:p>
        </p:txBody>
      </p:sp>
      <p:sp>
        <p:nvSpPr>
          <p:cNvPr id="8" name="Shape 6"/>
          <p:cNvSpPr/>
          <p:nvPr/>
        </p:nvSpPr>
        <p:spPr>
          <a:xfrm>
            <a:off x="6248400" y="5016599"/>
            <a:ext cx="5130800" cy="0"/>
          </a:xfrm>
          <a:prstGeom prst="line">
            <a:avLst/>
          </a:prstGeom>
          <a:noFill/>
          <a:ln w="25400">
            <a:solidFill>
              <a:srgbClr val="F6F1E7"/>
            </a:solidFill>
            <a:prstDash val="solid"/>
          </a:ln>
        </p:spPr>
      </p:sp>
      <p:sp>
        <p:nvSpPr>
          <p:cNvPr id="9" name="Text 7"/>
          <p:cNvSpPr/>
          <p:nvPr/>
        </p:nvSpPr>
        <p:spPr>
          <a:xfrm>
            <a:off x="6248400" y="5232499"/>
            <a:ext cx="5284724" cy="452041"/>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6F1E7"/>
                </a:solidFill>
                <a:latin typeface="EB Garamond" pitchFamily="18" charset="0"/>
                <a:ea typeface="EB Garamond" pitchFamily="18" charset="-122"/>
                <a:cs typeface="EB Garamond" pitchFamily="18" charset="-120"/>
              </a:rPr>
              <a:t>Distortion</a:t>
            </a:r>
            <a:endParaRPr lang="en-US" sz="2800" dirty="0"/>
          </a:p>
        </p:txBody>
      </p:sp>
      <p:sp>
        <p:nvSpPr>
          <p:cNvPr id="10" name="Text 8"/>
          <p:cNvSpPr/>
          <p:nvPr/>
        </p:nvSpPr>
        <p:spPr>
          <a:xfrm>
            <a:off x="6248400" y="5760740"/>
            <a:ext cx="528472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1E7"/>
                </a:solidFill>
                <a:latin typeface="IBM Plex Sans" pitchFamily="34" charset="0"/>
                <a:ea typeface="IBM Plex Sans" pitchFamily="34" charset="-122"/>
                <a:cs typeface="IBM Plex Sans" pitchFamily="34" charset="-120"/>
              </a:rPr>
              <a:t>The source exists — but says something else.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624740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LAW · NEW YORK, 2023 · FABRICATION</a:t>
            </a:r>
            <a:endParaRPr lang="en-US" sz="1200" dirty="0"/>
          </a:p>
        </p:txBody>
      </p:sp>
      <p:sp>
        <p:nvSpPr>
          <p:cNvPr id="3" name="Text 1"/>
          <p:cNvSpPr/>
          <p:nvPr>
            <p:ph type="title"/>
          </p:nvPr>
        </p:nvSpPr>
        <p:spPr>
          <a:xfrm>
            <a:off x="812800" y="1229320"/>
            <a:ext cx="6247404"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Mata v. Avianca</a:t>
            </a:r>
            <a:endParaRPr lang="en-US" sz="3600" dirty="0"/>
          </a:p>
        </p:txBody>
      </p:sp>
      <p:sp>
        <p:nvSpPr>
          <p:cNvPr id="4" name="Text 2"/>
          <p:cNvSpPr/>
          <p:nvPr/>
        </p:nvSpPr>
        <p:spPr>
          <a:xfrm>
            <a:off x="883920" y="1935361"/>
            <a:ext cx="6168664" cy="168275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B4050"/>
                </a:solidFill>
                <a:latin typeface="IBM Plex Sans" pitchFamily="34" charset="0"/>
                <a:ea typeface="IBM Plex Sans" pitchFamily="34" charset="-122"/>
                <a:cs typeface="IBM Plex Sans" pitchFamily="34" charset="-120"/>
              </a:rPr>
              <a:t>A personal-injury lawyer used </a:t>
            </a:r>
            <a:r>
              <a:rPr lang="en-US" sz="1500" b="1" dirty="0">
                <a:solidFill>
                  <a:srgbClr val="3B4050"/>
                </a:solidFill>
                <a:latin typeface="IBM Plex Sans" pitchFamily="34" charset="0"/>
                <a:ea typeface="IBM Plex Sans" pitchFamily="34" charset="-122"/>
                <a:cs typeface="IBM Plex Sans" pitchFamily="34" charset="-120"/>
              </a:rPr>
              <a:t>ChatGPT</a:t>
            </a:r>
            <a:r>
              <a:rPr lang="en-US" sz="1500" dirty="0">
                <a:solidFill>
                  <a:srgbClr val="3B4050"/>
                </a:solidFill>
                <a:latin typeface="IBM Plex Sans" pitchFamily="34" charset="0"/>
                <a:ea typeface="IBM Plex Sans" pitchFamily="34" charset="-122"/>
                <a:cs typeface="IBM Plex Sans" pitchFamily="34" charset="-120"/>
              </a:rPr>
              <a:t> for legal research</a:t>
            </a:r>
            <a:endParaRPr lang="en-US" sz="1500" dirty="0"/>
          </a:p>
          <a:p>
            <a:pPr algn="l" marL="182880" indent="-182880">
              <a:lnSpc>
                <a:spcPts val="2175"/>
              </a:lnSpc>
              <a:buSzPct val="100000"/>
              <a:buChar char="•"/>
            </a:pPr>
            <a:r>
              <a:rPr lang="en-US" sz="1500" dirty="0">
                <a:solidFill>
                  <a:srgbClr val="3B4050"/>
                </a:solidFill>
                <a:latin typeface="IBM Plex Sans" pitchFamily="34" charset="0"/>
                <a:ea typeface="IBM Plex Sans" pitchFamily="34" charset="-122"/>
                <a:cs typeface="IBM Plex Sans" pitchFamily="34" charset="-120"/>
              </a:rPr>
              <a:t>His brief cited court decisions that </a:t>
            </a:r>
            <a:r>
              <a:rPr lang="en-US" sz="1500" b="1" dirty="0">
                <a:solidFill>
                  <a:srgbClr val="3B4050"/>
                </a:solidFill>
                <a:latin typeface="IBM Plex Sans" pitchFamily="34" charset="0"/>
                <a:ea typeface="IBM Plex Sans" pitchFamily="34" charset="-122"/>
                <a:cs typeface="IBM Plex Sans" pitchFamily="34" charset="-120"/>
              </a:rPr>
              <a:t>did not exist</a:t>
            </a:r>
            <a:r>
              <a:rPr lang="en-US" sz="1500" dirty="0">
                <a:solidFill>
                  <a:srgbClr val="3B4050"/>
                </a:solidFill>
                <a:latin typeface="IBM Plex Sans" pitchFamily="34" charset="0"/>
                <a:ea typeface="IBM Plex Sans" pitchFamily="34" charset="-122"/>
                <a:cs typeface="IBM Plex Sans" pitchFamily="34" charset="-120"/>
              </a:rPr>
              <a:t>, e.g. "Varghese v. China Southern Airlines"</a:t>
            </a:r>
            <a:endParaRPr lang="en-US" sz="1500" dirty="0"/>
          </a:p>
          <a:p>
            <a:pPr algn="l" marL="182880" indent="-182880">
              <a:lnSpc>
                <a:spcPts val="2175"/>
              </a:lnSpc>
              <a:buSzPct val="100000"/>
              <a:buChar char="•"/>
            </a:pPr>
            <a:r>
              <a:rPr lang="en-US" sz="1500" dirty="0">
                <a:solidFill>
                  <a:srgbClr val="3B4050"/>
                </a:solidFill>
                <a:latin typeface="IBM Plex Sans" pitchFamily="34" charset="0"/>
                <a:ea typeface="IBM Plex Sans" pitchFamily="34" charset="-122"/>
                <a:cs typeface="IBM Plex Sans" pitchFamily="34" charset="-120"/>
              </a:rPr>
              <a:t>They came with invented quotations and citations</a:t>
            </a:r>
            <a:endParaRPr lang="en-US" sz="1500" dirty="0"/>
          </a:p>
          <a:p>
            <a:pPr algn="l" marL="182880" indent="-182880">
              <a:lnSpc>
                <a:spcPts val="2175"/>
              </a:lnSpc>
              <a:buSzPct val="100000"/>
              <a:buChar char="•"/>
            </a:pPr>
            <a:r>
              <a:rPr lang="en-US" sz="1500" dirty="0">
                <a:solidFill>
                  <a:srgbClr val="3B4050"/>
                </a:solidFill>
                <a:latin typeface="IBM Plex Sans" pitchFamily="34" charset="0"/>
                <a:ea typeface="IBM Plex Sans" pitchFamily="34" charset="-122"/>
                <a:cs typeface="IBM Plex Sans" pitchFamily="34" charset="-120"/>
              </a:rPr>
              <a:t>Outcome: </a:t>
            </a:r>
            <a:r>
              <a:rPr lang="en-US" sz="1500" b="1" dirty="0">
                <a:solidFill>
                  <a:srgbClr val="3B4050"/>
                </a:solidFill>
                <a:latin typeface="IBM Plex Sans" pitchFamily="34" charset="0"/>
                <a:ea typeface="IBM Plex Sans" pitchFamily="34" charset="-122"/>
                <a:cs typeface="IBM Plex Sans" pitchFamily="34" charset="-120"/>
              </a:rPr>
              <a:t>$5,000 sanctions</a:t>
            </a:r>
            <a:r>
              <a:rPr lang="en-US" sz="1500" dirty="0">
                <a:solidFill>
                  <a:srgbClr val="3B4050"/>
                </a:solidFill>
                <a:latin typeface="IBM Plex Sans" pitchFamily="34" charset="0"/>
                <a:ea typeface="IBM Plex Sans" pitchFamily="34" charset="-122"/>
                <a:cs typeface="IBM Plex Sans" pitchFamily="34" charset="-120"/>
              </a:rPr>
              <a:t>, and letters to the real judges named as authors of the fake opinions</a:t>
            </a:r>
            <a:endParaRPr lang="en-US" sz="1500" dirty="0"/>
          </a:p>
        </p:txBody>
      </p:sp>
      <p:sp>
        <p:nvSpPr>
          <p:cNvPr id="5" name="Shape 3"/>
          <p:cNvSpPr/>
          <p:nvPr/>
        </p:nvSpPr>
        <p:spPr>
          <a:xfrm>
            <a:off x="7335441" y="812800"/>
            <a:ext cx="4043660" cy="5029200"/>
          </a:xfrm>
          <a:prstGeom prst="roundRect">
            <a:avLst>
              <a:gd name="adj" fmla="val 2513"/>
            </a:avLst>
          </a:prstGeom>
          <a:solidFill>
            <a:srgbClr val="1F2433"/>
          </a:solidFill>
          <a:ln/>
        </p:spPr>
      </p:sp>
      <p:sp>
        <p:nvSpPr>
          <p:cNvPr id="6" name="Text 4"/>
          <p:cNvSpPr/>
          <p:nvPr/>
        </p:nvSpPr>
        <p:spPr>
          <a:xfrm>
            <a:off x="7691041" y="2435920"/>
            <a:ext cx="343243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0A458"/>
                </a:solidFill>
                <a:latin typeface="IBM Plex Sans" pitchFamily="34" charset="0"/>
                <a:ea typeface="IBM Plex Sans" pitchFamily="34" charset="-122"/>
                <a:cs typeface="IBM Plex Sans" pitchFamily="34" charset="-120"/>
              </a:rPr>
              <a:t>HOW HE "CHECKED"</a:t>
            </a:r>
            <a:endParaRPr lang="en-US" sz="1200" dirty="0"/>
          </a:p>
        </p:txBody>
      </p:sp>
      <p:sp>
        <p:nvSpPr>
          <p:cNvPr id="7" name="Text 5"/>
          <p:cNvSpPr/>
          <p:nvPr/>
        </p:nvSpPr>
        <p:spPr>
          <a:xfrm>
            <a:off x="7691041" y="2801640"/>
            <a:ext cx="3432434"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F6F1E7"/>
                </a:solidFill>
                <a:latin typeface="EB Garamond" pitchFamily="18" charset="0"/>
                <a:ea typeface="EB Garamond" pitchFamily="18" charset="-122"/>
                <a:cs typeface="EB Garamond" pitchFamily="18" charset="-120"/>
              </a:rPr>
              <a:t>He asked ChatGPT whether Varghese was a real case.</a:t>
            </a:r>
            <a:endParaRPr lang="en-US" sz="2400" dirty="0"/>
          </a:p>
        </p:txBody>
      </p:sp>
      <p:sp>
        <p:nvSpPr>
          <p:cNvPr id="8" name="Text 6"/>
          <p:cNvSpPr/>
          <p:nvPr/>
        </p:nvSpPr>
        <p:spPr>
          <a:xfrm>
            <a:off x="7691041" y="3685480"/>
            <a:ext cx="343243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ED8"/>
                </a:solidFill>
                <a:latin typeface="IBM Plex Sans" pitchFamily="34" charset="0"/>
                <a:ea typeface="IBM Plex Sans" pitchFamily="34" charset="-122"/>
                <a:cs typeface="IBM Plex Sans" pitchFamily="34" charset="-120"/>
              </a:rPr>
              <a:t>It said yes — available in reputable legal databases.</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6B6F7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Mata v. Avianca, Inc., 678 F. Supp. 3d 443 (S.D.N.Y. 2023), Opinion and Order on Sanctions, 22 June 2023</a:t>
            </a:r>
            <a:r>
              <a:rPr lang="en-US" sz="1200" dirty="0">
                <a:solidFill>
                  <a:srgbClr val="6B6F7A"/>
                </a:solidFill>
                <a:latin typeface="IBM Plex Sans" pitchFamily="34" charset="0"/>
                <a:ea typeface="IBM Plex Sans" pitchFamily="34" charset="-122"/>
                <a:cs typeface="IBM Plex Sans" pitchFamily="34" charset="-120"/>
              </a:rPr>
              <a:t> · </a:t>
            </a:r>
            <a:r>
              <a:rPr lang="en-US" sz="1200" u="sng" dirty="0">
                <a:solidFill>
                  <a:srgbClr val="6B6F7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Wikipedia summary</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6247404" cy="452041"/>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CONSULTING &amp; GOVERNMENT · AUSTRALIA, 2025 · FABRICATION</a:t>
            </a:r>
            <a:endParaRPr lang="en-US" sz="1200" dirty="0"/>
          </a:p>
        </p:txBody>
      </p:sp>
      <p:sp>
        <p:nvSpPr>
          <p:cNvPr id="3" name="Text 1"/>
          <p:cNvSpPr/>
          <p:nvPr>
            <p:ph type="title"/>
          </p:nvPr>
        </p:nvSpPr>
        <p:spPr>
          <a:xfrm>
            <a:off x="812800" y="1442641"/>
            <a:ext cx="6247404"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The Deloitte welfare report</a:t>
            </a:r>
            <a:endParaRPr lang="en-US" sz="3600" dirty="0"/>
          </a:p>
        </p:txBody>
      </p:sp>
      <p:sp>
        <p:nvSpPr>
          <p:cNvPr id="4" name="Text 2"/>
          <p:cNvSpPr/>
          <p:nvPr/>
        </p:nvSpPr>
        <p:spPr>
          <a:xfrm>
            <a:off x="812800" y="2148681"/>
            <a:ext cx="6247404"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3B4050"/>
                </a:solidFill>
                <a:latin typeface="IBM Plex Sans" pitchFamily="34" charset="0"/>
                <a:ea typeface="IBM Plex Sans" pitchFamily="34" charset="-122"/>
                <a:cs typeface="IBM Plex Sans" pitchFamily="34" charset="-120"/>
              </a:rPr>
              <a:t>A 237-page review of the IT system</a:t>
            </a:r>
            <a:r>
              <a:rPr lang="en-US" sz="1500" dirty="0">
                <a:solidFill>
                  <a:srgbClr val="3B4050"/>
                </a:solidFill>
                <a:latin typeface="IBM Plex Sans" pitchFamily="34" charset="0"/>
                <a:ea typeface="IBM Plex Sans" pitchFamily="34" charset="-122"/>
                <a:cs typeface="IBM Plex Sans" pitchFamily="34" charset="-120"/>
              </a:rPr>
              <a:t> behind automated welfare penalties, commissioned by the Australian government.</a:t>
            </a:r>
            <a:endParaRPr lang="en-US" sz="1500" dirty="0"/>
          </a:p>
        </p:txBody>
      </p:sp>
      <p:sp>
        <p:nvSpPr>
          <p:cNvPr id="5" name="Text 3"/>
          <p:cNvSpPr/>
          <p:nvPr/>
        </p:nvSpPr>
        <p:spPr>
          <a:xfrm>
            <a:off x="812800" y="2904331"/>
            <a:ext cx="6247404"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A University of Sydney researcher, Chris Rudge, found references to </a:t>
            </a:r>
            <a:r>
              <a:rPr lang="en-US" sz="1500" b="1" dirty="0">
                <a:solidFill>
                  <a:srgbClr val="3B4050"/>
                </a:solidFill>
                <a:latin typeface="IBM Plex Sans" pitchFamily="34" charset="0"/>
                <a:ea typeface="IBM Plex Sans" pitchFamily="34" charset="-122"/>
                <a:cs typeface="IBM Plex Sans" pitchFamily="34" charset="-120"/>
              </a:rPr>
              <a:t>academic papers that do not exist</a:t>
            </a:r>
            <a:r>
              <a:rPr lang="en-US" sz="1500" dirty="0">
                <a:solidFill>
                  <a:srgbClr val="3B4050"/>
                </a:solidFill>
                <a:latin typeface="IBM Plex Sans" pitchFamily="34" charset="0"/>
                <a:ea typeface="IBM Plex Sans" pitchFamily="34" charset="-122"/>
                <a:cs typeface="IBM Plex Sans" pitchFamily="34" charset="-120"/>
              </a:rPr>
              <a:t> and a </a:t>
            </a:r>
            <a:r>
              <a:rPr lang="en-US" sz="1500" b="1" dirty="0">
                <a:solidFill>
                  <a:srgbClr val="3B4050"/>
                </a:solidFill>
                <a:latin typeface="IBM Plex Sans" pitchFamily="34" charset="0"/>
                <a:ea typeface="IBM Plex Sans" pitchFamily="34" charset="-122"/>
                <a:cs typeface="IBM Plex Sans" pitchFamily="34" charset="-120"/>
              </a:rPr>
              <a:t>fabricated</a:t>
            </a:r>
            <a:r>
              <a:rPr lang="en-US" sz="1500" dirty="0">
                <a:solidFill>
                  <a:srgbClr val="3B4050"/>
                </a:solidFill>
                <a:latin typeface="IBM Plex Sans" pitchFamily="34" charset="0"/>
                <a:ea typeface="IBM Plex Sans" pitchFamily="34" charset="-122"/>
                <a:cs typeface="IBM Plex Sans" pitchFamily="34" charset="-120"/>
              </a:rPr>
              <a:t> </a:t>
            </a:r>
            <a:r>
              <a:rPr lang="en-US" sz="1500" b="1" dirty="0">
                <a:solidFill>
                  <a:srgbClr val="3B4050"/>
                </a:solidFill>
                <a:latin typeface="IBM Plex Sans" pitchFamily="34" charset="0"/>
                <a:ea typeface="IBM Plex Sans" pitchFamily="34" charset="-122"/>
                <a:cs typeface="IBM Plex Sans" pitchFamily="34" charset="-120"/>
              </a:rPr>
              <a:t>quotation</a:t>
            </a:r>
            <a:r>
              <a:rPr lang="en-US" sz="1500" dirty="0">
                <a:solidFill>
                  <a:srgbClr val="3B4050"/>
                </a:solidFill>
                <a:latin typeface="IBM Plex Sans" pitchFamily="34" charset="0"/>
                <a:ea typeface="IBM Plex Sans" pitchFamily="34" charset="-122"/>
                <a:cs typeface="IBM Plex Sans" pitchFamily="34" charset="-120"/>
              </a:rPr>
              <a:t> from a </a:t>
            </a:r>
            <a:r>
              <a:rPr lang="en-US" sz="1500" b="1" dirty="0">
                <a:solidFill>
                  <a:srgbClr val="3B4050"/>
                </a:solidFill>
                <a:latin typeface="IBM Plex Sans" pitchFamily="34" charset="0"/>
                <a:ea typeface="IBM Plex Sans" pitchFamily="34" charset="-122"/>
                <a:cs typeface="IBM Plex Sans" pitchFamily="34" charset="-120"/>
              </a:rPr>
              <a:t>Federal Court judgment.</a:t>
            </a:r>
            <a:endParaRPr lang="en-US" sz="1500" dirty="0"/>
          </a:p>
        </p:txBody>
      </p:sp>
      <p:sp>
        <p:nvSpPr>
          <p:cNvPr id="6" name="Text 4"/>
          <p:cNvSpPr/>
          <p:nvPr/>
        </p:nvSpPr>
        <p:spPr>
          <a:xfrm>
            <a:off x="812800" y="3936206"/>
            <a:ext cx="624740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The revised report disclosed the use of Azure OpenAI; Deloitte agreed to repay part of its fee.</a:t>
            </a:r>
            <a:endParaRPr lang="en-US" sz="1500" dirty="0"/>
          </a:p>
        </p:txBody>
      </p:sp>
      <p:sp>
        <p:nvSpPr>
          <p:cNvPr id="7" name="Shape 5"/>
          <p:cNvSpPr/>
          <p:nvPr/>
        </p:nvSpPr>
        <p:spPr>
          <a:xfrm>
            <a:off x="7335441" y="812800"/>
            <a:ext cx="4043660" cy="5029200"/>
          </a:xfrm>
          <a:prstGeom prst="roundRect">
            <a:avLst>
              <a:gd name="adj" fmla="val 2513"/>
            </a:avLst>
          </a:prstGeom>
          <a:solidFill>
            <a:srgbClr val="1F2433"/>
          </a:solidFill>
          <a:ln/>
        </p:spPr>
      </p:sp>
      <p:sp>
        <p:nvSpPr>
          <p:cNvPr id="8" name="Text 6"/>
          <p:cNvSpPr/>
          <p:nvPr/>
        </p:nvSpPr>
        <p:spPr>
          <a:xfrm>
            <a:off x="7691041" y="2287290"/>
            <a:ext cx="343243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0A458"/>
                </a:solidFill>
                <a:latin typeface="IBM Plex Sans" pitchFamily="34" charset="0"/>
                <a:ea typeface="IBM Plex Sans" pitchFamily="34" charset="-122"/>
                <a:cs typeface="IBM Plex Sans" pitchFamily="34" charset="-120"/>
              </a:rPr>
              <a:t>CONTRACT VALUE</a:t>
            </a:r>
            <a:endParaRPr lang="en-US" sz="1200" dirty="0"/>
          </a:p>
        </p:txBody>
      </p:sp>
      <p:sp>
        <p:nvSpPr>
          <p:cNvPr id="9" name="Text 7"/>
          <p:cNvSpPr/>
          <p:nvPr/>
        </p:nvSpPr>
        <p:spPr>
          <a:xfrm>
            <a:off x="7691041" y="2653010"/>
            <a:ext cx="3432434"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F6F1E7"/>
                </a:solidFill>
                <a:latin typeface="EB Garamond" pitchFamily="18" charset="0"/>
                <a:ea typeface="EB Garamond" pitchFamily="18" charset="-122"/>
                <a:cs typeface="EB Garamond" pitchFamily="18" charset="-120"/>
              </a:rPr>
              <a:t>A$440k</a:t>
            </a:r>
            <a:endParaRPr lang="en-US" sz="6000" dirty="0"/>
          </a:p>
        </p:txBody>
      </p:sp>
      <p:sp>
        <p:nvSpPr>
          <p:cNvPr id="10" name="Text 8"/>
          <p:cNvSpPr/>
          <p:nvPr/>
        </p:nvSpPr>
        <p:spPr>
          <a:xfrm>
            <a:off x="7691041" y="3567410"/>
            <a:ext cx="343243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CED8"/>
                </a:solidFill>
                <a:latin typeface="IBM Plex Sans" pitchFamily="34" charset="0"/>
                <a:ea typeface="IBM Plex Sans" pitchFamily="34" charset="-122"/>
                <a:cs typeface="IBM Plex Sans" pitchFamily="34" charset="-120"/>
              </a:rPr>
              <a:t>The findings may stand — but one fake quotation put the whole report in doubt.</a:t>
            </a:r>
            <a:endParaRPr lang="en-US" sz="1500" dirty="0"/>
          </a:p>
        </p:txBody>
      </p:sp>
      <p:sp>
        <p:nvSpPr>
          <p:cNvPr id="11" name="Text 9"/>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6B6F7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Associated Press, 7 October 2025, "Deloitte to partially refund Australian government for report with apparent AI-generated errors"</a:t>
            </a:r>
            <a:r>
              <a:rPr lang="en-US" sz="1200" dirty="0">
                <a:solidFill>
                  <a:srgbClr val="6B6F7A"/>
                </a:solidFill>
                <a:latin typeface="IBM Plex Sans" pitchFamily="34" charset="0"/>
                <a:ea typeface="IBM Plex Sans" pitchFamily="34" charset="-122"/>
                <a:cs typeface="IBM Plex Sans" pitchFamily="34" charset="-120"/>
              </a:rPr>
              <a:t> · also in </a:t>
            </a:r>
            <a:r>
              <a:rPr lang="en-US" sz="1200" u="sng" dirty="0">
                <a:solidFill>
                  <a:srgbClr val="6B6F7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 News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MEDICINE · 1980–2017 · DISTORTION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A real source, misread 608 times</a:t>
            </a:r>
            <a:endParaRPr lang="en-US" sz="3600" dirty="0"/>
          </a:p>
        </p:txBody>
      </p:sp>
      <p:sp>
        <p:nvSpPr>
          <p:cNvPr id="4" name="Text 2"/>
          <p:cNvSpPr/>
          <p:nvPr/>
        </p:nvSpPr>
        <p:spPr>
          <a:xfrm>
            <a:off x="883920" y="1884561"/>
            <a:ext cx="10804652" cy="113030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The source:</a:t>
            </a:r>
            <a:r>
              <a:rPr lang="en-US" sz="1500" dirty="0">
                <a:solidFill>
                  <a:srgbClr val="3B4050"/>
                </a:solidFill>
                <a:latin typeface="IBM Plex Sans" pitchFamily="34" charset="0"/>
                <a:ea typeface="IBM Plex Sans" pitchFamily="34" charset="-122"/>
                <a:cs typeface="IBM Plex Sans" pitchFamily="34" charset="-120"/>
              </a:rPr>
              <a:t> Porter &amp; Jick, </a:t>
            </a:r>
            <a:r>
              <a:rPr lang="en-US" sz="1500" u="sng" dirty="0">
                <a:solidFill>
                  <a:srgbClr val="3B4050"/>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"Addiction Rare in Patients Treated with Narcotics"</a:t>
            </a:r>
            <a:r>
              <a:rPr lang="en-US" sz="1500" dirty="0">
                <a:solidFill>
                  <a:srgbClr val="3B4050"/>
                </a:solidFill>
                <a:latin typeface="IBM Plex Sans" pitchFamily="34" charset="0"/>
                <a:ea typeface="IBM Plex Sans" pitchFamily="34" charset="-122"/>
                <a:cs typeface="IBM Plex Sans" pitchFamily="34" charset="-120"/>
              </a:rPr>
              <a:t>, a five-sentence letter to the </a:t>
            </a:r>
            <a:r>
              <a:rPr lang="en-US" sz="1500" i="1" dirty="0">
                <a:solidFill>
                  <a:srgbClr val="3B4050"/>
                </a:solidFill>
                <a:latin typeface="IBM Plex Sans" pitchFamily="34" charset="0"/>
                <a:ea typeface="IBM Plex Sans" pitchFamily="34" charset="-122"/>
                <a:cs typeface="IBM Plex Sans" pitchFamily="34" charset="-120"/>
              </a:rPr>
              <a:t>New England Journal of Medicine</a:t>
            </a:r>
            <a:r>
              <a:rPr lang="en-US" sz="1500" dirty="0">
                <a:solidFill>
                  <a:srgbClr val="3B4050"/>
                </a:solidFill>
                <a:latin typeface="IBM Plex Sans" pitchFamily="34" charset="0"/>
                <a:ea typeface="IBM Plex Sans" pitchFamily="34" charset="-122"/>
                <a:cs typeface="IBM Plex Sans" pitchFamily="34" charset="-120"/>
              </a:rPr>
              <a:t> (1980)</a:t>
            </a:r>
            <a:endParaRPr lang="en-US" sz="1500" dirty="0"/>
          </a:p>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What it said:</a:t>
            </a:r>
            <a:r>
              <a:rPr lang="en-US" sz="1500" dirty="0">
                <a:solidFill>
                  <a:srgbClr val="3B4050"/>
                </a:solidFill>
                <a:latin typeface="IBM Plex Sans" pitchFamily="34" charset="0"/>
                <a:ea typeface="IBM Plex Sans" pitchFamily="34" charset="-122"/>
                <a:cs typeface="IBM Plex Sans" pitchFamily="34" charset="-120"/>
              </a:rPr>
              <a:t> 4 cases of addiction among about 12,000 </a:t>
            </a:r>
            <a:r>
              <a:rPr lang="en-US" sz="1500" b="1" dirty="0">
                <a:solidFill>
                  <a:srgbClr val="3B4050"/>
                </a:solidFill>
                <a:latin typeface="IBM Plex Sans" pitchFamily="34" charset="0"/>
                <a:ea typeface="IBM Plex Sans" pitchFamily="34" charset="-122"/>
                <a:cs typeface="IBM Plex Sans" pitchFamily="34" charset="-120"/>
              </a:rPr>
              <a:t>hospital inpatients</a:t>
            </a:r>
            <a:r>
              <a:rPr lang="en-US" sz="1500" dirty="0">
                <a:solidFill>
                  <a:srgbClr val="3B4050"/>
                </a:solidFill>
                <a:latin typeface="IBM Plex Sans" pitchFamily="34" charset="0"/>
                <a:ea typeface="IBM Plex Sans" pitchFamily="34" charset="-122"/>
                <a:cs typeface="IBM Plex Sans" pitchFamily="34" charset="-120"/>
              </a:rPr>
              <a:t> given narcotics</a:t>
            </a:r>
            <a:endParaRPr lang="en-US" sz="1500" dirty="0"/>
          </a:p>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How it was cited:</a:t>
            </a:r>
            <a:r>
              <a:rPr lang="en-US" sz="1500" dirty="0">
                <a:solidFill>
                  <a:srgbClr val="3B4050"/>
                </a:solidFill>
                <a:latin typeface="IBM Plex Sans" pitchFamily="34" charset="0"/>
                <a:ea typeface="IBM Plex Sans" pitchFamily="34" charset="-122"/>
                <a:cs typeface="IBM Plex Sans" pitchFamily="34" charset="-120"/>
              </a:rPr>
              <a:t> as proof that long-term opioid therapy rarely causes addiction</a:t>
            </a:r>
            <a:endParaRPr lang="en-US" sz="1500" dirty="0"/>
          </a:p>
        </p:txBody>
      </p:sp>
      <p:sp>
        <p:nvSpPr>
          <p:cNvPr id="5" name="Shape 3"/>
          <p:cNvSpPr/>
          <p:nvPr/>
        </p:nvSpPr>
        <p:spPr>
          <a:xfrm>
            <a:off x="819150" y="3249811"/>
            <a:ext cx="3373934" cy="1668661"/>
          </a:xfrm>
          <a:prstGeom prst="roundRect">
            <a:avLst>
              <a:gd name="adj" fmla="val 5708"/>
            </a:avLst>
          </a:prstGeom>
          <a:solidFill>
            <a:srgbClr val="E6ECF3"/>
          </a:solidFill>
          <a:ln w="12700">
            <a:solidFill>
              <a:srgbClr val="1F2433"/>
            </a:solidFill>
            <a:prstDash val="solid"/>
          </a:ln>
        </p:spPr>
      </p:sp>
      <p:sp>
        <p:nvSpPr>
          <p:cNvPr id="6" name="Text 4"/>
          <p:cNvSpPr/>
          <p:nvPr/>
        </p:nvSpPr>
        <p:spPr>
          <a:xfrm>
            <a:off x="1079500" y="3510161"/>
            <a:ext cx="2938831"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8C2F39"/>
                </a:solidFill>
                <a:latin typeface="EB Garamond" pitchFamily="18" charset="0"/>
                <a:ea typeface="EB Garamond" pitchFamily="18" charset="-122"/>
                <a:cs typeface="EB Garamond" pitchFamily="18" charset="-120"/>
              </a:rPr>
              <a:t>608</a:t>
            </a:r>
            <a:endParaRPr lang="en-US" sz="4800" dirty="0"/>
          </a:p>
        </p:txBody>
      </p:sp>
      <p:sp>
        <p:nvSpPr>
          <p:cNvPr id="7" name="Text 5"/>
          <p:cNvSpPr/>
          <p:nvPr/>
        </p:nvSpPr>
        <p:spPr>
          <a:xfrm>
            <a:off x="1079500" y="4195961"/>
            <a:ext cx="293883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times other papers cited this 101-word letter, 1980–2017</a:t>
            </a:r>
            <a:endParaRPr lang="en-US" sz="1300" dirty="0"/>
          </a:p>
        </p:txBody>
      </p:sp>
      <p:sp>
        <p:nvSpPr>
          <p:cNvPr id="8" name="Shape 6"/>
          <p:cNvSpPr/>
          <p:nvPr/>
        </p:nvSpPr>
        <p:spPr>
          <a:xfrm>
            <a:off x="4408984" y="3249811"/>
            <a:ext cx="3373934" cy="1668661"/>
          </a:xfrm>
          <a:prstGeom prst="roundRect">
            <a:avLst>
              <a:gd name="adj" fmla="val 5708"/>
            </a:avLst>
          </a:prstGeom>
          <a:solidFill>
            <a:srgbClr val="E6ECF3"/>
          </a:solidFill>
          <a:ln w="12700">
            <a:solidFill>
              <a:srgbClr val="1F2433"/>
            </a:solidFill>
            <a:prstDash val="solid"/>
          </a:ln>
        </p:spPr>
      </p:sp>
      <p:sp>
        <p:nvSpPr>
          <p:cNvPr id="9" name="Text 7"/>
          <p:cNvSpPr/>
          <p:nvPr/>
        </p:nvSpPr>
        <p:spPr>
          <a:xfrm>
            <a:off x="4669334" y="3510161"/>
            <a:ext cx="2938831"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8C2F39"/>
                </a:solidFill>
                <a:latin typeface="EB Garamond" pitchFamily="18" charset="0"/>
                <a:ea typeface="EB Garamond" pitchFamily="18" charset="-122"/>
                <a:cs typeface="EB Garamond" pitchFamily="18" charset="-120"/>
              </a:rPr>
              <a:t>72%</a:t>
            </a:r>
            <a:endParaRPr lang="en-US" sz="4800" dirty="0"/>
          </a:p>
        </p:txBody>
      </p:sp>
      <p:sp>
        <p:nvSpPr>
          <p:cNvPr id="10" name="Text 8"/>
          <p:cNvSpPr/>
          <p:nvPr/>
        </p:nvSpPr>
        <p:spPr>
          <a:xfrm>
            <a:off x="4669334" y="4195961"/>
            <a:ext cx="293883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cited it as evidence that addiction was rare</a:t>
            </a:r>
            <a:endParaRPr lang="en-US" sz="1300" dirty="0"/>
          </a:p>
        </p:txBody>
      </p:sp>
      <p:sp>
        <p:nvSpPr>
          <p:cNvPr id="11" name="Shape 9"/>
          <p:cNvSpPr/>
          <p:nvPr/>
        </p:nvSpPr>
        <p:spPr>
          <a:xfrm>
            <a:off x="7998817" y="3249811"/>
            <a:ext cx="3373934" cy="1668661"/>
          </a:xfrm>
          <a:prstGeom prst="roundRect">
            <a:avLst>
              <a:gd name="adj" fmla="val 5708"/>
            </a:avLst>
          </a:prstGeom>
          <a:solidFill>
            <a:srgbClr val="E6ECF3"/>
          </a:solidFill>
          <a:ln w="12700">
            <a:solidFill>
              <a:srgbClr val="1F2433"/>
            </a:solidFill>
            <a:prstDash val="solid"/>
          </a:ln>
        </p:spPr>
      </p:sp>
      <p:sp>
        <p:nvSpPr>
          <p:cNvPr id="12" name="Text 10"/>
          <p:cNvSpPr/>
          <p:nvPr/>
        </p:nvSpPr>
        <p:spPr>
          <a:xfrm>
            <a:off x="8259167" y="3510161"/>
            <a:ext cx="2938831"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8C2F39"/>
                </a:solidFill>
                <a:latin typeface="EB Garamond" pitchFamily="18" charset="0"/>
                <a:ea typeface="EB Garamond" pitchFamily="18" charset="-122"/>
                <a:cs typeface="EB Garamond" pitchFamily="18" charset="-120"/>
              </a:rPr>
              <a:t>81%</a:t>
            </a:r>
            <a:endParaRPr lang="en-US" sz="4800" dirty="0"/>
          </a:p>
        </p:txBody>
      </p:sp>
      <p:sp>
        <p:nvSpPr>
          <p:cNvPr id="13" name="Text 11"/>
          <p:cNvSpPr/>
          <p:nvPr/>
        </p:nvSpPr>
        <p:spPr>
          <a:xfrm>
            <a:off x="8259167" y="4195961"/>
            <a:ext cx="2938831"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did not mention the patients were in hospital</a:t>
            </a:r>
            <a:endParaRPr lang="en-US" sz="1300" dirty="0"/>
          </a:p>
        </p:txBody>
      </p:sp>
      <p:sp>
        <p:nvSpPr>
          <p:cNvPr id="14" name="Text 12"/>
          <p:cNvSpPr/>
          <p:nvPr/>
        </p:nvSpPr>
        <p:spPr>
          <a:xfrm>
            <a:off x="812800" y="5178822"/>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NEJM now prints an editor's note on the letter: it has been "heavily and uncritically cited".</a:t>
            </a:r>
            <a:endParaRPr lang="en-US" sz="15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6B6F7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Porter &amp; Jick, NEJM 302 (1980) 123</a:t>
            </a:r>
            <a:r>
              <a:rPr lang="en-US" sz="1200" dirty="0">
                <a:solidFill>
                  <a:srgbClr val="6B6F7A"/>
                </a:solidFill>
                <a:latin typeface="IBM Plex Sans" pitchFamily="34" charset="0"/>
                <a:ea typeface="IBM Plex Sans" pitchFamily="34" charset="-122"/>
                <a:cs typeface="IBM Plex Sans" pitchFamily="34" charset="-120"/>
              </a:rPr>
              <a:t> (original letter) · </a:t>
            </a:r>
            <a:r>
              <a:rPr lang="en-US" sz="1200" u="sng" dirty="0">
                <a:solidFill>
                  <a:srgbClr val="6B6F7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Wikipedia</a:t>
            </a:r>
            <a:r>
              <a:rPr lang="en-US" sz="1200" dirty="0">
                <a:solidFill>
                  <a:srgbClr val="6B6F7A"/>
                </a:solidFill>
                <a:latin typeface="IBM Plex Sans" pitchFamily="34" charset="0"/>
                <a:ea typeface="IBM Plex Sans" pitchFamily="34" charset="-122"/>
                <a:cs typeface="IBM Plex Sans" pitchFamily="34" charset="-120"/>
              </a:rPr>
              <a:t> · </a:t>
            </a:r>
            <a:r>
              <a:rPr lang="en-US" sz="1200" u="sng" dirty="0">
                <a:solidFill>
                  <a:srgbClr val="6B6F7A"/>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Leung, Macdonald, Stanbrook, Dhalla &amp; Juurlink, NEJM 376 (2017) 2194–2195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6247404"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PHARMACEUTICAL RESEARCH · 2020 · UNVERIFIED DATA</a:t>
            </a:r>
            <a:endParaRPr lang="en-US" sz="1200" dirty="0"/>
          </a:p>
        </p:txBody>
      </p:sp>
      <p:sp>
        <p:nvSpPr>
          <p:cNvPr id="3" name="Text 1"/>
          <p:cNvSpPr/>
          <p:nvPr>
            <p:ph type="title"/>
          </p:nvPr>
        </p:nvSpPr>
        <p:spPr>
          <a:xfrm>
            <a:off x="812800" y="1229320"/>
            <a:ext cx="6247404"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The Surgisphere retractions</a:t>
            </a:r>
            <a:endParaRPr lang="en-US" sz="3600" dirty="0"/>
          </a:p>
        </p:txBody>
      </p:sp>
      <p:sp>
        <p:nvSpPr>
          <p:cNvPr id="4" name="Text 2"/>
          <p:cNvSpPr/>
          <p:nvPr/>
        </p:nvSpPr>
        <p:spPr>
          <a:xfrm>
            <a:off x="883920" y="1935361"/>
            <a:ext cx="6168664" cy="2235200"/>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The claim:</a:t>
            </a:r>
            <a:r>
              <a:rPr lang="en-US" sz="1500" dirty="0">
                <a:solidFill>
                  <a:srgbClr val="3B4050"/>
                </a:solidFill>
                <a:latin typeface="IBM Plex Sans" pitchFamily="34" charset="0"/>
                <a:ea typeface="IBM Plex Sans" pitchFamily="34" charset="-122"/>
                <a:cs typeface="IBM Plex Sans" pitchFamily="34" charset="-120"/>
              </a:rPr>
              <a:t> a </a:t>
            </a:r>
            <a:r>
              <a:rPr lang="en-US" sz="1500" i="1" dirty="0">
                <a:solidFill>
                  <a:srgbClr val="3B4050"/>
                </a:solidFill>
                <a:latin typeface="IBM Plex Sans" pitchFamily="34" charset="0"/>
                <a:ea typeface="IBM Plex Sans" pitchFamily="34" charset="-122"/>
                <a:cs typeface="IBM Plex Sans" pitchFamily="34" charset="-120"/>
              </a:rPr>
              <a:t>Lancet</a:t>
            </a:r>
            <a:r>
              <a:rPr lang="en-US" sz="1500" dirty="0">
                <a:solidFill>
                  <a:srgbClr val="3B4050"/>
                </a:solidFill>
                <a:latin typeface="IBM Plex Sans" pitchFamily="34" charset="0"/>
                <a:ea typeface="IBM Plex Sans" pitchFamily="34" charset="-122"/>
                <a:cs typeface="IBM Plex Sans" pitchFamily="34" charset="-120"/>
              </a:rPr>
              <a:t> paper (22 May 2020) said hydroxychloroquine raised the risk of death in COVID-19 patients</a:t>
            </a:r>
            <a:endParaRPr lang="en-US" sz="1500" dirty="0"/>
          </a:p>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The data:</a:t>
            </a:r>
            <a:r>
              <a:rPr lang="en-US" sz="1500" dirty="0">
                <a:solidFill>
                  <a:srgbClr val="3B4050"/>
                </a:solidFill>
                <a:latin typeface="IBM Plex Sans" pitchFamily="34" charset="0"/>
                <a:ea typeface="IBM Plex Sans" pitchFamily="34" charset="-122"/>
                <a:cs typeface="IBM Plex Sans" pitchFamily="34" charset="-120"/>
              </a:rPr>
              <a:t> records said to come from over 600 hospitals, via a private company, Surgisphere</a:t>
            </a:r>
            <a:endParaRPr lang="en-US" sz="1500" dirty="0"/>
          </a:p>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The impact:</a:t>
            </a:r>
            <a:r>
              <a:rPr lang="en-US" sz="1500" dirty="0">
                <a:solidFill>
                  <a:srgbClr val="3B4050"/>
                </a:solidFill>
                <a:latin typeface="IBM Plex Sans" pitchFamily="34" charset="0"/>
                <a:ea typeface="IBM Plex Sans" pitchFamily="34" charset="-122"/>
                <a:cs typeface="IBM Plex Sans" pitchFamily="34" charset="-120"/>
              </a:rPr>
              <a:t> the WHO paused the drug's arm of its trial</a:t>
            </a:r>
            <a:endParaRPr lang="en-US" sz="1500" dirty="0"/>
          </a:p>
          <a:p>
            <a:pPr algn="l" marL="182880" indent="-182880">
              <a:lnSpc>
                <a:spcPts val="2175"/>
              </a:lnSpc>
              <a:buSzPct val="100000"/>
              <a:buChar char="•"/>
            </a:pPr>
            <a:r>
              <a:rPr lang="en-US" sz="1500" b="1" dirty="0">
                <a:solidFill>
                  <a:srgbClr val="3B4050"/>
                </a:solidFill>
                <a:latin typeface="IBM Plex Sans" pitchFamily="34" charset="0"/>
                <a:ea typeface="IBM Plex Sans" pitchFamily="34" charset="-122"/>
                <a:cs typeface="IBM Plex Sans" pitchFamily="34" charset="-120"/>
              </a:rPr>
              <a:t>The collapse:</a:t>
            </a:r>
            <a:r>
              <a:rPr lang="en-US" sz="1500" dirty="0">
                <a:solidFill>
                  <a:srgbClr val="3B4050"/>
                </a:solidFill>
                <a:latin typeface="IBM Plex Sans" pitchFamily="34" charset="0"/>
                <a:ea typeface="IBM Plex Sans" pitchFamily="34" charset="-122"/>
                <a:cs typeface="IBM Plex Sans" pitchFamily="34" charset="-120"/>
              </a:rPr>
              <a:t> auditors asked for the raw data; the company refused. Within two weeks the paper — and a companion NEJM paper — were retracted</a:t>
            </a:r>
            <a:endParaRPr lang="en-US" sz="1500" dirty="0"/>
          </a:p>
        </p:txBody>
      </p:sp>
      <p:sp>
        <p:nvSpPr>
          <p:cNvPr id="5" name="Shape 3"/>
          <p:cNvSpPr/>
          <p:nvPr/>
        </p:nvSpPr>
        <p:spPr>
          <a:xfrm>
            <a:off x="7341791" y="819150"/>
            <a:ext cx="4030960" cy="5016500"/>
          </a:xfrm>
          <a:prstGeom prst="roundRect">
            <a:avLst>
              <a:gd name="adj" fmla="val 2363"/>
            </a:avLst>
          </a:prstGeom>
          <a:solidFill>
            <a:srgbClr val="E6ECF3"/>
          </a:solidFill>
          <a:ln w="12700">
            <a:solidFill>
              <a:srgbClr val="1F2433"/>
            </a:solidFill>
            <a:prstDash val="solid"/>
          </a:ln>
        </p:spPr>
      </p:sp>
      <p:sp>
        <p:nvSpPr>
          <p:cNvPr id="6" name="Text 4"/>
          <p:cNvSpPr/>
          <p:nvPr/>
        </p:nvSpPr>
        <p:spPr>
          <a:xfrm>
            <a:off x="7703741" y="2119709"/>
            <a:ext cx="340627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THE LESSON</a:t>
            </a:r>
            <a:endParaRPr lang="en-US" sz="1200" dirty="0"/>
          </a:p>
        </p:txBody>
      </p:sp>
      <p:sp>
        <p:nvSpPr>
          <p:cNvPr id="7" name="Text 5"/>
          <p:cNvSpPr/>
          <p:nvPr/>
        </p:nvSpPr>
        <p:spPr>
          <a:xfrm>
            <a:off x="7703741" y="2485430"/>
            <a:ext cx="3406272" cy="112256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1F2433"/>
                </a:solidFill>
                <a:latin typeface="EB Garamond" pitchFamily="18" charset="0"/>
                <a:ea typeface="EB Garamond" pitchFamily="18" charset="-122"/>
                <a:cs typeface="EB Garamond" pitchFamily="18" charset="-120"/>
              </a:rPr>
              <a:t>Co-authors had put their names to data they had never seen.</a:t>
            </a:r>
            <a:endParaRPr lang="en-US" sz="2400" dirty="0"/>
          </a:p>
        </p:txBody>
      </p:sp>
      <p:sp>
        <p:nvSpPr>
          <p:cNvPr id="8" name="Text 6"/>
          <p:cNvSpPr/>
          <p:nvPr/>
        </p:nvSpPr>
        <p:spPr>
          <a:xfrm>
            <a:off x="7703741" y="3734991"/>
            <a:ext cx="340627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B4050"/>
                </a:solidFill>
                <a:latin typeface="IBM Plex Sans" pitchFamily="34" charset="0"/>
                <a:ea typeface="IBM Plex Sans" pitchFamily="34" charset="-122"/>
                <a:cs typeface="IBM Plex Sans" pitchFamily="34" charset="-120"/>
              </a:rPr>
              <a:t>Their retraction: they could no longer "vouch for the veracity of the primary data sources".</a:t>
            </a:r>
            <a:endParaRPr lang="en-US" sz="15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F7A"/>
                </a:solidFill>
                <a:latin typeface="IBM Plex Sans" pitchFamily="34" charset="0"/>
                <a:ea typeface="IBM Plex Sans" pitchFamily="34" charset="-122"/>
                <a:cs typeface="IBM Plex Sans" pitchFamily="34" charset="-120"/>
              </a:rPr>
              <a:t>Retraction notices: The Lancet and NEJM, 4 June 2020 · </a:t>
            </a:r>
            <a:r>
              <a:rPr lang="en-US" sz="1200" u="sng" dirty="0">
                <a:solidFill>
                  <a:srgbClr val="6B6F7A"/>
                </a:solidFill>
                <a:latin typeface="IBM Plex Sans" pitchFamily="34" charset="0"/>
                <a:ea typeface="IBM Plex Sans" pitchFamily="34" charset="-122"/>
                <a:cs typeface="IBM Plex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NCBI research news</a:t>
            </a:r>
            <a:r>
              <a:rPr lang="en-US" sz="1200" dirty="0">
                <a:solidFill>
                  <a:srgbClr val="6B6F7A"/>
                </a:solidFill>
                <a:latin typeface="IBM Plex Sans" pitchFamily="34" charset="0"/>
                <a:ea typeface="IBM Plex Sans" pitchFamily="34" charset="-122"/>
                <a:cs typeface="IBM Plex Sans" pitchFamily="34" charset="-120"/>
              </a:rPr>
              <a:t> · </a:t>
            </a:r>
            <a:r>
              <a:rPr lang="en-US" sz="1200" u="sng" dirty="0">
                <a:solidFill>
                  <a:srgbClr val="6B6F7A"/>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Piller, </a:t>
            </a:r>
            <a:r>
              <a:rPr lang="en-US" sz="1200" i="1" u="sng" dirty="0">
                <a:solidFill>
                  <a:srgbClr val="6B6F7A"/>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Science</a:t>
            </a:r>
            <a:r>
              <a:rPr lang="en-US" sz="1200" u="sng" dirty="0">
                <a:solidFill>
                  <a:srgbClr val="6B6F7A"/>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 371 (2021) 331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2 · THE COMMON THREAD</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Which rule did each case break?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155627"/>
        </p:xfrm>
        <a:graphic>
          <a:graphicData uri="http://schemas.openxmlformats.org/drawingml/2006/table">
            <a:tbl>
              <a:tblPr/>
              <a:tblGrid>
                <a:gridCol w="2532888"/>
                <a:gridCol w="3166110"/>
                <a:gridCol w="4854702"/>
              </a:tblGrid>
              <a:tr h="359271">
                <a:tc>
                  <a:txBody>
                    <a:bodyPr/>
                    <a:lstStyle/>
                    <a:p>
                      <a:pPr indent="0" marL="0">
                        <a:lnSpc>
                          <a:spcPts val="1820"/>
                        </a:lnSpc>
                        <a:buNone/>
                      </a:pPr>
                      <a:r>
                        <a:rPr lang="en-US" sz="1300" b="1" dirty="0">
                          <a:solidFill>
                            <a:srgbClr val="1F2433"/>
                          </a:solidFill>
                          <a:latin typeface="IBM Plex Sans" pitchFamily="34" charset="0"/>
                          <a:ea typeface="IBM Plex Sans" pitchFamily="34" charset="-122"/>
                          <a:cs typeface="IBM Plex Sans" pitchFamily="34" charset="-120"/>
                        </a:rPr>
                        <a:t>Case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1820"/>
                        </a:lnSpc>
                        <a:buNone/>
                      </a:pPr>
                      <a:r>
                        <a:rPr lang="en-US" sz="1300" b="1" dirty="0">
                          <a:solidFill>
                            <a:srgbClr val="1F2433"/>
                          </a:solidFill>
                          <a:latin typeface="IBM Plex Sans" pitchFamily="34" charset="0"/>
                          <a:ea typeface="IBM Plex Sans" pitchFamily="34" charset="-122"/>
                          <a:cs typeface="IBM Plex Sans" pitchFamily="34" charset="-120"/>
                        </a:rPr>
                        <a:t>Rule broken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1820"/>
                        </a:lnSpc>
                        <a:buNone/>
                      </a:pPr>
                      <a:r>
                        <a:rPr lang="en-US" sz="1300" b="1" dirty="0">
                          <a:solidFill>
                            <a:srgbClr val="1F2433"/>
                          </a:solidFill>
                          <a:latin typeface="IBM Plex Sans" pitchFamily="34" charset="0"/>
                          <a:ea typeface="IBM Plex Sans" pitchFamily="34" charset="-122"/>
                          <a:cs typeface="IBM Plex Sans" pitchFamily="34" charset="-120"/>
                        </a:rPr>
                        <a:t>What would have caught 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Mata v. Avianca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8 · Verify every reference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Looking the case up in a legal database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Deloitte report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8 · Verify every reference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Opening every reference and the judgment quoted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Porter &amp; Jick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1 · Study the originals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Reading the 101-word letter itself</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Surgisphere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1 · Study the originals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Seeing the raw records before signing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59271">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Bayes and Hume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0B8"/>
                      </a:solidFill>
                      <a:prstDash val="solid"/>
                      <a:round/>
                      <a:headEnd type="none" w="med" len="med"/>
                      <a:tailEnd type="none" w="med" len="med"/>
                    </a:lnL>
                    <a:lnR w="12700" cap="flat" cmpd="sng" algn="ctr">
                      <a:solidFill>
                        <a:srgbClr val="BFB8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FB8AB"/>
                      </a:solidFill>
                      <a:prstDash val="solid"/>
                      <a:round/>
                      <a:headEnd type="none" w="med" len="med"/>
                      <a:tailEnd type="none" w="med" len="med"/>
                    </a:lnB>
                    <a:solidFill>
                      <a:srgbClr val="EFE6D6"/>
                    </a:solidFill>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4 · Keep the uncertainty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8AB"/>
                      </a:solidFill>
                      <a:prstDash val="solid"/>
                      <a:round/>
                      <a:headEnd type="none" w="med" len="med"/>
                      <a:tailEnd type="none" w="med" len="med"/>
                    </a:lnL>
                    <a:lnR w="12700" cap="flat" cmpd="sng" algn="ctr">
                      <a:solidFill>
                        <a:srgbClr val="BFB8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FB8AB"/>
                      </a:solidFill>
                      <a:prstDash val="solid"/>
                      <a:round/>
                      <a:headEnd type="none" w="med" len="med"/>
                      <a:tailEnd type="none" w="med" len="med"/>
                    </a:lnB>
                    <a:solidFill>
                      <a:srgbClr val="EFE6D6"/>
                    </a:solidFill>
                  </a:tcPr>
                </a:tc>
                <a:tc>
                  <a:txBody>
                    <a:bodyPr/>
                    <a:lstStyle/>
                    <a:p>
                      <a:pPr indent="0" marL="0">
                        <a:lnSpc>
                          <a:spcPts val="1820"/>
                        </a:lnSpc>
                        <a:buNone/>
                      </a:pPr>
                      <a:r>
                        <a:rPr lang="en-US" sz="1300" dirty="0">
                          <a:solidFill>
                            <a:srgbClr val="1F2433"/>
                          </a:solidFill>
                          <a:latin typeface="IBM Plex Sans" pitchFamily="34" charset="0"/>
                          <a:ea typeface="IBM Plex Sans" pitchFamily="34" charset="-122"/>
                          <a:cs typeface="IBM Plex Sans" pitchFamily="34" charset="-120"/>
                        </a:rPr>
                        <a:t>Reading Stigler's own caveat — and Bayes's essay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8AB"/>
                      </a:solidFill>
                      <a:prstDash val="solid"/>
                      <a:round/>
                      <a:headEnd type="none" w="med" len="med"/>
                      <a:tailEnd type="none" w="med" len="med"/>
                    </a:lnL>
                    <a:lnR w="12700" cap="flat" cmpd="sng" algn="ctr">
                      <a:solidFill>
                        <a:srgbClr val="BFB8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FB8AB"/>
                      </a:solidFill>
                      <a:prstDash val="solid"/>
                      <a:round/>
                      <a:headEnd type="none" w="med" len="med"/>
                      <a:tailEnd type="none" w="med" len="med"/>
                    </a:lnB>
                    <a:solidFill>
                      <a:srgbClr val="EFE6D6"/>
                    </a:solidFill>
                  </a:tcPr>
                </a:tc>
              </a:tr>
            </a:tbl>
          </a:graphicData>
        </a:graphic>
      </p:graphicFrame>
      <p:sp>
        <p:nvSpPr>
          <p:cNvPr id="5" name="Text 2"/>
          <p:cNvSpPr/>
          <p:nvPr/>
        </p:nvSpPr>
        <p:spPr>
          <a:xfrm>
            <a:off x="812800" y="4306888"/>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8C2F39"/>
                </a:solidFill>
                <a:latin typeface="EB Garamond" pitchFamily="18" charset="0"/>
                <a:ea typeface="EB Garamond" pitchFamily="18" charset="-122"/>
                <a:cs typeface="EB Garamond" pitchFamily="18" charset="-120"/>
              </a:rPr>
              <a:t>Open the original. Every time.</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433"/>
        </a:solidFill>
      </p:bgPr>
    </p:bg>
    <p:spTree>
      <p:nvGrpSpPr>
        <p:cNvPr id="1" name=""/>
        <p:cNvGrpSpPr/>
        <p:nvPr/>
      </p:nvGrpSpPr>
      <p:grpSpPr>
        <a:xfrm>
          <a:off x="0" y="0"/>
          <a:ext cx="0" cy="0"/>
          <a:chOff x="0" y="0"/>
          <a:chExt cx="0" cy="0"/>
        </a:xfrm>
      </p:grpSpPr>
      <p:sp>
        <p:nvSpPr>
          <p:cNvPr id="2" name="Text 0"/>
          <p:cNvSpPr/>
          <p:nvPr/>
        </p:nvSpPr>
        <p:spPr>
          <a:xfrm>
            <a:off x="812800" y="211970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E0A458"/>
                </a:solidFill>
                <a:latin typeface="IBM Plex Sans" pitchFamily="34" charset="0"/>
                <a:ea typeface="IBM Plex Sans" pitchFamily="34" charset="-122"/>
                <a:cs typeface="IBM Plex Sans" pitchFamily="34" charset="-120"/>
              </a:rPr>
              <a:t>SECTION 3</a:t>
            </a:r>
            <a:endParaRPr lang="en-US" sz="1400" dirty="0"/>
          </a:p>
        </p:txBody>
      </p:sp>
      <p:sp>
        <p:nvSpPr>
          <p:cNvPr id="3" name="Text 1"/>
          <p:cNvSpPr/>
          <p:nvPr>
            <p:ph type="title"/>
          </p:nvPr>
        </p:nvSpPr>
        <p:spPr>
          <a:xfrm>
            <a:off x="812800" y="25717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6F1E7"/>
                </a:solidFill>
                <a:latin typeface="EB Garamond" pitchFamily="18" charset="0"/>
                <a:ea typeface="EB Garamond" pitchFamily="18" charset="-122"/>
                <a:cs typeface="EB Garamond" pitchFamily="18" charset="-120"/>
              </a:rPr>
              <a:t>Where to start</a:t>
            </a:r>
            <a:endParaRPr lang="en-US" sz="6000" dirty="0"/>
          </a:p>
        </p:txBody>
      </p:sp>
      <p:sp>
        <p:nvSpPr>
          <p:cNvPr id="4" name="Text 2"/>
          <p:cNvSpPr/>
          <p:nvPr/>
        </p:nvSpPr>
        <p:spPr>
          <a:xfrm>
            <a:off x="812800" y="357505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0A458"/>
                </a:solidFill>
                <a:latin typeface="IBM Plex Sans" pitchFamily="34" charset="0"/>
                <a:ea typeface="IBM Plex Sans" pitchFamily="34" charset="-122"/>
                <a:cs typeface="IBM Plex Sans" pitchFamily="34" charset="-120"/>
              </a:rPr>
              <a:t>Step 1</a:t>
            </a:r>
            <a:r>
              <a:rPr lang="en-US" sz="1800" dirty="0">
                <a:solidFill>
                  <a:srgbClr val="C9CED8"/>
                </a:solidFill>
                <a:latin typeface="IBM Plex Sans" pitchFamily="34" charset="0"/>
                <a:ea typeface="IBM Plex Sans" pitchFamily="34" charset="-122"/>
                <a:cs typeface="IBM Plex Sans" pitchFamily="34" charset="-120"/>
              </a:rPr>
              <a:t> Read the histories of mathematics and of statistics.</a:t>
            </a:r>
            <a:endParaRPr lang="en-US" sz="1800" dirty="0"/>
          </a:p>
        </p:txBody>
      </p:sp>
      <p:sp>
        <p:nvSpPr>
          <p:cNvPr id="5" name="Text 3"/>
          <p:cNvSpPr/>
          <p:nvPr/>
        </p:nvSpPr>
        <p:spPr>
          <a:xfrm>
            <a:off x="812800" y="399663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0A458"/>
                </a:solidFill>
                <a:latin typeface="IBM Plex Sans" pitchFamily="34" charset="0"/>
                <a:ea typeface="IBM Plex Sans" pitchFamily="34" charset="-122"/>
                <a:cs typeface="IBM Plex Sans" pitchFamily="34" charset="-120"/>
              </a:rPr>
              <a:t>Step 2</a:t>
            </a:r>
            <a:r>
              <a:rPr lang="en-US" sz="1800" dirty="0">
                <a:solidFill>
                  <a:srgbClr val="C9CED8"/>
                </a:solidFill>
                <a:latin typeface="IBM Plex Sans" pitchFamily="34" charset="0"/>
                <a:ea typeface="IBM Plex Sans" pitchFamily="34" charset="-122"/>
                <a:cs typeface="IBM Plex Sans" pitchFamily="34" charset="-120"/>
              </a:rPr>
              <a:t> Follow their footnotes to the originals — and check them yourself.</a:t>
            </a:r>
            <a:endParaRPr lang="en-US" sz="1800" dirty="0"/>
          </a:p>
        </p:txBody>
      </p:sp>
      <p:sp>
        <p:nvSpPr>
          <p:cNvPr id="6" name="Text 4"/>
          <p:cNvSpPr/>
          <p:nvPr/>
        </p:nvSpPr>
        <p:spPr>
          <a:xfrm>
            <a:off x="812800" y="4418211"/>
            <a:ext cx="10883392" cy="34538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0A458"/>
                </a:solidFill>
                <a:latin typeface="IBM Plex Sans" pitchFamily="34" charset="0"/>
                <a:ea typeface="IBM Plex Sans" pitchFamily="34" charset="-122"/>
                <a:cs typeface="IBM Plex Sans" pitchFamily="34" charset="-120"/>
              </a:rPr>
              <a:t>Step 3</a:t>
            </a:r>
            <a:r>
              <a:rPr lang="en-US" sz="1800" dirty="0">
                <a:solidFill>
                  <a:srgbClr val="C9CED8"/>
                </a:solidFill>
                <a:latin typeface="IBM Plex Sans" pitchFamily="34" charset="0"/>
                <a:ea typeface="IBM Plex Sans" pitchFamily="34" charset="-122"/>
                <a:cs typeface="IBM Plex Sans" pitchFamily="34" charset="-120"/>
              </a:rPr>
              <a:t> Be ready to disagree with the authors you started from.</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3 · STEP 1</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Start with these histories — then go past them</a:t>
            </a:r>
            <a:endParaRPr lang="en-US" sz="3600" dirty="0"/>
          </a:p>
        </p:txBody>
      </p:sp>
      <p:sp>
        <p:nvSpPr>
          <p:cNvPr id="4" name="Shape 2"/>
          <p:cNvSpPr/>
          <p:nvPr/>
        </p:nvSpPr>
        <p:spPr>
          <a:xfrm>
            <a:off x="812800" y="1897261"/>
            <a:ext cx="3352800" cy="0"/>
          </a:xfrm>
          <a:prstGeom prst="line">
            <a:avLst/>
          </a:prstGeom>
          <a:noFill/>
          <a:ln w="25400">
            <a:solidFill>
              <a:srgbClr val="8C2F39"/>
            </a:solidFill>
            <a:prstDash val="solid"/>
          </a:ln>
        </p:spPr>
      </p:sp>
      <p:sp>
        <p:nvSpPr>
          <p:cNvPr id="5" name="Text 3"/>
          <p:cNvSpPr/>
          <p:nvPr/>
        </p:nvSpPr>
        <p:spPr>
          <a:xfrm>
            <a:off x="812800" y="2062361"/>
            <a:ext cx="34533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433"/>
                </a:solidFill>
                <a:latin typeface="IBM Plex Sans" pitchFamily="34" charset="0"/>
                <a:ea typeface="IBM Plex Sans" pitchFamily="34" charset="-122"/>
                <a:cs typeface="IBM Plex Sans" pitchFamily="34" charset="-120"/>
              </a:rPr>
              <a:t>History of mathematics</a:t>
            </a:r>
            <a:endParaRPr lang="en-US" sz="1500" dirty="0"/>
          </a:p>
        </p:txBody>
      </p:sp>
      <p:sp>
        <p:nvSpPr>
          <p:cNvPr id="6" name="Text 4"/>
          <p:cNvSpPr/>
          <p:nvPr/>
        </p:nvSpPr>
        <p:spPr>
          <a:xfrm>
            <a:off x="812800" y="2392561"/>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J. Stedall, </a:t>
            </a:r>
            <a:r>
              <a:rPr lang="en-US" sz="1200" i="1" dirty="0">
                <a:solidFill>
                  <a:srgbClr val="3B4050"/>
                </a:solidFill>
                <a:latin typeface="IBM Plex Sans" pitchFamily="34" charset="0"/>
                <a:ea typeface="IBM Plex Sans" pitchFamily="34" charset="-122"/>
                <a:cs typeface="IBM Plex Sans" pitchFamily="34" charset="-120"/>
              </a:rPr>
              <a:t>The History of Mathematics: A Very Short Introduction</a:t>
            </a:r>
            <a:r>
              <a:rPr lang="en-US" sz="1200" dirty="0">
                <a:solidFill>
                  <a:srgbClr val="3B4050"/>
                </a:solidFill>
                <a:latin typeface="IBM Plex Sans" pitchFamily="34" charset="0"/>
                <a:ea typeface="IBM Plex Sans" pitchFamily="34" charset="-122"/>
                <a:cs typeface="IBM Plex Sans" pitchFamily="34" charset="-120"/>
              </a:rPr>
              <a:t> (OUP, 2012)</a:t>
            </a:r>
            <a:endParaRPr lang="en-US" sz="1200" dirty="0"/>
          </a:p>
        </p:txBody>
      </p:sp>
      <p:sp>
        <p:nvSpPr>
          <p:cNvPr id="7" name="Text 5"/>
          <p:cNvSpPr/>
          <p:nvPr/>
        </p:nvSpPr>
        <p:spPr>
          <a:xfrm>
            <a:off x="812800" y="292080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J. Stedall, </a:t>
            </a:r>
            <a:r>
              <a:rPr lang="en-US" sz="1200" i="1" dirty="0">
                <a:solidFill>
                  <a:srgbClr val="3B4050"/>
                </a:solidFill>
                <a:latin typeface="IBM Plex Sans" pitchFamily="34" charset="0"/>
                <a:ea typeface="IBM Plex Sans" pitchFamily="34" charset="-122"/>
                <a:cs typeface="IBM Plex Sans" pitchFamily="34" charset="-120"/>
              </a:rPr>
              <a:t>Mathematics Emerging: A Sourcebook 1540–1900</a:t>
            </a:r>
            <a:r>
              <a:rPr lang="en-US" sz="1200" dirty="0">
                <a:solidFill>
                  <a:srgbClr val="3B4050"/>
                </a:solidFill>
                <a:latin typeface="IBM Plex Sans" pitchFamily="34" charset="0"/>
                <a:ea typeface="IBM Plex Sans" pitchFamily="34" charset="-122"/>
                <a:cs typeface="IBM Plex Sans" pitchFamily="34" charset="-120"/>
              </a:rPr>
              <a:t> (OUP, 2008)</a:t>
            </a:r>
            <a:endParaRPr lang="en-US" sz="1200" dirty="0"/>
          </a:p>
        </p:txBody>
      </p:sp>
      <p:sp>
        <p:nvSpPr>
          <p:cNvPr id="8" name="Text 6"/>
          <p:cNvSpPr/>
          <p:nvPr/>
        </p:nvSpPr>
        <p:spPr>
          <a:xfrm>
            <a:off x="812800" y="344904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V. J. Katz, </a:t>
            </a:r>
            <a:r>
              <a:rPr lang="en-US" sz="1200" i="1" dirty="0">
                <a:solidFill>
                  <a:srgbClr val="3B4050"/>
                </a:solidFill>
                <a:latin typeface="IBM Plex Sans" pitchFamily="34" charset="0"/>
                <a:ea typeface="IBM Plex Sans" pitchFamily="34" charset="-122"/>
                <a:cs typeface="IBM Plex Sans" pitchFamily="34" charset="-120"/>
              </a:rPr>
              <a:t>A History of Mathematics: An Introduction</a:t>
            </a:r>
            <a:r>
              <a:rPr lang="en-US" sz="1200" dirty="0">
                <a:solidFill>
                  <a:srgbClr val="3B4050"/>
                </a:solidFill>
                <a:latin typeface="IBM Plex Sans" pitchFamily="34" charset="0"/>
                <a:ea typeface="IBM Plex Sans" pitchFamily="34" charset="-122"/>
                <a:cs typeface="IBM Plex Sans" pitchFamily="34" charset="-120"/>
              </a:rPr>
              <a:t> (3rd ed., 2009)</a:t>
            </a:r>
            <a:endParaRPr lang="en-US" sz="1200" dirty="0"/>
          </a:p>
        </p:txBody>
      </p:sp>
      <p:sp>
        <p:nvSpPr>
          <p:cNvPr id="9" name="Text 7"/>
          <p:cNvSpPr/>
          <p:nvPr/>
        </p:nvSpPr>
        <p:spPr>
          <a:xfrm>
            <a:off x="812800" y="3977283"/>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J. Fauvel &amp; J. Gray (eds), </a:t>
            </a:r>
            <a:r>
              <a:rPr lang="en-US" sz="1200" i="1" dirty="0">
                <a:solidFill>
                  <a:srgbClr val="3B4050"/>
                </a:solidFill>
                <a:latin typeface="IBM Plex Sans" pitchFamily="34" charset="0"/>
                <a:ea typeface="IBM Plex Sans" pitchFamily="34" charset="-122"/>
                <a:cs typeface="IBM Plex Sans" pitchFamily="34" charset="-120"/>
              </a:rPr>
              <a:t>The History of Mathematics: A Reader</a:t>
            </a:r>
            <a:r>
              <a:rPr lang="en-US" sz="1200" dirty="0">
                <a:solidFill>
                  <a:srgbClr val="3B4050"/>
                </a:solidFill>
                <a:latin typeface="IBM Plex Sans" pitchFamily="34" charset="0"/>
                <a:ea typeface="IBM Plex Sans" pitchFamily="34" charset="-122"/>
                <a:cs typeface="IBM Plex Sans" pitchFamily="34" charset="-120"/>
              </a:rPr>
              <a:t> (1987)</a:t>
            </a:r>
            <a:endParaRPr lang="en-US" sz="1200" dirty="0"/>
          </a:p>
        </p:txBody>
      </p:sp>
      <p:sp>
        <p:nvSpPr>
          <p:cNvPr id="10" name="Shape 8"/>
          <p:cNvSpPr/>
          <p:nvPr/>
        </p:nvSpPr>
        <p:spPr>
          <a:xfrm>
            <a:off x="4419600" y="1897261"/>
            <a:ext cx="3352800" cy="0"/>
          </a:xfrm>
          <a:prstGeom prst="line">
            <a:avLst/>
          </a:prstGeom>
          <a:noFill/>
          <a:ln w="25400">
            <a:solidFill>
              <a:srgbClr val="8C2F39"/>
            </a:solidFill>
            <a:prstDash val="solid"/>
          </a:ln>
        </p:spPr>
      </p:sp>
      <p:sp>
        <p:nvSpPr>
          <p:cNvPr id="11" name="Text 9"/>
          <p:cNvSpPr/>
          <p:nvPr/>
        </p:nvSpPr>
        <p:spPr>
          <a:xfrm>
            <a:off x="4419600" y="2062361"/>
            <a:ext cx="34533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433"/>
                </a:solidFill>
                <a:latin typeface="IBM Plex Sans" pitchFamily="34" charset="0"/>
                <a:ea typeface="IBM Plex Sans" pitchFamily="34" charset="-122"/>
                <a:cs typeface="IBM Plex Sans" pitchFamily="34" charset="-120"/>
              </a:rPr>
              <a:t>Calculus</a:t>
            </a:r>
            <a:endParaRPr lang="en-US" sz="1500" dirty="0"/>
          </a:p>
        </p:txBody>
      </p:sp>
      <p:sp>
        <p:nvSpPr>
          <p:cNvPr id="12" name="Text 10"/>
          <p:cNvSpPr/>
          <p:nvPr/>
        </p:nvSpPr>
        <p:spPr>
          <a:xfrm>
            <a:off x="4419600" y="2392561"/>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C. B. Boyer, </a:t>
            </a:r>
            <a:r>
              <a:rPr lang="en-US" sz="1200" i="1" dirty="0">
                <a:solidFill>
                  <a:srgbClr val="3B4050"/>
                </a:solidFill>
                <a:latin typeface="IBM Plex Sans" pitchFamily="34" charset="0"/>
                <a:ea typeface="IBM Plex Sans" pitchFamily="34" charset="-122"/>
                <a:cs typeface="IBM Plex Sans" pitchFamily="34" charset="-120"/>
              </a:rPr>
              <a:t>The History of the Calculus and Its Conceptual Development</a:t>
            </a:r>
            <a:r>
              <a:rPr lang="en-US" sz="1200" dirty="0">
                <a:solidFill>
                  <a:srgbClr val="3B4050"/>
                </a:solidFill>
                <a:latin typeface="IBM Plex Sans" pitchFamily="34" charset="0"/>
                <a:ea typeface="IBM Plex Sans" pitchFamily="34" charset="-122"/>
                <a:cs typeface="IBM Plex Sans" pitchFamily="34" charset="-120"/>
              </a:rPr>
              <a:t> (1949; Dover)</a:t>
            </a:r>
            <a:endParaRPr lang="en-US" sz="1200" dirty="0"/>
          </a:p>
        </p:txBody>
      </p:sp>
      <p:sp>
        <p:nvSpPr>
          <p:cNvPr id="13" name="Text 11"/>
          <p:cNvSpPr/>
          <p:nvPr/>
        </p:nvSpPr>
        <p:spPr>
          <a:xfrm>
            <a:off x="4419600" y="292080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V. J. Katz, "Ideas of Calculus in Islam and India", </a:t>
            </a:r>
            <a:r>
              <a:rPr lang="en-US" sz="1200" i="1" dirty="0">
                <a:solidFill>
                  <a:srgbClr val="3B4050"/>
                </a:solidFill>
                <a:latin typeface="IBM Plex Sans" pitchFamily="34" charset="0"/>
                <a:ea typeface="IBM Plex Sans" pitchFamily="34" charset="-122"/>
                <a:cs typeface="IBM Plex Sans" pitchFamily="34" charset="-120"/>
              </a:rPr>
              <a:t>Mathematics Magazine</a:t>
            </a:r>
            <a:r>
              <a:rPr lang="en-US" sz="1200" dirty="0">
                <a:solidFill>
                  <a:srgbClr val="3B4050"/>
                </a:solidFill>
                <a:latin typeface="IBM Plex Sans" pitchFamily="34" charset="0"/>
                <a:ea typeface="IBM Plex Sans" pitchFamily="34" charset="-122"/>
                <a:cs typeface="IBM Plex Sans" pitchFamily="34" charset="-120"/>
              </a:rPr>
              <a:t> 68 (1995)</a:t>
            </a:r>
            <a:endParaRPr lang="en-US" sz="1200" dirty="0"/>
          </a:p>
        </p:txBody>
      </p:sp>
      <p:sp>
        <p:nvSpPr>
          <p:cNvPr id="14" name="Text 12"/>
          <p:cNvSpPr/>
          <p:nvPr/>
        </p:nvSpPr>
        <p:spPr>
          <a:xfrm>
            <a:off x="4419600" y="344904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J. Stillwell, </a:t>
            </a:r>
            <a:r>
              <a:rPr lang="en-US" sz="1200" i="1" dirty="0">
                <a:solidFill>
                  <a:srgbClr val="3B4050"/>
                </a:solidFill>
                <a:latin typeface="IBM Plex Sans" pitchFamily="34" charset="0"/>
                <a:ea typeface="IBM Plex Sans" pitchFamily="34" charset="-122"/>
                <a:cs typeface="IBM Plex Sans" pitchFamily="34" charset="-120"/>
              </a:rPr>
              <a:t>Mathematics and Its History</a:t>
            </a:r>
            <a:r>
              <a:rPr lang="en-US" sz="1200" dirty="0">
                <a:solidFill>
                  <a:srgbClr val="3B4050"/>
                </a:solidFill>
                <a:latin typeface="IBM Plex Sans" pitchFamily="34" charset="0"/>
                <a:ea typeface="IBM Plex Sans" pitchFamily="34" charset="-122"/>
                <a:cs typeface="IBM Plex Sans" pitchFamily="34" charset="-120"/>
              </a:rPr>
              <a:t> (Springer)</a:t>
            </a:r>
            <a:endParaRPr lang="en-US" sz="1200" dirty="0"/>
          </a:p>
        </p:txBody>
      </p:sp>
      <p:sp>
        <p:nvSpPr>
          <p:cNvPr id="15" name="Shape 13"/>
          <p:cNvSpPr/>
          <p:nvPr/>
        </p:nvSpPr>
        <p:spPr>
          <a:xfrm>
            <a:off x="8026400" y="1897261"/>
            <a:ext cx="3352800" cy="0"/>
          </a:xfrm>
          <a:prstGeom prst="line">
            <a:avLst/>
          </a:prstGeom>
          <a:noFill/>
          <a:ln w="25400">
            <a:solidFill>
              <a:srgbClr val="8C2F39"/>
            </a:solidFill>
            <a:prstDash val="solid"/>
          </a:ln>
        </p:spPr>
      </p:sp>
      <p:sp>
        <p:nvSpPr>
          <p:cNvPr id="16" name="Text 14"/>
          <p:cNvSpPr/>
          <p:nvPr/>
        </p:nvSpPr>
        <p:spPr>
          <a:xfrm>
            <a:off x="8026400" y="2062361"/>
            <a:ext cx="345338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F2433"/>
                </a:solidFill>
                <a:latin typeface="IBM Plex Sans" pitchFamily="34" charset="0"/>
                <a:ea typeface="IBM Plex Sans" pitchFamily="34" charset="-122"/>
                <a:cs typeface="IBM Plex Sans" pitchFamily="34" charset="-120"/>
              </a:rPr>
              <a:t>History of statistics</a:t>
            </a:r>
            <a:endParaRPr lang="en-US" sz="1500" dirty="0"/>
          </a:p>
        </p:txBody>
      </p:sp>
      <p:sp>
        <p:nvSpPr>
          <p:cNvPr id="17" name="Text 15"/>
          <p:cNvSpPr/>
          <p:nvPr/>
        </p:nvSpPr>
        <p:spPr>
          <a:xfrm>
            <a:off x="8026400" y="2392561"/>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S. M. Stigler, </a:t>
            </a:r>
            <a:r>
              <a:rPr lang="en-US" sz="1200" i="1" dirty="0">
                <a:solidFill>
                  <a:srgbClr val="3B4050"/>
                </a:solidFill>
                <a:latin typeface="IBM Plex Sans" pitchFamily="34" charset="0"/>
                <a:ea typeface="IBM Plex Sans" pitchFamily="34" charset="-122"/>
                <a:cs typeface="IBM Plex Sans" pitchFamily="34" charset="-120"/>
              </a:rPr>
              <a:t>The History of Statistics</a:t>
            </a:r>
            <a:r>
              <a:rPr lang="en-US" sz="1200" dirty="0">
                <a:solidFill>
                  <a:srgbClr val="3B4050"/>
                </a:solidFill>
                <a:latin typeface="IBM Plex Sans" pitchFamily="34" charset="0"/>
                <a:ea typeface="IBM Plex Sans" pitchFamily="34" charset="-122"/>
                <a:cs typeface="IBM Plex Sans" pitchFamily="34" charset="-120"/>
              </a:rPr>
              <a:t> (Harvard, 1986)</a:t>
            </a:r>
            <a:endParaRPr lang="en-US" sz="1200" dirty="0"/>
          </a:p>
        </p:txBody>
      </p:sp>
      <p:sp>
        <p:nvSpPr>
          <p:cNvPr id="18" name="Text 16"/>
          <p:cNvSpPr/>
          <p:nvPr/>
        </p:nvSpPr>
        <p:spPr>
          <a:xfrm>
            <a:off x="8026400" y="2920802"/>
            <a:ext cx="345338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I. Hacking, </a:t>
            </a:r>
            <a:r>
              <a:rPr lang="en-US" sz="1200" i="1" dirty="0">
                <a:solidFill>
                  <a:srgbClr val="3B4050"/>
                </a:solidFill>
                <a:latin typeface="IBM Plex Sans" pitchFamily="34" charset="0"/>
                <a:ea typeface="IBM Plex Sans" pitchFamily="34" charset="-122"/>
                <a:cs typeface="IBM Plex Sans" pitchFamily="34" charset="-120"/>
              </a:rPr>
              <a:t>The Emergence of Probability</a:t>
            </a:r>
            <a:r>
              <a:rPr lang="en-US" sz="1200" dirty="0">
                <a:solidFill>
                  <a:srgbClr val="3B4050"/>
                </a:solidFill>
                <a:latin typeface="IBM Plex Sans" pitchFamily="34" charset="0"/>
                <a:ea typeface="IBM Plex Sans" pitchFamily="34" charset="-122"/>
                <a:cs typeface="IBM Plex Sans" pitchFamily="34" charset="-120"/>
              </a:rPr>
              <a:t> (1975); L. Daston, </a:t>
            </a:r>
            <a:r>
              <a:rPr lang="en-US" sz="1200" i="1" dirty="0">
                <a:solidFill>
                  <a:srgbClr val="3B4050"/>
                </a:solidFill>
                <a:latin typeface="IBM Plex Sans" pitchFamily="34" charset="0"/>
                <a:ea typeface="IBM Plex Sans" pitchFamily="34" charset="-122"/>
                <a:cs typeface="IBM Plex Sans" pitchFamily="34" charset="-120"/>
              </a:rPr>
              <a:t>Classical Probability in the Enlightenment</a:t>
            </a:r>
            <a:r>
              <a:rPr lang="en-US" sz="1200" dirty="0">
                <a:solidFill>
                  <a:srgbClr val="3B4050"/>
                </a:solidFill>
                <a:latin typeface="IBM Plex Sans" pitchFamily="34" charset="0"/>
                <a:ea typeface="IBM Plex Sans" pitchFamily="34" charset="-122"/>
                <a:cs typeface="IBM Plex Sans" pitchFamily="34" charset="-120"/>
              </a:rPr>
              <a:t> (1988)</a:t>
            </a:r>
            <a:endParaRPr lang="en-US" sz="1200" dirty="0"/>
          </a:p>
        </p:txBody>
      </p:sp>
      <p:sp>
        <p:nvSpPr>
          <p:cNvPr id="19" name="Text 17"/>
          <p:cNvSpPr/>
          <p:nvPr/>
        </p:nvSpPr>
        <p:spPr>
          <a:xfrm>
            <a:off x="8026400" y="3662362"/>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A. I. Dale, </a:t>
            </a:r>
            <a:r>
              <a:rPr lang="en-US" sz="1200" i="1" dirty="0">
                <a:solidFill>
                  <a:srgbClr val="3B4050"/>
                </a:solidFill>
                <a:latin typeface="IBM Plex Sans" pitchFamily="34" charset="0"/>
                <a:ea typeface="IBM Plex Sans" pitchFamily="34" charset="-122"/>
                <a:cs typeface="IBM Plex Sans" pitchFamily="34" charset="-120"/>
              </a:rPr>
              <a:t>A History of Inverse Probability</a:t>
            </a:r>
            <a:r>
              <a:rPr lang="en-US" sz="1200" dirty="0">
                <a:solidFill>
                  <a:srgbClr val="3B4050"/>
                </a:solidFill>
                <a:latin typeface="IBM Plex Sans" pitchFamily="34" charset="0"/>
                <a:ea typeface="IBM Plex Sans" pitchFamily="34" charset="-122"/>
                <a:cs typeface="IBM Plex Sans" pitchFamily="34" charset="-120"/>
              </a:rPr>
              <a:t>; </a:t>
            </a:r>
            <a:r>
              <a:rPr lang="en-US" sz="1200" i="1" dirty="0">
                <a:solidFill>
                  <a:srgbClr val="3B4050"/>
                </a:solidFill>
                <a:latin typeface="IBM Plex Sans" pitchFamily="34" charset="0"/>
                <a:ea typeface="IBM Plex Sans" pitchFamily="34" charset="-122"/>
                <a:cs typeface="IBM Plex Sans" pitchFamily="34" charset="-120"/>
              </a:rPr>
              <a:t>Most Honourable Remembrance</a:t>
            </a:r>
            <a:r>
              <a:rPr lang="en-US" sz="1200" dirty="0">
                <a:solidFill>
                  <a:srgbClr val="3B4050"/>
                </a:solidFill>
                <a:latin typeface="IBM Plex Sans" pitchFamily="34" charset="0"/>
                <a:ea typeface="IBM Plex Sans" pitchFamily="34" charset="-122"/>
                <a:cs typeface="IBM Plex Sans" pitchFamily="34" charset="-120"/>
              </a:rPr>
              <a:t> (2003)</a:t>
            </a:r>
            <a:endParaRPr lang="en-US" sz="1200" dirty="0"/>
          </a:p>
        </p:txBody>
      </p:sp>
      <p:sp>
        <p:nvSpPr>
          <p:cNvPr id="20" name="Text 18"/>
          <p:cNvSpPr/>
          <p:nvPr/>
        </p:nvSpPr>
        <p:spPr>
          <a:xfrm>
            <a:off x="8026400" y="4190603"/>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050"/>
                </a:solidFill>
                <a:latin typeface="IBM Plex Sans" pitchFamily="34" charset="0"/>
                <a:ea typeface="IBM Plex Sans" pitchFamily="34" charset="-122"/>
                <a:cs typeface="IBM Plex Sans" pitchFamily="34" charset="-120"/>
              </a:rPr>
              <a:t>D. R. Bellhouse, "The Reverend Thomas Bayes", </a:t>
            </a:r>
            <a:r>
              <a:rPr lang="en-US" sz="1200" i="1" dirty="0">
                <a:solidFill>
                  <a:srgbClr val="3B4050"/>
                </a:solidFill>
                <a:latin typeface="IBM Plex Sans" pitchFamily="34" charset="0"/>
                <a:ea typeface="IBM Plex Sans" pitchFamily="34" charset="-122"/>
                <a:cs typeface="IBM Plex Sans" pitchFamily="34" charset="-120"/>
              </a:rPr>
              <a:t>Statistical Science</a:t>
            </a:r>
            <a:r>
              <a:rPr lang="en-US" sz="1200" dirty="0">
                <a:solidFill>
                  <a:srgbClr val="3B4050"/>
                </a:solidFill>
                <a:latin typeface="IBM Plex Sans" pitchFamily="34" charset="0"/>
                <a:ea typeface="IBM Plex Sans" pitchFamily="34" charset="-122"/>
                <a:cs typeface="IBM Plex Sans" pitchFamily="34" charset="-120"/>
              </a:rPr>
              <a:t> 19 (2004)</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3 · STEP 2 · FREE ONLINE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Verify at the source: where the originals live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46461"/>
          <a:ext cx="10553700" cy="2993231"/>
        </p:xfrm>
        <a:graphic>
          <a:graphicData uri="http://schemas.openxmlformats.org/drawingml/2006/table">
            <a:tbl>
              <a:tblPr/>
              <a:tblGrid>
                <a:gridCol w="2955036"/>
                <a:gridCol w="4010406"/>
                <a:gridCol w="3588258"/>
              </a:tblGrid>
              <a:tr h="332581">
                <a:tc>
                  <a:txBody>
                    <a:bodyPr/>
                    <a:lstStyle/>
                    <a:p>
                      <a:pPr indent="0" marL="0">
                        <a:lnSpc>
                          <a:spcPts val="1680"/>
                        </a:lnSpc>
                        <a:buNone/>
                      </a:pPr>
                      <a:r>
                        <a:rPr lang="en-US" sz="1200" b="1" dirty="0">
                          <a:solidFill>
                            <a:srgbClr val="1F2433"/>
                          </a:solidFill>
                          <a:latin typeface="IBM Plex Sans" pitchFamily="34" charset="0"/>
                          <a:ea typeface="IBM Plex Sans" pitchFamily="34" charset="-122"/>
                          <a:cs typeface="IBM Plex Sans" pitchFamily="34" charset="-120"/>
                        </a:rPr>
                        <a:t>Archive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1680"/>
                        </a:lnSpc>
                        <a:buNone/>
                      </a:pPr>
                      <a:r>
                        <a:rPr lang="en-US" sz="1200" b="1" dirty="0">
                          <a:solidFill>
                            <a:srgbClr val="1F2433"/>
                          </a:solidFill>
                          <a:latin typeface="IBM Plex Sans" pitchFamily="34" charset="0"/>
                          <a:ea typeface="IBM Plex Sans" pitchFamily="34" charset="-122"/>
                          <a:cs typeface="IBM Plex Sans" pitchFamily="34" charset="-120"/>
                        </a:rPr>
                        <a:t>What you'll find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1680"/>
                        </a:lnSpc>
                        <a:buNone/>
                      </a:pPr>
                      <a:r>
                        <a:rPr lang="en-US" sz="1200" b="1" dirty="0">
                          <a:solidFill>
                            <a:srgbClr val="1F2433"/>
                          </a:solidFill>
                          <a:latin typeface="IBM Plex Sans" pitchFamily="34" charset="0"/>
                          <a:ea typeface="IBM Plex Sans" pitchFamily="34" charset="-122"/>
                          <a:cs typeface="IBM Plex Sans" pitchFamily="34" charset="-120"/>
                        </a:rPr>
                        <a:t>Link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Royal Society Publishing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Phil. Trans. from 1665, incl. Bayes's Essay (1763)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doi.org/10.1098/rstl.1763.0053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The Newton Project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Newton's writings, incl. the priority dispute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newtonproject.ox.ac.uk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Cambridge Digital Library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Scans of Newton's manuscripts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cudl.lib.cam.ac.uk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Euclid's Elements (D. E. Joyce)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The full Elements, after Heath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mathcs.clarku.edu/~djoyce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The Euler Archive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Euler's works, with translations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scholarlycommons.pacific.edu/euler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Internet Archive · Gallica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Early printed books (Hartley, De Moivre, Laplace)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archive.org · gallica.bnf.fr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Project Euclid · arXiv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Stigler (2013, 2018); Diniz &amp; Bellhouse (2022)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projecteuclid.org · arxiv.org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332581">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MacTutor (St Andrews)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Biographies with references to the sources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1680"/>
                        </a:lnSpc>
                        <a:buNone/>
                      </a:pPr>
                      <a:r>
                        <a:rPr lang="en-US" sz="1200" dirty="0">
                          <a:solidFill>
                            <a:srgbClr val="1F2433"/>
                          </a:solidFill>
                          <a:latin typeface="IBM Plex Sans" pitchFamily="34" charset="0"/>
                          <a:ea typeface="IBM Plex Sans" pitchFamily="34" charset="-122"/>
                          <a:cs typeface="IBM Plex Sans" pitchFamily="34" charset="-120"/>
                        </a:rPr>
                        <a:t>mathshistory.st-andrews.ac.uk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433"/>
        </a:solidFill>
      </p:bgPr>
    </p:bg>
    <p:spTree>
      <p:nvGrpSpPr>
        <p:cNvPr id="1" name=""/>
        <p:cNvGrpSpPr/>
        <p:nvPr/>
      </p:nvGrpSpPr>
      <p:grpSpPr>
        <a:xfrm>
          <a:off x="0" y="0"/>
          <a:ext cx="0" cy="0"/>
          <a:chOff x="0" y="0"/>
          <a:chExt cx="0" cy="0"/>
        </a:xfrm>
      </p:grpSpPr>
      <p:sp>
        <p:nvSpPr>
          <p:cNvPr id="2" name="Text 0"/>
          <p:cNvSpPr/>
          <p:nvPr/>
        </p:nvSpPr>
        <p:spPr>
          <a:xfrm>
            <a:off x="812800" y="254129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E0A458"/>
                </a:solidFill>
                <a:latin typeface="IBM Plex Sans" pitchFamily="34" charset="0"/>
                <a:ea typeface="IBM Plex Sans" pitchFamily="34" charset="-122"/>
                <a:cs typeface="IBM Plex Sans" pitchFamily="34" charset="-120"/>
              </a:rPr>
              <a:t>SECTION 4</a:t>
            </a:r>
            <a:endParaRPr lang="en-US" sz="1400" dirty="0"/>
          </a:p>
        </p:txBody>
      </p:sp>
      <p:sp>
        <p:nvSpPr>
          <p:cNvPr id="3" name="Text 1"/>
          <p:cNvSpPr/>
          <p:nvPr>
            <p:ph type="title"/>
          </p:nvPr>
        </p:nvSpPr>
        <p:spPr>
          <a:xfrm>
            <a:off x="812800" y="299333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0" i="0" dirty="0">
                <a:solidFill>
                  <a:srgbClr val="F6F1E7"/>
                </a:solidFill>
                <a:latin typeface="EB Garamond" pitchFamily="18" charset="0"/>
                <a:ea typeface="EB Garamond" pitchFamily="18" charset="-122"/>
                <a:cs typeface="EB Garamond" pitchFamily="18" charset="-120"/>
              </a:rPr>
              <a:t>Writing it carefully</a:t>
            </a:r>
            <a:endParaRPr lang="en-US" sz="6000" dirty="0"/>
          </a:p>
        </p:txBody>
      </p:sp>
      <p:sp>
        <p:nvSpPr>
          <p:cNvPr id="4" name="Text 2"/>
          <p:cNvSpPr/>
          <p:nvPr/>
        </p:nvSpPr>
        <p:spPr>
          <a:xfrm>
            <a:off x="812800" y="399663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CED8"/>
                </a:solidFill>
                <a:latin typeface="IBM Plex Sans" pitchFamily="34" charset="0"/>
                <a:ea typeface="IBM Plex Sans" pitchFamily="34" charset="-122"/>
                <a:cs typeface="IBM Plex Sans" pitchFamily="34" charset="-120"/>
              </a:rPr>
              <a:t>Let's play a game.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4 · WHEN YOU WRITE</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Eight habits for writing history carefully</a:t>
            </a:r>
            <a:endParaRPr lang="en-US" sz="3600" dirty="0"/>
          </a:p>
        </p:txBody>
      </p:sp>
      <p:sp>
        <p:nvSpPr>
          <p:cNvPr id="4" name="Text 2"/>
          <p:cNvSpPr/>
          <p:nvPr/>
        </p:nvSpPr>
        <p:spPr>
          <a:xfrm>
            <a:off x="812800" y="1885950"/>
            <a:ext cx="5232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1</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Quote</a:t>
            </a:r>
            <a:r>
              <a:rPr lang="en-US" sz="1400" dirty="0">
                <a:solidFill>
                  <a:srgbClr val="3B4050"/>
                </a:solidFill>
                <a:latin typeface="IBM Plex Sans" pitchFamily="34" charset="0"/>
                <a:ea typeface="IBM Plex Sans" pitchFamily="34" charset="-122"/>
                <a:cs typeface="IBM Plex Sans" pitchFamily="34" charset="-120"/>
              </a:rPr>
              <a:t> only what you have read — with edition and page.</a:t>
            </a:r>
            <a:endParaRPr lang="en-US" sz="1400" dirty="0"/>
          </a:p>
        </p:txBody>
      </p:sp>
      <p:sp>
        <p:nvSpPr>
          <p:cNvPr id="5" name="Text 3"/>
          <p:cNvSpPr/>
          <p:nvPr/>
        </p:nvSpPr>
        <p:spPr>
          <a:xfrm>
            <a:off x="812800" y="2312591"/>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2</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Translate exactly</a:t>
            </a:r>
            <a:r>
              <a:rPr lang="en-US" sz="1400" dirty="0">
                <a:solidFill>
                  <a:srgbClr val="3B4050"/>
                </a:solidFill>
                <a:latin typeface="IBM Plex Sans" pitchFamily="34" charset="0"/>
                <a:ea typeface="IBM Plex Sans" pitchFamily="34" charset="-122"/>
                <a:cs typeface="IBM Plex Sans" pitchFamily="34" charset="-120"/>
              </a:rPr>
              <a:t>; give the original word when it matters (</a:t>
            </a:r>
            <a:r>
              <a:rPr lang="en-US" sz="1400" i="1" dirty="0">
                <a:solidFill>
                  <a:srgbClr val="3B4050"/>
                </a:solidFill>
                <a:latin typeface="IBM Plex Sans" pitchFamily="34" charset="0"/>
                <a:ea typeface="IBM Plex Sans" pitchFamily="34" charset="-122"/>
                <a:cs typeface="IBM Plex Sans" pitchFamily="34" charset="-120"/>
              </a:rPr>
              <a:t>versiera</a:t>
            </a:r>
            <a:r>
              <a:rPr lang="en-US" sz="1400" dirty="0">
                <a:solidFill>
                  <a:srgbClr val="3B4050"/>
                </a:solidFill>
                <a:latin typeface="IBM Plex Sans" pitchFamily="34" charset="0"/>
                <a:ea typeface="IBM Plex Sans" pitchFamily="34" charset="-122"/>
                <a:cs typeface="IBM Plex Sans" pitchFamily="34" charset="-120"/>
              </a:rPr>
              <a:t>, </a:t>
            </a:r>
            <a:r>
              <a:rPr lang="en-US" sz="1400" i="1" dirty="0">
                <a:solidFill>
                  <a:srgbClr val="3B4050"/>
                </a:solidFill>
                <a:latin typeface="IBM Plex Sans" pitchFamily="34" charset="0"/>
                <a:ea typeface="IBM Plex Sans" pitchFamily="34" charset="-122"/>
                <a:cs typeface="IBM Plex Sans" pitchFamily="34" charset="-120"/>
              </a:rPr>
              <a:t>sēmeion</a:t>
            </a:r>
            <a:r>
              <a:rPr lang="en-US" sz="1400" dirty="0">
                <a:solidFill>
                  <a:srgbClr val="3B4050"/>
                </a:solidFill>
                <a:latin typeface="IBM Plex Sans" pitchFamily="34" charset="0"/>
                <a:ea typeface="IBM Plex Sans" pitchFamily="34" charset="-122"/>
                <a:cs typeface="IBM Plex Sans" pitchFamily="34" charset="-120"/>
              </a:rPr>
              <a:t>, fluxion).</a:t>
            </a:r>
            <a:endParaRPr lang="en-US" sz="1400" dirty="0"/>
          </a:p>
        </p:txBody>
      </p:sp>
      <p:sp>
        <p:nvSpPr>
          <p:cNvPr id="6" name="Text 4"/>
          <p:cNvSpPr/>
          <p:nvPr/>
        </p:nvSpPr>
        <p:spPr>
          <a:xfrm>
            <a:off x="812800" y="2988072"/>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3</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Label fact, inference and speculation</a:t>
            </a:r>
            <a:r>
              <a:rPr lang="en-US" sz="1400" dirty="0">
                <a:solidFill>
                  <a:srgbClr val="3B4050"/>
                </a:solidFill>
                <a:latin typeface="IBM Plex Sans" pitchFamily="34" charset="0"/>
                <a:ea typeface="IBM Plex Sans" pitchFamily="34" charset="-122"/>
                <a:cs typeface="IBM Plex Sans" pitchFamily="34" charset="-120"/>
              </a:rPr>
              <a:t> — and keep your sources' "probably".</a:t>
            </a:r>
            <a:endParaRPr lang="en-US" sz="1400" dirty="0"/>
          </a:p>
        </p:txBody>
      </p:sp>
      <p:sp>
        <p:nvSpPr>
          <p:cNvPr id="7" name="Text 5"/>
          <p:cNvSpPr/>
          <p:nvPr/>
        </p:nvSpPr>
        <p:spPr>
          <a:xfrm>
            <a:off x="812800" y="3663553"/>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4</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Date precisely</a:t>
            </a:r>
            <a:r>
              <a:rPr lang="en-US" sz="1400" dirty="0">
                <a:solidFill>
                  <a:srgbClr val="3B4050"/>
                </a:solidFill>
                <a:latin typeface="IBM Plex Sans" pitchFamily="34" charset="0"/>
                <a:ea typeface="IBM Plex Sans" pitchFamily="34" charset="-122"/>
                <a:cs typeface="IBM Plex Sans" pitchFamily="34" charset="-120"/>
              </a:rPr>
              <a:t>: written vs published; Old vs New Style calendars.</a:t>
            </a:r>
            <a:endParaRPr lang="en-US" sz="1400" dirty="0"/>
          </a:p>
        </p:txBody>
      </p:sp>
      <p:sp>
        <p:nvSpPr>
          <p:cNvPr id="8" name="Text 6"/>
          <p:cNvSpPr/>
          <p:nvPr/>
        </p:nvSpPr>
        <p:spPr>
          <a:xfrm>
            <a:off x="6299200" y="1885950"/>
            <a:ext cx="5232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5</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Check every reference</a:t>
            </a:r>
            <a:r>
              <a:rPr lang="en-US" sz="1400" dirty="0">
                <a:solidFill>
                  <a:srgbClr val="3B4050"/>
                </a:solidFill>
                <a:latin typeface="IBM Plex Sans" pitchFamily="34" charset="0"/>
                <a:ea typeface="IBM Plex Sans" pitchFamily="34" charset="-122"/>
                <a:cs typeface="IBM Plex Sans" pitchFamily="34" charset="-120"/>
              </a:rPr>
              <a:t> resolves: DOI, archive, folio.</a:t>
            </a:r>
            <a:endParaRPr lang="en-US" sz="1400" dirty="0"/>
          </a:p>
        </p:txBody>
      </p:sp>
      <p:sp>
        <p:nvSpPr>
          <p:cNvPr id="9" name="Text 7"/>
          <p:cNvSpPr/>
          <p:nvPr/>
        </p:nvSpPr>
        <p:spPr>
          <a:xfrm>
            <a:off x="6299200" y="2312591"/>
            <a:ext cx="5232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6</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Do the mathematics</a:t>
            </a:r>
            <a:r>
              <a:rPr lang="en-US" sz="1400" dirty="0">
                <a:solidFill>
                  <a:srgbClr val="3B4050"/>
                </a:solidFill>
                <a:latin typeface="IBM Plex Sans" pitchFamily="34" charset="0"/>
                <a:ea typeface="IBM Plex Sans" pitchFamily="34" charset="-122"/>
                <a:cs typeface="IBM Plex Sans" pitchFamily="34" charset="-120"/>
              </a:rPr>
              <a:t> yourself before you explain it.</a:t>
            </a:r>
            <a:endParaRPr lang="en-US" sz="1400" dirty="0"/>
          </a:p>
        </p:txBody>
      </p:sp>
      <p:sp>
        <p:nvSpPr>
          <p:cNvPr id="10" name="Text 8"/>
          <p:cNvSpPr/>
          <p:nvPr/>
        </p:nvSpPr>
        <p:spPr>
          <a:xfrm>
            <a:off x="6299200" y="2739231"/>
            <a:ext cx="52324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7</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Name</a:t>
            </a:r>
            <a:r>
              <a:rPr lang="en-US" sz="1400" dirty="0">
                <a:solidFill>
                  <a:srgbClr val="3B4050"/>
                </a:solidFill>
                <a:latin typeface="IBM Plex Sans" pitchFamily="34" charset="0"/>
                <a:ea typeface="IBM Plex Sans" pitchFamily="34" charset="-122"/>
                <a:cs typeface="IBM Plex Sans" pitchFamily="34" charset="-120"/>
              </a:rPr>
              <a:t> whom you disagree with, and on what evidence.</a:t>
            </a:r>
            <a:endParaRPr lang="en-US" sz="1400" dirty="0"/>
          </a:p>
        </p:txBody>
      </p:sp>
      <p:sp>
        <p:nvSpPr>
          <p:cNvPr id="11" name="Text 9"/>
          <p:cNvSpPr/>
          <p:nvPr/>
        </p:nvSpPr>
        <p:spPr>
          <a:xfrm>
            <a:off x="6299200" y="3165872"/>
            <a:ext cx="5232400"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8</a:t>
            </a:r>
            <a:r>
              <a:rPr lang="en-US" sz="1400" dirty="0">
                <a:solidFill>
                  <a:srgbClr val="3B4050"/>
                </a:solidFill>
                <a:latin typeface="IBM Plex Sans" pitchFamily="34" charset="0"/>
                <a:ea typeface="IBM Plex Sans" pitchFamily="34" charset="-122"/>
                <a:cs typeface="IBM Plex Sans" pitchFamily="34" charset="-120"/>
              </a:rPr>
              <a:t> </a:t>
            </a:r>
            <a:r>
              <a:rPr lang="en-US" sz="1400" b="1" dirty="0">
                <a:solidFill>
                  <a:srgbClr val="3B4050"/>
                </a:solidFill>
                <a:latin typeface="IBM Plex Sans" pitchFamily="34" charset="0"/>
                <a:ea typeface="IBM Plex Sans" pitchFamily="34" charset="-122"/>
                <a:cs typeface="IBM Plex Sans" pitchFamily="34" charset="-120"/>
              </a:rPr>
              <a:t>Use AI to find things, never as a source.</a:t>
            </a:r>
            <a:r>
              <a:rPr lang="en-US" sz="1400" dirty="0">
                <a:solidFill>
                  <a:srgbClr val="3B4050"/>
                </a:solidFill>
                <a:latin typeface="IBM Plex Sans" pitchFamily="34" charset="0"/>
                <a:ea typeface="IBM Plex Sans" pitchFamily="34" charset="-122"/>
                <a:cs typeface="IBM Plex Sans" pitchFamily="34" charset="-120"/>
              </a:rPr>
              <a:t> </a:t>
            </a:r>
            <a:endParaRPr lang="en-US" sz="1400" dirty="0"/>
          </a:p>
          <a:p>
            <a:pPr algn="l" indent="0" marL="0">
              <a:lnSpc>
                <a:spcPts val="1960"/>
              </a:lnSpc>
              <a:buNone/>
            </a:pPr>
            <a:r>
              <a:rPr lang="en-US" sz="1400" dirty="0">
                <a:solidFill>
                  <a:srgbClr val="3B4050"/>
                </a:solidFill>
                <a:latin typeface="IBM Plex Sans" pitchFamily="34" charset="0"/>
                <a:ea typeface="IBM Plex Sans" pitchFamily="34" charset="-122"/>
                <a:cs typeface="IBM Plex Sans" pitchFamily="34" charset="-120"/>
              </a:rPr>
              <a:t>    Verify every claim at the original.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4 · ONE SENTENCE, THREE WAYS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What a careful sentence looks like</a:t>
            </a:r>
            <a:endParaRPr lang="en-US" sz="3600" dirty="0"/>
          </a:p>
        </p:txBody>
      </p:sp>
      <p:sp>
        <p:nvSpPr>
          <p:cNvPr id="4" name="Shape 2"/>
          <p:cNvSpPr/>
          <p:nvPr/>
        </p:nvSpPr>
        <p:spPr>
          <a:xfrm>
            <a:off x="812800" y="1941711"/>
            <a:ext cx="10566400" cy="0"/>
          </a:xfrm>
          <a:prstGeom prst="line">
            <a:avLst/>
          </a:prstGeom>
          <a:noFill/>
          <a:ln w="12700">
            <a:solidFill>
              <a:srgbClr val="1F2433"/>
            </a:solidFill>
            <a:prstDash val="solid"/>
          </a:ln>
        </p:spPr>
      </p:sp>
      <p:sp>
        <p:nvSpPr>
          <p:cNvPr id="5" name="Text 3"/>
          <p:cNvSpPr/>
          <p:nvPr/>
        </p:nvSpPr>
        <p:spPr>
          <a:xfrm>
            <a:off x="812800" y="2151261"/>
            <a:ext cx="1574800" cy="35113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8C2F39"/>
                </a:solidFill>
                <a:latin typeface="IBM Plex Sans" pitchFamily="34" charset="0"/>
                <a:ea typeface="IBM Plex Sans" pitchFamily="34" charset="-122"/>
                <a:cs typeface="IBM Plex Sans" pitchFamily="34" charset="-120"/>
              </a:rPr>
              <a:t>Weak</a:t>
            </a:r>
            <a:endParaRPr lang="en-US" sz="1400" dirty="0"/>
          </a:p>
        </p:txBody>
      </p:sp>
      <p:sp>
        <p:nvSpPr>
          <p:cNvPr id="6" name="Text 4"/>
          <p:cNvSpPr/>
          <p:nvPr/>
        </p:nvSpPr>
        <p:spPr>
          <a:xfrm>
            <a:off x="2590800" y="2151261"/>
            <a:ext cx="9052052" cy="35113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1F2433"/>
                </a:solidFill>
                <a:latin typeface="EB Garamond" pitchFamily="18" charset="0"/>
                <a:ea typeface="EB Garamond" pitchFamily="18" charset="-122"/>
                <a:cs typeface="EB Garamond" pitchFamily="18" charset="-120"/>
              </a:rPr>
              <a:t>Bayes developed his theorem to disprove Hume's argument against miracles.</a:t>
            </a:r>
            <a:endParaRPr lang="en-US" sz="1900" dirty="0"/>
          </a:p>
        </p:txBody>
      </p:sp>
      <p:sp>
        <p:nvSpPr>
          <p:cNvPr id="7" name="Shape 5"/>
          <p:cNvSpPr/>
          <p:nvPr/>
        </p:nvSpPr>
        <p:spPr>
          <a:xfrm>
            <a:off x="812800" y="2683371"/>
            <a:ext cx="10566400" cy="0"/>
          </a:xfrm>
          <a:prstGeom prst="line">
            <a:avLst/>
          </a:prstGeom>
          <a:noFill/>
          <a:ln w="6350">
            <a:solidFill>
              <a:srgbClr val="D9CFBD"/>
            </a:solidFill>
            <a:prstDash val="solid"/>
          </a:ln>
        </p:spPr>
      </p:sp>
      <p:sp>
        <p:nvSpPr>
          <p:cNvPr id="8" name="Text 6"/>
          <p:cNvSpPr/>
          <p:nvPr/>
        </p:nvSpPr>
        <p:spPr>
          <a:xfrm>
            <a:off x="812800" y="2889746"/>
            <a:ext cx="1574800" cy="35113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6B6F7A"/>
                </a:solidFill>
                <a:latin typeface="IBM Plex Sans" pitchFamily="34" charset="0"/>
                <a:ea typeface="IBM Plex Sans" pitchFamily="34" charset="-122"/>
                <a:cs typeface="IBM Plex Sans" pitchFamily="34" charset="-120"/>
              </a:rPr>
              <a:t>Better</a:t>
            </a:r>
            <a:endParaRPr lang="en-US" sz="1400" dirty="0"/>
          </a:p>
        </p:txBody>
      </p:sp>
      <p:sp>
        <p:nvSpPr>
          <p:cNvPr id="9" name="Text 7"/>
          <p:cNvSpPr/>
          <p:nvPr/>
        </p:nvSpPr>
        <p:spPr>
          <a:xfrm>
            <a:off x="2590800" y="2889746"/>
            <a:ext cx="9052052" cy="351135"/>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1F2433"/>
                </a:solidFill>
                <a:latin typeface="EB Garamond" pitchFamily="18" charset="0"/>
                <a:ea typeface="EB Garamond" pitchFamily="18" charset="-122"/>
                <a:cs typeface="EB Garamond" pitchFamily="18" charset="-120"/>
              </a:rPr>
              <a:t>Some historians believe Bayes was responding to Hume.</a:t>
            </a:r>
            <a:endParaRPr lang="en-US" sz="1900" dirty="0"/>
          </a:p>
        </p:txBody>
      </p:sp>
      <p:sp>
        <p:nvSpPr>
          <p:cNvPr id="10" name="Shape 8"/>
          <p:cNvSpPr/>
          <p:nvPr/>
        </p:nvSpPr>
        <p:spPr>
          <a:xfrm>
            <a:off x="812800" y="3421856"/>
            <a:ext cx="10566400" cy="0"/>
          </a:xfrm>
          <a:prstGeom prst="line">
            <a:avLst/>
          </a:prstGeom>
          <a:noFill/>
          <a:ln w="6350">
            <a:solidFill>
              <a:srgbClr val="D9CFBD"/>
            </a:solidFill>
            <a:prstDash val="solid"/>
          </a:ln>
        </p:spPr>
      </p:sp>
      <p:sp>
        <p:nvSpPr>
          <p:cNvPr id="11" name="Text 9"/>
          <p:cNvSpPr/>
          <p:nvPr/>
        </p:nvSpPr>
        <p:spPr>
          <a:xfrm>
            <a:off x="812800" y="3628231"/>
            <a:ext cx="1574800" cy="13283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2433"/>
                </a:solidFill>
                <a:latin typeface="IBM Plex Sans" pitchFamily="34" charset="0"/>
                <a:ea typeface="IBM Plex Sans" pitchFamily="34" charset="-122"/>
                <a:cs typeface="IBM Plex Sans" pitchFamily="34" charset="-120"/>
              </a:rPr>
              <a:t>Careful</a:t>
            </a:r>
            <a:endParaRPr lang="en-US" sz="1400" dirty="0"/>
          </a:p>
        </p:txBody>
      </p:sp>
      <p:sp>
        <p:nvSpPr>
          <p:cNvPr id="12" name="Text 10"/>
          <p:cNvSpPr/>
          <p:nvPr/>
        </p:nvSpPr>
        <p:spPr>
          <a:xfrm>
            <a:off x="2590800" y="3628231"/>
            <a:ext cx="9052052" cy="1328341"/>
          </a:xfrm>
          <a:prstGeom prst="rect">
            <a:avLst/>
          </a:prstGeom>
          <a:noFill/>
          <a:ln/>
        </p:spPr>
        <p:txBody>
          <a:bodyPr wrap="square" lIns="0" tIns="0" rIns="0" bIns="0" rtlCol="0" anchor="t">
            <a:normAutofit/>
          </a:bodyPr>
          <a:lstStyle/>
          <a:p>
            <a:pPr algn="l" indent="0" marL="0">
              <a:lnSpc>
                <a:spcPts val="2565"/>
              </a:lnSpc>
              <a:buNone/>
            </a:pPr>
            <a:r>
              <a:rPr lang="en-US" sz="1900" b="1" dirty="0">
                <a:solidFill>
                  <a:srgbClr val="1F2433"/>
                </a:solidFill>
                <a:latin typeface="EB Garamond" pitchFamily="18" charset="0"/>
                <a:ea typeface="EB Garamond" pitchFamily="18" charset="-122"/>
                <a:cs typeface="EB Garamond" pitchFamily="18" charset="-120"/>
              </a:rPr>
              <a:t>Stigler (2013)</a:t>
            </a:r>
            <a:r>
              <a:rPr lang="en-US" sz="1900" dirty="0">
                <a:solidFill>
                  <a:srgbClr val="1F2433"/>
                </a:solidFill>
                <a:latin typeface="EB Garamond" pitchFamily="18" charset="0"/>
                <a:ea typeface="EB Garamond" pitchFamily="18" charset="-122"/>
                <a:cs typeface="EB Garamond" pitchFamily="18" charset="-120"/>
              </a:rPr>
              <a:t> argues from the 1764 offprint titles that Price almost surely, and Bayes "not improbably", had Hume's "</a:t>
            </a:r>
            <a:r>
              <a:rPr lang="en-US" sz="1900" i="1" dirty="0">
                <a:solidFill>
                  <a:srgbClr val="1F2433"/>
                </a:solidFill>
                <a:latin typeface="EB Garamond" pitchFamily="18" charset="0"/>
                <a:ea typeface="EB Garamond" pitchFamily="18" charset="-122"/>
                <a:cs typeface="EB Garamond" pitchFamily="18" charset="-120"/>
              </a:rPr>
              <a:t>Of Miracles</a:t>
            </a:r>
            <a:r>
              <a:rPr lang="en-US" sz="1900" dirty="0">
                <a:solidFill>
                  <a:srgbClr val="1F2433"/>
                </a:solidFill>
                <a:latin typeface="EB Garamond" pitchFamily="18" charset="0"/>
                <a:ea typeface="EB Garamond" pitchFamily="18" charset="-122"/>
                <a:cs typeface="EB Garamond" pitchFamily="18" charset="-120"/>
              </a:rPr>
              <a:t>" (1748) in view. </a:t>
            </a:r>
            <a:r>
              <a:rPr lang="en-US" sz="1900" b="1" dirty="0">
                <a:solidFill>
                  <a:srgbClr val="1F2433"/>
                </a:solidFill>
                <a:latin typeface="EB Garamond" pitchFamily="18" charset="0"/>
                <a:ea typeface="EB Garamond" pitchFamily="18" charset="-122"/>
                <a:cs typeface="EB Garamond" pitchFamily="18" charset="-120"/>
              </a:rPr>
              <a:t>Diniz and Bellhouse (2022)</a:t>
            </a:r>
            <a:r>
              <a:rPr lang="en-US" sz="1900" dirty="0">
                <a:solidFill>
                  <a:srgbClr val="1F2433"/>
                </a:solidFill>
                <a:latin typeface="EB Garamond" pitchFamily="18" charset="0"/>
                <a:ea typeface="EB Garamond" pitchFamily="18" charset="-122"/>
                <a:cs typeface="EB Garamond" pitchFamily="18" charset="-120"/>
              </a:rPr>
              <a:t> reject this for Bayes on chronological grounds. The published essay never mentions Hume or miracles; only Price's introduction mentions God, in support of the argument from design.</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4 · A GAME</a:t>
            </a:r>
            <a:endParaRPr lang="en-US" sz="1200" dirty="0"/>
          </a:p>
        </p:txBody>
      </p:sp>
      <p:sp>
        <p:nvSpPr>
          <p:cNvPr id="3" name="Text 1"/>
          <p:cNvSpPr/>
          <p:nvPr>
            <p:ph type="title"/>
          </p:nvPr>
        </p:nvSpPr>
        <p:spPr>
          <a:xfrm>
            <a:off x="812800" y="1127720"/>
            <a:ext cx="10883392" cy="640060"/>
          </a:xfrm>
          <a:prstGeom prst="rect">
            <a:avLst/>
          </a:prstGeom>
          <a:noFill/>
          <a:ln/>
        </p:spPr>
        <p:txBody>
          <a:bodyPr wrap="square" lIns="0" tIns="0" rIns="0" bIns="0" rtlCol="0" anchor="t">
            <a:normAutofit/>
          </a:bodyPr>
          <a:lstStyle/>
          <a:p>
            <a:pPr algn="l" indent="0" marL="0">
              <a:lnSpc>
                <a:spcPts val="4840"/>
              </a:lnSpc>
              <a:buNone/>
            </a:pPr>
            <a:r>
              <a:rPr lang="en-US" sz="4400" b="0" i="0" dirty="0">
                <a:solidFill>
                  <a:srgbClr val="1F2433"/>
                </a:solidFill>
                <a:latin typeface="EB Garamond" pitchFamily="18" charset="0"/>
                <a:ea typeface="EB Garamond" pitchFamily="18" charset="-122"/>
                <a:cs typeface="EB Garamond" pitchFamily="18" charset="-120"/>
              </a:rPr>
              <a:t>The careful-sentence game</a:t>
            </a:r>
            <a:endParaRPr lang="en-US" sz="4400" dirty="0"/>
          </a:p>
        </p:txBody>
      </p:sp>
      <p:sp>
        <p:nvSpPr>
          <p:cNvPr id="4" name="Text 2"/>
          <p:cNvSpPr/>
          <p:nvPr/>
        </p:nvSpPr>
        <p:spPr>
          <a:xfrm>
            <a:off x="812800" y="2047180"/>
            <a:ext cx="523240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8C2F39"/>
                </a:solidFill>
                <a:latin typeface="IBM Plex Sans" pitchFamily="34" charset="0"/>
                <a:ea typeface="IBM Plex Sans" pitchFamily="34" charset="-122"/>
                <a:cs typeface="IBM Plex Sans" pitchFamily="34" charset="-120"/>
              </a:rPr>
              <a:t>1</a:t>
            </a:r>
            <a:r>
              <a:rPr lang="en-US" sz="1500" dirty="0">
                <a:solidFill>
                  <a:srgbClr val="3B4050"/>
                </a:solidFill>
                <a:latin typeface="IBM Plex Sans" pitchFamily="34" charset="0"/>
                <a:ea typeface="IBM Plex Sans" pitchFamily="34" charset="-122"/>
                <a:cs typeface="IBM Plex Sans" pitchFamily="34" charset="-120"/>
              </a:rPr>
              <a:t> Read the sentence on the slide.</a:t>
            </a:r>
            <a:endParaRPr lang="en-US" sz="1500" dirty="0"/>
          </a:p>
        </p:txBody>
      </p:sp>
      <p:sp>
        <p:nvSpPr>
          <p:cNvPr id="5" name="Text 3"/>
          <p:cNvSpPr/>
          <p:nvPr/>
        </p:nvSpPr>
        <p:spPr>
          <a:xfrm>
            <a:off x="812800" y="2475805"/>
            <a:ext cx="523240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8C2F39"/>
                </a:solidFill>
                <a:latin typeface="IBM Plex Sans" pitchFamily="34" charset="0"/>
                <a:ea typeface="IBM Plex Sans" pitchFamily="34" charset="-122"/>
                <a:cs typeface="IBM Plex Sans" pitchFamily="34" charset="-120"/>
              </a:rPr>
              <a:t>2</a:t>
            </a:r>
            <a:r>
              <a:rPr lang="en-US" sz="1500" dirty="0">
                <a:solidFill>
                  <a:srgbClr val="3B4050"/>
                </a:solidFill>
                <a:latin typeface="IBM Plex Sans" pitchFamily="34" charset="0"/>
                <a:ea typeface="IBM Plex Sans" pitchFamily="34" charset="-122"/>
                <a:cs typeface="IBM Plex Sans" pitchFamily="34" charset="-120"/>
              </a:rPr>
              <a:t> Call out what's wrong — or say "nothing".</a:t>
            </a:r>
            <a:endParaRPr lang="en-US" sz="1500" dirty="0"/>
          </a:p>
        </p:txBody>
      </p:sp>
      <p:sp>
        <p:nvSpPr>
          <p:cNvPr id="6" name="Text 4"/>
          <p:cNvSpPr/>
          <p:nvPr/>
        </p:nvSpPr>
        <p:spPr>
          <a:xfrm>
            <a:off x="812800" y="2904430"/>
            <a:ext cx="523240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8C2F39"/>
                </a:solidFill>
                <a:latin typeface="IBM Plex Sans" pitchFamily="34" charset="0"/>
                <a:ea typeface="IBM Plex Sans" pitchFamily="34" charset="-122"/>
                <a:cs typeface="IBM Plex Sans" pitchFamily="34" charset="-120"/>
              </a:rPr>
              <a:t>3</a:t>
            </a:r>
            <a:r>
              <a:rPr lang="en-US" sz="1500" dirty="0">
                <a:solidFill>
                  <a:srgbClr val="3B4050"/>
                </a:solidFill>
                <a:latin typeface="IBM Plex Sans" pitchFamily="34" charset="0"/>
                <a:ea typeface="IBM Plex Sans" pitchFamily="34" charset="-122"/>
                <a:cs typeface="IBM Plex Sans" pitchFamily="34" charset="-120"/>
              </a:rPr>
              <a:t> Name the rule it breaks.</a:t>
            </a:r>
            <a:endParaRPr lang="en-US" sz="1500" dirty="0"/>
          </a:p>
        </p:txBody>
      </p:sp>
      <p:sp>
        <p:nvSpPr>
          <p:cNvPr id="7" name="Text 5"/>
          <p:cNvSpPr/>
          <p:nvPr/>
        </p:nvSpPr>
        <p:spPr>
          <a:xfrm>
            <a:off x="812800" y="3333055"/>
            <a:ext cx="523240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8C2F39"/>
                </a:solidFill>
                <a:latin typeface="IBM Plex Sans" pitchFamily="34" charset="0"/>
                <a:ea typeface="IBM Plex Sans" pitchFamily="34" charset="-122"/>
                <a:cs typeface="IBM Plex Sans" pitchFamily="34" charset="-120"/>
              </a:rPr>
              <a:t>4</a:t>
            </a:r>
            <a:r>
              <a:rPr lang="en-US" sz="1500" dirty="0">
                <a:solidFill>
                  <a:srgbClr val="3B4050"/>
                </a:solidFill>
                <a:latin typeface="IBM Plex Sans" pitchFamily="34" charset="0"/>
                <a:ea typeface="IBM Plex Sans" pitchFamily="34" charset="-122"/>
                <a:cs typeface="IBM Plex Sans" pitchFamily="34" charset="-120"/>
              </a:rPr>
              <a:t> Rewrite it carefully. Then we reveal ours.</a:t>
            </a:r>
            <a:endParaRPr lang="en-US" sz="1500" dirty="0"/>
          </a:p>
        </p:txBody>
      </p:sp>
      <p:sp>
        <p:nvSpPr>
          <p:cNvPr id="8" name="Shape 6"/>
          <p:cNvSpPr/>
          <p:nvPr/>
        </p:nvSpPr>
        <p:spPr>
          <a:xfrm>
            <a:off x="6305550" y="2053530"/>
            <a:ext cx="5067300" cy="2962870"/>
          </a:xfrm>
          <a:prstGeom prst="roundRect">
            <a:avLst>
              <a:gd name="adj" fmla="val 3215"/>
            </a:avLst>
          </a:prstGeom>
          <a:solidFill>
            <a:srgbClr val="E6ECF3"/>
          </a:solidFill>
          <a:ln w="12700">
            <a:solidFill>
              <a:srgbClr val="1F2433"/>
            </a:solidFill>
            <a:prstDash val="solid"/>
          </a:ln>
        </p:spPr>
      </p:sp>
      <p:sp>
        <p:nvSpPr>
          <p:cNvPr id="9" name="Text 7"/>
          <p:cNvSpPr/>
          <p:nvPr/>
        </p:nvSpPr>
        <p:spPr>
          <a:xfrm>
            <a:off x="6616700" y="2364680"/>
            <a:ext cx="457835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POSSIBLE PROBLEMS</a:t>
            </a:r>
            <a:endParaRPr lang="en-US" sz="1200" dirty="0"/>
          </a:p>
        </p:txBody>
      </p:sp>
      <p:sp>
        <p:nvSpPr>
          <p:cNvPr id="10" name="Text 8"/>
          <p:cNvSpPr/>
          <p:nvPr/>
        </p:nvSpPr>
        <p:spPr>
          <a:xfrm>
            <a:off x="6687820" y="2705001"/>
            <a:ext cx="4499610" cy="2025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Distorted source</a:t>
            </a:r>
            <a:endParaRPr lang="en-US" sz="1500" dirty="0"/>
          </a:p>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"Probably" turned into "definitely"</a:t>
            </a:r>
            <a:endParaRPr lang="en-US" sz="1500" dirty="0"/>
          </a:p>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Mistranslation</a:t>
            </a:r>
            <a:endParaRPr lang="en-US" sz="1500" dirty="0"/>
          </a:p>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Wrong date or wrong name</a:t>
            </a:r>
            <a:endParaRPr lang="en-US" sz="1500" dirty="0"/>
          </a:p>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Biased source taken at face value</a:t>
            </a:r>
            <a:endParaRPr lang="en-US" sz="1500" dirty="0"/>
          </a:p>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Someone left out</a:t>
            </a:r>
            <a:endParaRPr lang="en-US" sz="1500" dirty="0"/>
          </a:p>
          <a:p>
            <a:pPr algn="l" marL="182880" indent="-182880">
              <a:lnSpc>
                <a:spcPts val="2250"/>
              </a:lnSpc>
              <a:buSzPct val="100000"/>
              <a:buChar char="•"/>
            </a:pPr>
            <a:r>
              <a:rPr lang="en-US" sz="1500" dirty="0">
                <a:solidFill>
                  <a:srgbClr val="1F2433"/>
                </a:solidFill>
                <a:latin typeface="IBM Plex Sans" pitchFamily="34" charset="0"/>
                <a:ea typeface="IBM Plex Sans" pitchFamily="34" charset="-122"/>
                <a:cs typeface="IBM Plex Sans" pitchFamily="34" charset="-120"/>
              </a:rPr>
              <a:t>Nothing wrong at all</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THE CAREFUL-SENTENCE GAME · ROUND 1 OF 4</a:t>
            </a:r>
            <a:endParaRPr lang="en-US" sz="1200" dirty="0"/>
          </a:p>
        </p:txBody>
      </p:sp>
      <p:sp>
        <p:nvSpPr>
          <p:cNvPr id="3" name="Text 1"/>
          <p:cNvSpPr/>
          <p:nvPr/>
        </p:nvSpPr>
        <p:spPr>
          <a:xfrm>
            <a:off x="812800" y="12801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1F2433"/>
                </a:solidFill>
                <a:latin typeface="EB Garamond" pitchFamily="18" charset="0"/>
                <a:ea typeface="EB Garamond" pitchFamily="18" charset="-122"/>
                <a:cs typeface="EB Garamond" pitchFamily="18" charset="-120"/>
              </a:rPr>
              <a:t>"Agnesi studied a curve she called the Witch."</a:t>
            </a:r>
            <a:endParaRPr lang="en-US" sz="3200" dirty="0"/>
          </a:p>
        </p:txBody>
      </p:sp>
      <p:sp>
        <p:nvSpPr>
          <p:cNvPr id="4" name="Text 2"/>
          <p:cNvSpPr/>
          <p:nvPr/>
        </p:nvSpPr>
        <p:spPr>
          <a:xfrm>
            <a:off x="812800" y="2021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F7A"/>
                </a:solidFill>
                <a:latin typeface="IBM Plex Sans" pitchFamily="34" charset="0"/>
                <a:ea typeface="IBM Plex Sans" pitchFamily="34" charset="-122"/>
                <a:cs typeface="IBM Plex Sans" pitchFamily="34" charset="-120"/>
              </a:rPr>
              <a:t>What's wrong with it? Which rule does it break? How would you write it?</a:t>
            </a:r>
            <a:endParaRPr lang="en-US" sz="1400" dirty="0"/>
          </a:p>
        </p:txBody>
      </p:sp>
      <p:sp>
        <p:nvSpPr>
          <p:cNvPr id="5" name="Shape 3"/>
          <p:cNvSpPr/>
          <p:nvPr/>
        </p:nvSpPr>
        <p:spPr>
          <a:xfrm>
            <a:off x="819150" y="3765550"/>
            <a:ext cx="10553700" cy="2019300"/>
          </a:xfrm>
          <a:prstGeom prst="roundRect">
            <a:avLst>
              <a:gd name="adj" fmla="val 4717"/>
            </a:avLst>
          </a:prstGeom>
          <a:solidFill>
            <a:srgbClr val="E6ECF3"/>
          </a:solidFill>
          <a:ln w="12700">
            <a:solidFill>
              <a:srgbClr val="1F2433"/>
            </a:solidFill>
            <a:prstDash val="solid"/>
          </a:ln>
        </p:spPr>
      </p:sp>
      <p:sp>
        <p:nvSpPr>
          <p:cNvPr id="6" name="Text 4"/>
          <p:cNvSpPr/>
          <p:nvPr/>
        </p:nvSpPr>
        <p:spPr>
          <a:xfrm>
            <a:off x="1130300" y="4025900"/>
            <a:ext cx="102293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MISTRANSLATION · RULE 2</a:t>
            </a:r>
            <a:endParaRPr lang="en-US" sz="1200" dirty="0"/>
          </a:p>
        </p:txBody>
      </p:sp>
      <p:sp>
        <p:nvSpPr>
          <p:cNvPr id="7" name="Text 5"/>
          <p:cNvSpPr/>
          <p:nvPr/>
        </p:nvSpPr>
        <p:spPr>
          <a:xfrm>
            <a:off x="1130300" y="4340820"/>
            <a:ext cx="102293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050"/>
                </a:solidFill>
                <a:latin typeface="IBM Plex Sans" pitchFamily="34" charset="0"/>
                <a:ea typeface="IBM Plex Sans" pitchFamily="34" charset="-122"/>
                <a:cs typeface="IBM Plex Sans" pitchFamily="34" charset="-120"/>
              </a:rPr>
              <a:t>Agnesi never called it a witch; the name comes from an English translation.</a:t>
            </a:r>
            <a:endParaRPr lang="en-US" sz="1400" dirty="0"/>
          </a:p>
        </p:txBody>
      </p:sp>
      <p:sp>
        <p:nvSpPr>
          <p:cNvPr id="8" name="Text 6"/>
          <p:cNvSpPr/>
          <p:nvPr/>
        </p:nvSpPr>
        <p:spPr>
          <a:xfrm>
            <a:off x="1130300" y="4691261"/>
            <a:ext cx="10229342"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F2433"/>
                </a:solidFill>
                <a:latin typeface="EB Garamond" pitchFamily="18" charset="0"/>
                <a:ea typeface="EB Garamond" pitchFamily="18" charset="-122"/>
                <a:cs typeface="EB Garamond" pitchFamily="18" charset="-120"/>
              </a:rPr>
              <a:t>Careful: "Agnesi (1748) called the curve </a:t>
            </a:r>
            <a:r>
              <a:rPr lang="en-US" sz="1700" i="1" dirty="0">
                <a:solidFill>
                  <a:srgbClr val="1F2433"/>
                </a:solidFill>
                <a:latin typeface="EB Garamond" pitchFamily="18" charset="0"/>
                <a:ea typeface="EB Garamond" pitchFamily="18" charset="-122"/>
                <a:cs typeface="EB Garamond" pitchFamily="18" charset="-120"/>
              </a:rPr>
              <a:t>la versiera</a:t>
            </a:r>
            <a:r>
              <a:rPr lang="en-US" sz="1700" dirty="0">
                <a:solidFill>
                  <a:srgbClr val="1F2433"/>
                </a:solidFill>
                <a:latin typeface="EB Garamond" pitchFamily="18" charset="0"/>
                <a:ea typeface="EB Garamond" pitchFamily="18" charset="-122"/>
                <a:cs typeface="EB Garamond" pitchFamily="18" charset="-120"/>
              </a:rPr>
              <a:t>; John Colson's 1801 English translation rendered it 'the Witch'."</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THE CAREFUL-SENTENCE GAME · ROUND 2 OF 4</a:t>
            </a:r>
            <a:endParaRPr lang="en-US" sz="1200" dirty="0"/>
          </a:p>
        </p:txBody>
      </p:sp>
      <p:sp>
        <p:nvSpPr>
          <p:cNvPr id="3" name="Text 1"/>
          <p:cNvSpPr/>
          <p:nvPr/>
        </p:nvSpPr>
        <p:spPr>
          <a:xfrm>
            <a:off x="812800" y="12801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1F2433"/>
                </a:solidFill>
                <a:latin typeface="EB Garamond" pitchFamily="18" charset="0"/>
                <a:ea typeface="EB Garamond" pitchFamily="18" charset="-122"/>
                <a:cs typeface="EB Garamond" pitchFamily="18" charset="-120"/>
              </a:rPr>
              <a:t>"Jeffreys introduced the Bayes factor in 1935."</a:t>
            </a:r>
            <a:endParaRPr lang="en-US" sz="3200" dirty="0"/>
          </a:p>
        </p:txBody>
      </p:sp>
      <p:sp>
        <p:nvSpPr>
          <p:cNvPr id="4" name="Text 2"/>
          <p:cNvSpPr/>
          <p:nvPr/>
        </p:nvSpPr>
        <p:spPr>
          <a:xfrm>
            <a:off x="812800" y="2021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F7A"/>
                </a:solidFill>
                <a:latin typeface="IBM Plex Sans" pitchFamily="34" charset="0"/>
                <a:ea typeface="IBM Plex Sans" pitchFamily="34" charset="-122"/>
                <a:cs typeface="IBM Plex Sans" pitchFamily="34" charset="-120"/>
              </a:rPr>
              <a:t>What's wrong with it? Which rule does it break? How would you write it?</a:t>
            </a:r>
            <a:endParaRPr lang="en-US" sz="1400" dirty="0"/>
          </a:p>
        </p:txBody>
      </p:sp>
      <p:sp>
        <p:nvSpPr>
          <p:cNvPr id="5" name="Shape 3"/>
          <p:cNvSpPr/>
          <p:nvPr/>
        </p:nvSpPr>
        <p:spPr>
          <a:xfrm>
            <a:off x="819150" y="3765550"/>
            <a:ext cx="10553700" cy="2019300"/>
          </a:xfrm>
          <a:prstGeom prst="roundRect">
            <a:avLst>
              <a:gd name="adj" fmla="val 4717"/>
            </a:avLst>
          </a:prstGeom>
          <a:solidFill>
            <a:srgbClr val="E6ECF3"/>
          </a:solidFill>
          <a:ln w="12700">
            <a:solidFill>
              <a:srgbClr val="1F2433"/>
            </a:solidFill>
            <a:prstDash val="solid"/>
          </a:ln>
        </p:spPr>
      </p:sp>
      <p:sp>
        <p:nvSpPr>
          <p:cNvPr id="6" name="Text 4"/>
          <p:cNvSpPr/>
          <p:nvPr/>
        </p:nvSpPr>
        <p:spPr>
          <a:xfrm>
            <a:off x="1130300" y="4025900"/>
            <a:ext cx="102293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WRONG NAME · RULE 1</a:t>
            </a:r>
            <a:endParaRPr lang="en-US" sz="1200" dirty="0"/>
          </a:p>
        </p:txBody>
      </p:sp>
      <p:sp>
        <p:nvSpPr>
          <p:cNvPr id="7" name="Text 5"/>
          <p:cNvSpPr/>
          <p:nvPr/>
        </p:nvSpPr>
        <p:spPr>
          <a:xfrm>
            <a:off x="1130300" y="4340820"/>
            <a:ext cx="102293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050"/>
                </a:solidFill>
                <a:latin typeface="IBM Plex Sans" pitchFamily="34" charset="0"/>
                <a:ea typeface="IBM Plex Sans" pitchFamily="34" charset="-122"/>
                <a:cs typeface="IBM Plex Sans" pitchFamily="34" charset="-120"/>
              </a:rPr>
              <a:t>The idea is Jeffreys's; the name is not. His own papers call it </a:t>
            </a:r>
            <a:r>
              <a:rPr lang="en-US" sz="1400" i="1" dirty="0">
                <a:solidFill>
                  <a:srgbClr val="3B4050"/>
                </a:solidFill>
                <a:latin typeface="IBM Plex Sans" pitchFamily="34" charset="0"/>
                <a:ea typeface="IBM Plex Sans" pitchFamily="34" charset="-122"/>
                <a:cs typeface="IBM Plex Sans" pitchFamily="34" charset="-120"/>
              </a:rPr>
              <a:t>K</a:t>
            </a:r>
            <a:r>
              <a:rPr lang="en-US" sz="1400" dirty="0">
                <a:solidFill>
                  <a:srgbClr val="3B4050"/>
                </a:solidFill>
                <a:latin typeface="IBM Plex Sans" pitchFamily="34" charset="0"/>
                <a:ea typeface="IBM Plex Sans" pitchFamily="34" charset="-122"/>
                <a:cs typeface="IBM Plex Sans" pitchFamily="34" charset="-120"/>
              </a:rPr>
              <a:t>.</a:t>
            </a:r>
            <a:endParaRPr lang="en-US" sz="1400" dirty="0"/>
          </a:p>
        </p:txBody>
      </p:sp>
      <p:sp>
        <p:nvSpPr>
          <p:cNvPr id="8" name="Text 6"/>
          <p:cNvSpPr/>
          <p:nvPr/>
        </p:nvSpPr>
        <p:spPr>
          <a:xfrm>
            <a:off x="1130300" y="4691261"/>
            <a:ext cx="10229342" cy="60821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F2433"/>
                </a:solidFill>
                <a:latin typeface="EB Garamond" pitchFamily="18" charset="0"/>
                <a:ea typeface="EB Garamond" pitchFamily="18" charset="-122"/>
                <a:cs typeface="EB Garamond" pitchFamily="18" charset="-120"/>
              </a:rPr>
              <a:t>Careful: "From 1935 Jeffreys compared hypotheses with a ratio he called </a:t>
            </a:r>
            <a:r>
              <a:rPr lang="en-US" sz="1700" i="1" dirty="0">
                <a:solidFill>
                  <a:srgbClr val="1F2433"/>
                </a:solidFill>
                <a:latin typeface="EB Garamond" pitchFamily="18" charset="0"/>
                <a:ea typeface="EB Garamond" pitchFamily="18" charset="-122"/>
                <a:cs typeface="EB Garamond" pitchFamily="18" charset="-120"/>
              </a:rPr>
              <a:t>K</a:t>
            </a:r>
            <a:r>
              <a:rPr lang="en-US" sz="1700" dirty="0">
                <a:solidFill>
                  <a:srgbClr val="1F2433"/>
                </a:solidFill>
                <a:latin typeface="EB Garamond" pitchFamily="18" charset="0"/>
                <a:ea typeface="EB Garamond" pitchFamily="18" charset="-122"/>
                <a:cs typeface="EB Garamond" pitchFamily="18" charset="-120"/>
              </a:rPr>
              <a:t>; the term 'Bayes factor' was coined by I. J. Good in 1958."</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THE CAREFUL-SENTENCE GAME · ROUND 3 OF 4</a:t>
            </a:r>
            <a:endParaRPr lang="en-US" sz="1200" dirty="0"/>
          </a:p>
        </p:txBody>
      </p:sp>
      <p:sp>
        <p:nvSpPr>
          <p:cNvPr id="3" name="Text 1"/>
          <p:cNvSpPr/>
          <p:nvPr/>
        </p:nvSpPr>
        <p:spPr>
          <a:xfrm>
            <a:off x="812800" y="1280120"/>
            <a:ext cx="10883392" cy="100072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1F2433"/>
                </a:solidFill>
                <a:latin typeface="EB Garamond" pitchFamily="18" charset="0"/>
                <a:ea typeface="EB Garamond" pitchFamily="18" charset="-122"/>
                <a:cs typeface="EB Garamond" pitchFamily="18" charset="-120"/>
              </a:rPr>
              <a:t>"Richard Price used Bayes's results against Hume's argument on miracles in his </a:t>
            </a:r>
            <a:r>
              <a:rPr lang="en-US" sz="3200" i="1" dirty="0">
                <a:solidFill>
                  <a:srgbClr val="1F2433"/>
                </a:solidFill>
                <a:latin typeface="EB Garamond" pitchFamily="18" charset="0"/>
                <a:ea typeface="EB Garamond" pitchFamily="18" charset="-122"/>
                <a:cs typeface="EB Garamond" pitchFamily="18" charset="-120"/>
              </a:rPr>
              <a:t>Four Dissertations</a:t>
            </a:r>
            <a:r>
              <a:rPr lang="en-US" sz="3200" dirty="0">
                <a:solidFill>
                  <a:srgbClr val="1F2433"/>
                </a:solidFill>
                <a:latin typeface="EB Garamond" pitchFamily="18" charset="0"/>
                <a:ea typeface="EB Garamond" pitchFamily="18" charset="-122"/>
                <a:cs typeface="EB Garamond" pitchFamily="18" charset="-120"/>
              </a:rPr>
              <a:t> (1767)."</a:t>
            </a:r>
            <a:endParaRPr lang="en-US" sz="3200" dirty="0"/>
          </a:p>
        </p:txBody>
      </p:sp>
      <p:sp>
        <p:nvSpPr>
          <p:cNvPr id="4" name="Text 2"/>
          <p:cNvSpPr/>
          <p:nvPr/>
        </p:nvSpPr>
        <p:spPr>
          <a:xfrm>
            <a:off x="812800" y="2509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F7A"/>
                </a:solidFill>
                <a:latin typeface="IBM Plex Sans" pitchFamily="34" charset="0"/>
                <a:ea typeface="IBM Plex Sans" pitchFamily="34" charset="-122"/>
                <a:cs typeface="IBM Plex Sans" pitchFamily="34" charset="-120"/>
              </a:rPr>
              <a:t>What's wrong with it? Which rule does it break? How would you write it?</a:t>
            </a:r>
            <a:endParaRPr lang="en-US" sz="1400" dirty="0"/>
          </a:p>
        </p:txBody>
      </p:sp>
      <p:sp>
        <p:nvSpPr>
          <p:cNvPr id="5" name="Shape 3"/>
          <p:cNvSpPr/>
          <p:nvPr/>
        </p:nvSpPr>
        <p:spPr>
          <a:xfrm>
            <a:off x="819150" y="3765550"/>
            <a:ext cx="10553700" cy="2019300"/>
          </a:xfrm>
          <a:prstGeom prst="roundRect">
            <a:avLst>
              <a:gd name="adj" fmla="val 4717"/>
            </a:avLst>
          </a:prstGeom>
          <a:solidFill>
            <a:srgbClr val="E6ECF3"/>
          </a:solidFill>
          <a:ln w="12700">
            <a:solidFill>
              <a:srgbClr val="1F2433"/>
            </a:solidFill>
            <a:prstDash val="solid"/>
          </a:ln>
        </p:spPr>
      </p:sp>
      <p:sp>
        <p:nvSpPr>
          <p:cNvPr id="6" name="Text 4"/>
          <p:cNvSpPr/>
          <p:nvPr/>
        </p:nvSpPr>
        <p:spPr>
          <a:xfrm>
            <a:off x="1130300" y="4025900"/>
            <a:ext cx="102293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NOTHING WRONG · RULE 8 KEPT</a:t>
            </a:r>
            <a:endParaRPr lang="en-US" sz="1200" dirty="0"/>
          </a:p>
        </p:txBody>
      </p:sp>
      <p:sp>
        <p:nvSpPr>
          <p:cNvPr id="7" name="Text 5"/>
          <p:cNvSpPr/>
          <p:nvPr/>
        </p:nvSpPr>
        <p:spPr>
          <a:xfrm>
            <a:off x="1130300" y="4340820"/>
            <a:ext cx="102293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050"/>
                </a:solidFill>
                <a:latin typeface="IBM Plex Sans" pitchFamily="34" charset="0"/>
                <a:ea typeface="IBM Plex Sans" pitchFamily="34" charset="-122"/>
                <a:cs typeface="IBM Plex Sans" pitchFamily="34" charset="-120"/>
              </a:rPr>
              <a:t>It's in Price's own book, and Stigler and Diniz &amp; Bellhouse both accept it.</a:t>
            </a:r>
            <a:endParaRPr lang="en-US" sz="1400" dirty="0"/>
          </a:p>
        </p:txBody>
      </p:sp>
      <p:sp>
        <p:nvSpPr>
          <p:cNvPr id="8" name="Text 6"/>
          <p:cNvSpPr/>
          <p:nvPr/>
        </p:nvSpPr>
        <p:spPr>
          <a:xfrm>
            <a:off x="1130300" y="4691261"/>
            <a:ext cx="10229342"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F2433"/>
                </a:solidFill>
                <a:latin typeface="EB Garamond" pitchFamily="18" charset="0"/>
                <a:ea typeface="EB Garamond" pitchFamily="18" charset="-122"/>
                <a:cs typeface="EB Garamond" pitchFamily="18" charset="-120"/>
              </a:rPr>
              <a:t>The dispute is about Bayes's motive, not Price's. Careful writing knows which claim is which.</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THE CAREFUL-SENTENCE GAME · ROUND 4 OF 4</a:t>
            </a:r>
            <a:endParaRPr lang="en-US" sz="1200" dirty="0"/>
          </a:p>
        </p:txBody>
      </p:sp>
      <p:sp>
        <p:nvSpPr>
          <p:cNvPr id="3" name="Text 1"/>
          <p:cNvSpPr/>
          <p:nvPr/>
        </p:nvSpPr>
        <p:spPr>
          <a:xfrm>
            <a:off x="812800" y="128012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1F2433"/>
                </a:solidFill>
                <a:latin typeface="EB Garamond" pitchFamily="18" charset="0"/>
                <a:ea typeface="EB Garamond" pitchFamily="18" charset="-122"/>
                <a:cs typeface="EB Garamond" pitchFamily="18" charset="-120"/>
              </a:rPr>
              <a:t>"Newton invented calculus, and Leibniz copied him."</a:t>
            </a:r>
            <a:endParaRPr lang="en-US" sz="3200" dirty="0"/>
          </a:p>
        </p:txBody>
      </p:sp>
      <p:sp>
        <p:nvSpPr>
          <p:cNvPr id="4" name="Text 2"/>
          <p:cNvSpPr/>
          <p:nvPr/>
        </p:nvSpPr>
        <p:spPr>
          <a:xfrm>
            <a:off x="812800" y="20217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F7A"/>
                </a:solidFill>
                <a:latin typeface="IBM Plex Sans" pitchFamily="34" charset="0"/>
                <a:ea typeface="IBM Plex Sans" pitchFamily="34" charset="-122"/>
                <a:cs typeface="IBM Plex Sans" pitchFamily="34" charset="-120"/>
              </a:rPr>
              <a:t>What's wrong with it? Which rule does it break? How would you write it?</a:t>
            </a:r>
            <a:endParaRPr lang="en-US" sz="1400" dirty="0"/>
          </a:p>
        </p:txBody>
      </p:sp>
      <p:sp>
        <p:nvSpPr>
          <p:cNvPr id="5" name="Shape 3"/>
          <p:cNvSpPr/>
          <p:nvPr/>
        </p:nvSpPr>
        <p:spPr>
          <a:xfrm>
            <a:off x="819150" y="3765550"/>
            <a:ext cx="10553700" cy="2019300"/>
          </a:xfrm>
          <a:prstGeom prst="roundRect">
            <a:avLst>
              <a:gd name="adj" fmla="val 4717"/>
            </a:avLst>
          </a:prstGeom>
          <a:solidFill>
            <a:srgbClr val="E6ECF3"/>
          </a:solidFill>
          <a:ln w="12700">
            <a:solidFill>
              <a:srgbClr val="1F2433"/>
            </a:solidFill>
            <a:prstDash val="solid"/>
          </a:ln>
        </p:spPr>
      </p:sp>
      <p:sp>
        <p:nvSpPr>
          <p:cNvPr id="6" name="Text 4"/>
          <p:cNvSpPr/>
          <p:nvPr/>
        </p:nvSpPr>
        <p:spPr>
          <a:xfrm>
            <a:off x="1130300" y="4025900"/>
            <a:ext cx="102293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BIASED SOURCE TAKEN AT FACE VALUE · RULE 5</a:t>
            </a:r>
            <a:endParaRPr lang="en-US" sz="1200" dirty="0"/>
          </a:p>
        </p:txBody>
      </p:sp>
      <p:sp>
        <p:nvSpPr>
          <p:cNvPr id="7" name="Text 5"/>
          <p:cNvSpPr/>
          <p:nvPr/>
        </p:nvSpPr>
        <p:spPr>
          <a:xfrm>
            <a:off x="1130300" y="4340820"/>
            <a:ext cx="102293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050"/>
                </a:solidFill>
                <a:latin typeface="IBM Plex Sans" pitchFamily="34" charset="0"/>
                <a:ea typeface="IBM Plex Sans" pitchFamily="34" charset="-122"/>
                <a:cs typeface="IBM Plex Sans" pitchFamily="34" charset="-120"/>
              </a:rPr>
              <a:t>It repeats the Royal Society's 1712 verdict — which Newton drafted himself.</a:t>
            </a:r>
            <a:endParaRPr lang="en-US" sz="1400" dirty="0"/>
          </a:p>
        </p:txBody>
      </p:sp>
      <p:sp>
        <p:nvSpPr>
          <p:cNvPr id="8" name="Text 6"/>
          <p:cNvSpPr/>
          <p:nvPr/>
        </p:nvSpPr>
        <p:spPr>
          <a:xfrm>
            <a:off x="1130300" y="4691261"/>
            <a:ext cx="10229342" cy="608211"/>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F2433"/>
                </a:solidFill>
                <a:latin typeface="EB Garamond" pitchFamily="18" charset="0"/>
                <a:ea typeface="EB Garamond" pitchFamily="18" charset="-122"/>
                <a:cs typeface="EB Garamond" pitchFamily="18" charset="-120"/>
              </a:rPr>
              <a:t>Careful: "Newton and Leibniz developed calculus independently; the 1712 report accusing Leibniz of plagiarism was drafted by Newton."</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NORBERTO LUCERO AZUARA</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A little bit about me</a:t>
            </a:r>
            <a:endParaRPr lang="en-US" sz="3600" dirty="0"/>
          </a:p>
        </p:txBody>
      </p:sp>
      <p:sp>
        <p:nvSpPr>
          <p:cNvPr id="4" name="Text 2"/>
          <p:cNvSpPr/>
          <p:nvPr/>
        </p:nvSpPr>
        <p:spPr>
          <a:xfrm>
            <a:off x="812800" y="1895673"/>
            <a:ext cx="10883392" cy="3263900"/>
          </a:xfrm>
          <a:prstGeom prst="rect">
            <a:avLst/>
          </a:prstGeom>
          <a:noFill/>
          <a:ln/>
        </p:spPr>
        <p:txBody>
          <a:bodyPr wrap="square" lIns="0" tIns="0" rIns="0" bIns="0" rtlCol="0" anchor="t">
            <a:normAutofit/>
          </a:bodyPr>
          <a:lstStyle/>
          <a:p>
            <a:pPr algn="l" marL="254000" indent="-203454">
              <a:lnSpc>
                <a:spcPts val="2550"/>
              </a:lnSpc>
              <a:buSzPct val="100000"/>
              <a:buChar char="•"/>
            </a:pPr>
            <a:r>
              <a:rPr lang="en-US" sz="1700" dirty="0">
                <a:solidFill>
                  <a:srgbClr val="3B4050"/>
                </a:solidFill>
                <a:latin typeface="IBM Plex Sans" pitchFamily="34" charset="0"/>
                <a:ea typeface="IBM Plex Sans" pitchFamily="34" charset="-122"/>
                <a:cs typeface="IBM Plex Sans" pitchFamily="34" charset="-120"/>
              </a:rPr>
              <a:t>I studied Mathematics and Physics in Mexico.</a:t>
            </a:r>
            <a:endParaRPr lang="en-US" sz="1700" dirty="0"/>
          </a:p>
          <a:p>
            <a:pPr algn="l" marL="254000" indent="-203454">
              <a:lnSpc>
                <a:spcPts val="2550"/>
              </a:lnSpc>
              <a:buSzPct val="100000"/>
              <a:buChar char="•"/>
            </a:pPr>
            <a:r>
              <a:rPr lang="en-US" sz="1700" dirty="0">
                <a:solidFill>
                  <a:srgbClr val="3B4050"/>
                </a:solidFill>
                <a:latin typeface="IBM Plex Sans" pitchFamily="34" charset="0"/>
                <a:ea typeface="IBM Plex Sans" pitchFamily="34" charset="-122"/>
                <a:cs typeface="IBM Plex Sans" pitchFamily="34" charset="-120"/>
              </a:rPr>
              <a:t>I finished my </a:t>
            </a:r>
            <a:r>
              <a:rPr lang="en-US" sz="1700" b="1" dirty="0">
                <a:solidFill>
                  <a:srgbClr val="3B4050"/>
                </a:solidFill>
                <a:latin typeface="IBM Plex Sans" pitchFamily="34" charset="0"/>
                <a:ea typeface="IBM Plex Sans" pitchFamily="34" charset="-122"/>
                <a:cs typeface="IBM Plex Sans" pitchFamily="34" charset="-120"/>
              </a:rPr>
              <a:t>PhD in Mathematics at QMUL</a:t>
            </a:r>
            <a:r>
              <a:rPr lang="en-US" sz="1700" dirty="0">
                <a:solidFill>
                  <a:srgbClr val="3B4050"/>
                </a:solidFill>
                <a:latin typeface="IBM Plex Sans" pitchFamily="34" charset="0"/>
                <a:ea typeface="IBM Plex Sans" pitchFamily="34" charset="-122"/>
                <a:cs typeface="IBM Plex Sans" pitchFamily="34" charset="-120"/>
              </a:rPr>
              <a:t>.</a:t>
            </a:r>
            <a:endParaRPr lang="en-US" sz="1700" dirty="0"/>
          </a:p>
          <a:p>
            <a:pPr algn="l" marL="254000" indent="-203454">
              <a:lnSpc>
                <a:spcPts val="2550"/>
              </a:lnSpc>
              <a:buSzPct val="100000"/>
              <a:buChar char="•"/>
            </a:pPr>
            <a:r>
              <a:rPr lang="en-US" sz="1700" dirty="0">
                <a:solidFill>
                  <a:srgbClr val="3B4050"/>
                </a:solidFill>
                <a:latin typeface="IBM Plex Sans" pitchFamily="34" charset="0"/>
                <a:ea typeface="IBM Plex Sans" pitchFamily="34" charset="-122"/>
                <a:cs typeface="IBM Plex Sans" pitchFamily="34" charset="-120"/>
              </a:rPr>
              <a:t>My research uses </a:t>
            </a:r>
            <a:r>
              <a:rPr lang="en-US" sz="1700" b="1" dirty="0">
                <a:solidFill>
                  <a:srgbClr val="3B4050"/>
                </a:solidFill>
                <a:latin typeface="IBM Plex Sans" pitchFamily="34" charset="0"/>
                <a:ea typeface="IBM Plex Sans" pitchFamily="34" charset="-122"/>
                <a:cs typeface="IBM Plex Sans" pitchFamily="34" charset="-120"/>
              </a:rPr>
              <a:t>stochastic processes</a:t>
            </a:r>
            <a:r>
              <a:rPr lang="en-US" sz="1700" dirty="0">
                <a:solidFill>
                  <a:srgbClr val="3B4050"/>
                </a:solidFill>
                <a:latin typeface="IBM Plex Sans" pitchFamily="34" charset="0"/>
                <a:ea typeface="IBM Plex Sans" pitchFamily="34" charset="-122"/>
                <a:cs typeface="IBM Plex Sans" pitchFamily="34" charset="-120"/>
              </a:rPr>
              <a:t>: calculus, probability, and random motion.</a:t>
            </a:r>
            <a:endParaRPr lang="en-US" sz="1700" dirty="0"/>
          </a:p>
          <a:p>
            <a:pPr algn="l" marL="254000" indent="-203454">
              <a:lnSpc>
                <a:spcPts val="2550"/>
              </a:lnSpc>
              <a:buSzPct val="100000"/>
              <a:buChar char="•"/>
            </a:pPr>
            <a:r>
              <a:rPr lang="en-US" sz="1700" dirty="0">
                <a:solidFill>
                  <a:srgbClr val="3B4050"/>
                </a:solidFill>
                <a:latin typeface="IBM Plex Sans" pitchFamily="34" charset="0"/>
                <a:ea typeface="IBM Plex Sans" pitchFamily="34" charset="-122"/>
                <a:cs typeface="IBM Plex Sans" pitchFamily="34" charset="-120"/>
              </a:rPr>
              <a:t>My research connects to the final part of the booklet's calculus chapter:  </a:t>
            </a:r>
            <a:r>
              <a:rPr lang="en-US" sz="1700" b="1" i="1" dirty="0">
                <a:solidFill>
                  <a:srgbClr val="3B4050"/>
                </a:solidFill>
                <a:latin typeface="IBM Plex Sans" pitchFamily="34" charset="0"/>
                <a:ea typeface="IBM Plex Sans" pitchFamily="34" charset="-122"/>
                <a:cs typeface="IBM Plex Sans" pitchFamily="34" charset="-120"/>
              </a:rPr>
              <a:t>Modern Calculus and Randomness.</a:t>
            </a:r>
            <a:endParaRPr lang="en-US" sz="1700" dirty="0"/>
          </a:p>
          <a:p>
            <a:pPr algn="l" indent="0" marL="0">
              <a:lnSpc>
                <a:spcPts val="2550"/>
              </a:lnSpc>
              <a:buNone/>
            </a:pPr>
            <a:endParaRPr lang="en-US" sz="1700" dirty="0"/>
          </a:p>
          <a:p>
            <a:pPr algn="l" indent="0" marL="0">
              <a:lnSpc>
                <a:spcPts val="2550"/>
              </a:lnSpc>
              <a:buNone/>
            </a:pPr>
            <a:r>
              <a:rPr lang="en-US" sz="1700" dirty="0">
                <a:solidFill>
                  <a:srgbClr val="3B4050"/>
                </a:solidFill>
                <a:latin typeface="IBM Plex Sans" pitchFamily="34" charset="0"/>
                <a:ea typeface="IBM Plex Sans" pitchFamily="34" charset="-122"/>
                <a:cs typeface="IBM Plex Sans" pitchFamily="34" charset="-120"/>
              </a:rPr>
              <a:t>In the booklet, I contributed to:</a:t>
            </a:r>
            <a:endParaRPr lang="en-US" sz="1700" dirty="0"/>
          </a:p>
          <a:p>
            <a:pPr algn="l" marL="254000" indent="-203454">
              <a:lnSpc>
                <a:spcPts val="2550"/>
              </a:lnSpc>
              <a:buSzPct val="100000"/>
              <a:buChar char="•"/>
            </a:pPr>
            <a:r>
              <a:rPr lang="en-US" sz="1700" b="1" dirty="0">
                <a:solidFill>
                  <a:srgbClr val="3B4050"/>
                </a:solidFill>
                <a:latin typeface="IBM Plex Sans" pitchFamily="34" charset="0"/>
                <a:ea typeface="IBM Plex Sans" pitchFamily="34" charset="-122"/>
                <a:cs typeface="IBM Plex Sans" pitchFamily="34" charset="-120"/>
              </a:rPr>
              <a:t>Chapter 2</a:t>
            </a:r>
            <a:r>
              <a:rPr lang="en-US" sz="1700" dirty="0">
                <a:solidFill>
                  <a:srgbClr val="3B4050"/>
                </a:solidFill>
                <a:latin typeface="IBM Plex Sans" pitchFamily="34" charset="0"/>
                <a:ea typeface="IBM Plex Sans" pitchFamily="34" charset="-122"/>
                <a:cs typeface="IBM Plex Sans" pitchFamily="34" charset="-120"/>
              </a:rPr>
              <a:t>, </a:t>
            </a:r>
            <a:r>
              <a:rPr lang="en-US" sz="1700" i="1" dirty="0">
                <a:solidFill>
                  <a:srgbClr val="3B4050"/>
                </a:solidFill>
                <a:latin typeface="IBM Plex Sans" pitchFamily="34" charset="0"/>
                <a:ea typeface="IBM Plex Sans" pitchFamily="34" charset="-122"/>
                <a:cs typeface="IBM Plex Sans" pitchFamily="34" charset="-120"/>
              </a:rPr>
              <a:t>The Pythagoras Theorem</a:t>
            </a:r>
            <a:endParaRPr lang="en-US" sz="1700" dirty="0"/>
          </a:p>
          <a:p>
            <a:pPr algn="l" marL="254000" indent="-203454">
              <a:lnSpc>
                <a:spcPts val="2550"/>
              </a:lnSpc>
              <a:buSzPct val="100000"/>
              <a:buChar char="•"/>
            </a:pPr>
            <a:r>
              <a:rPr lang="en-US" sz="1700" b="1" dirty="0">
                <a:solidFill>
                  <a:srgbClr val="3B4050"/>
                </a:solidFill>
                <a:latin typeface="IBM Plex Sans" pitchFamily="34" charset="0"/>
                <a:ea typeface="IBM Plex Sans" pitchFamily="34" charset="-122"/>
                <a:cs typeface="IBM Plex Sans" pitchFamily="34" charset="-120"/>
              </a:rPr>
              <a:t>Chapter 5</a:t>
            </a:r>
            <a:r>
              <a:rPr lang="en-US" sz="1700" dirty="0">
                <a:solidFill>
                  <a:srgbClr val="3B4050"/>
                </a:solidFill>
                <a:latin typeface="IBM Plex Sans" pitchFamily="34" charset="0"/>
                <a:ea typeface="IBM Plex Sans" pitchFamily="34" charset="-122"/>
                <a:cs typeface="IBM Plex Sans" pitchFamily="34" charset="-120"/>
              </a:rPr>
              <a:t>, </a:t>
            </a:r>
            <a:r>
              <a:rPr lang="en-US" sz="1700" i="1" dirty="0">
                <a:solidFill>
                  <a:srgbClr val="3B4050"/>
                </a:solidFill>
                <a:latin typeface="IBM Plex Sans" pitchFamily="34" charset="0"/>
                <a:ea typeface="IBM Plex Sans" pitchFamily="34" charset="-122"/>
                <a:cs typeface="IBM Plex Sans" pitchFamily="34" charset="-120"/>
              </a:rPr>
              <a:t>Algorithms for Solving Algebraic Equations</a:t>
            </a:r>
            <a:endParaRPr lang="en-US" sz="1700" dirty="0"/>
          </a:p>
          <a:p>
            <a:pPr algn="l" marL="254000" indent="-203454">
              <a:lnSpc>
                <a:spcPts val="2550"/>
              </a:lnSpc>
              <a:buSzPct val="100000"/>
              <a:buChar char="•"/>
            </a:pPr>
            <a:r>
              <a:rPr lang="en-US" sz="1700" b="1" dirty="0">
                <a:solidFill>
                  <a:srgbClr val="3B4050"/>
                </a:solidFill>
                <a:latin typeface="IBM Plex Sans" pitchFamily="34" charset="0"/>
                <a:ea typeface="IBM Plex Sans" pitchFamily="34" charset="-122"/>
                <a:cs typeface="IBM Plex Sans" pitchFamily="34" charset="-120"/>
              </a:rPr>
              <a:t>Chapter 6</a:t>
            </a:r>
            <a:r>
              <a:rPr lang="en-US" sz="1700" dirty="0">
                <a:solidFill>
                  <a:srgbClr val="3B4050"/>
                </a:solidFill>
                <a:latin typeface="IBM Plex Sans" pitchFamily="34" charset="0"/>
                <a:ea typeface="IBM Plex Sans" pitchFamily="34" charset="-122"/>
                <a:cs typeface="IBM Plex Sans" pitchFamily="34" charset="-120"/>
              </a:rPr>
              <a:t>, </a:t>
            </a:r>
            <a:r>
              <a:rPr lang="en-US" sz="1700" i="1" dirty="0">
                <a:solidFill>
                  <a:srgbClr val="3B4050"/>
                </a:solidFill>
                <a:latin typeface="IBM Plex Sans" pitchFamily="34" charset="0"/>
                <a:ea typeface="IBM Plex Sans" pitchFamily="34" charset="-122"/>
                <a:cs typeface="IBM Plex Sans" pitchFamily="34" charset="-120"/>
              </a:rPr>
              <a:t>Calculus: A Global History of Change, Motion, and the Infinite</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27720"/>
            <a:ext cx="10883392" cy="61208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1F2433"/>
                </a:solidFill>
                <a:latin typeface="EB Garamond" pitchFamily="18" charset="0"/>
                <a:ea typeface="EB Garamond" pitchFamily="18" charset="-122"/>
                <a:cs typeface="EB Garamond" pitchFamily="18" charset="-120"/>
              </a:rPr>
              <a:t>Aim of the session</a:t>
            </a:r>
            <a:endParaRPr lang="en-US" sz="4400" dirty="0"/>
          </a:p>
        </p:txBody>
      </p:sp>
      <p:sp>
        <p:nvSpPr>
          <p:cNvPr id="4" name="Text 2"/>
          <p:cNvSpPr/>
          <p:nvPr/>
        </p:nvSpPr>
        <p:spPr>
          <a:xfrm>
            <a:off x="812800" y="1816001"/>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3B4050"/>
                </a:solidFill>
                <a:latin typeface="IBM Plex Sans" pitchFamily="34" charset="0"/>
                <a:ea typeface="IBM Plex Sans" pitchFamily="34" charset="-122"/>
                <a:cs typeface="IBM Plex Sans" pitchFamily="34" charset="-120"/>
              </a:rPr>
              <a:t>We will test some common claims about calculus.</a:t>
            </a:r>
            <a:endParaRPr lang="en-US" sz="1800" dirty="0"/>
          </a:p>
        </p:txBody>
      </p:sp>
      <p:sp>
        <p:nvSpPr>
          <p:cNvPr id="5" name="Shape 3"/>
          <p:cNvSpPr/>
          <p:nvPr/>
        </p:nvSpPr>
        <p:spPr>
          <a:xfrm>
            <a:off x="819150" y="2447131"/>
            <a:ext cx="10553700" cy="1480741"/>
          </a:xfrm>
          <a:prstGeom prst="roundRect">
            <a:avLst>
              <a:gd name="adj" fmla="val 9863"/>
            </a:avLst>
          </a:prstGeom>
          <a:solidFill>
            <a:srgbClr val="E6ECF3"/>
          </a:solidFill>
          <a:ln w="12700">
            <a:solidFill>
              <a:srgbClr val="1F2433"/>
            </a:solidFill>
            <a:prstDash val="solid"/>
          </a:ln>
        </p:spPr>
      </p:sp>
      <p:sp>
        <p:nvSpPr>
          <p:cNvPr id="6" name="Text 4"/>
          <p:cNvSpPr/>
          <p:nvPr/>
        </p:nvSpPr>
        <p:spPr>
          <a:xfrm>
            <a:off x="4757747" y="2758281"/>
            <a:ext cx="2676406" cy="238720"/>
          </a:xfrm>
          <a:prstGeom prst="rect">
            <a:avLst/>
          </a:prstGeom>
          <a:noFill/>
          <a:ln/>
        </p:spPr>
        <p:txBody>
          <a:bodyPr wrap="square" lIns="0" tIns="0" rIns="0" bIns="0" rtlCol="0" anchor="t">
            <a:normAutofit/>
          </a:bodyPr>
          <a:lstStyle/>
          <a:p>
            <a:pPr algn="ctr"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CLAIM TO INVESTIGATE</a:t>
            </a:r>
            <a:endParaRPr lang="en-US" sz="1200" dirty="0"/>
          </a:p>
        </p:txBody>
      </p:sp>
      <p:sp>
        <p:nvSpPr>
          <p:cNvPr id="7" name="Text 5"/>
          <p:cNvSpPr/>
          <p:nvPr/>
        </p:nvSpPr>
        <p:spPr>
          <a:xfrm>
            <a:off x="825500" y="3098602"/>
            <a:ext cx="10540901" cy="543520"/>
          </a:xfrm>
          <a:prstGeom prst="rect">
            <a:avLst/>
          </a:prstGeom>
          <a:noFill/>
          <a:ln/>
        </p:spPr>
        <p:txBody>
          <a:bodyPr wrap="square" lIns="0" tIns="0" rIns="0" bIns="0" rtlCol="0" anchor="t">
            <a:normAutofit/>
          </a:bodyPr>
          <a:lstStyle/>
          <a:p>
            <a:pPr algn="ctr" indent="0" marL="0">
              <a:lnSpc>
                <a:spcPts val="4080"/>
              </a:lnSpc>
              <a:buNone/>
            </a:pPr>
            <a:r>
              <a:rPr lang="en-US" sz="3400" dirty="0">
                <a:solidFill>
                  <a:srgbClr val="1F2433"/>
                </a:solidFill>
                <a:latin typeface="EB Garamond" pitchFamily="18" charset="0"/>
                <a:ea typeface="EB Garamond" pitchFamily="18" charset="-122"/>
                <a:cs typeface="EB Garamond" pitchFamily="18" charset="-120"/>
              </a:rPr>
              <a:t>“Newton invented calculus, and Leibniz copied him.”</a:t>
            </a:r>
            <a:endParaRPr lang="en-US" sz="3400" dirty="0"/>
          </a:p>
        </p:txBody>
      </p:sp>
      <p:sp>
        <p:nvSpPr>
          <p:cNvPr id="8" name="Text 6"/>
          <p:cNvSpPr/>
          <p:nvPr/>
        </p:nvSpPr>
        <p:spPr>
          <a:xfrm>
            <a:off x="812800" y="4239022"/>
            <a:ext cx="927246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433"/>
                </a:solidFill>
                <a:latin typeface="IBM Plex Sans" pitchFamily="34" charset="0"/>
                <a:ea typeface="IBM Plex Sans" pitchFamily="34" charset="-122"/>
                <a:cs typeface="IBM Plex Sans" pitchFamily="34" charset="-120"/>
              </a:rPr>
              <a:t>By the end, we should be able to explain why this sentence is </a:t>
            </a:r>
            <a:r>
              <a:rPr lang="en-US" sz="1600" b="1" dirty="0">
                <a:solidFill>
                  <a:srgbClr val="1F2433"/>
                </a:solidFill>
                <a:latin typeface="IBM Plex Sans" pitchFamily="34" charset="0"/>
                <a:ea typeface="IBM Plex Sans" pitchFamily="34" charset="-122"/>
                <a:cs typeface="IBM Plex Sans" pitchFamily="34" charset="-120"/>
              </a:rPr>
              <a:t>historically too simple</a:t>
            </a:r>
            <a:r>
              <a:rPr lang="en-US" sz="1600" dirty="0">
                <a:solidFill>
                  <a:srgbClr val="1F2433"/>
                </a:solidFill>
                <a:latin typeface="IBM Plex Sans" pitchFamily="34" charset="0"/>
                <a:ea typeface="IBM Plex Sans" pitchFamily="34" charset="-122"/>
                <a:cs typeface="IBM Plex Sans" pitchFamily="34" charset="-120"/>
              </a:rPr>
              <a:t>.</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For each claim</a:t>
            </a:r>
            <a:endParaRPr lang="en-US" sz="3600" dirty="0"/>
          </a:p>
        </p:txBody>
      </p:sp>
      <p:sp>
        <p:nvSpPr>
          <p:cNvPr id="4" name="Shape 2"/>
          <p:cNvSpPr/>
          <p:nvPr/>
        </p:nvSpPr>
        <p:spPr>
          <a:xfrm>
            <a:off x="819150" y="1865511"/>
            <a:ext cx="10553700" cy="1605260"/>
          </a:xfrm>
          <a:prstGeom prst="roundRect">
            <a:avLst>
              <a:gd name="adj" fmla="val 5934"/>
            </a:avLst>
          </a:prstGeom>
          <a:solidFill>
            <a:srgbClr val="F7EBD6"/>
          </a:solidFill>
          <a:ln w="12700">
            <a:solidFill>
              <a:srgbClr val="E0A458"/>
            </a:solidFill>
            <a:prstDash val="solid"/>
          </a:ln>
        </p:spPr>
      </p:sp>
      <p:sp>
        <p:nvSpPr>
          <p:cNvPr id="5" name="Text 3"/>
          <p:cNvSpPr/>
          <p:nvPr/>
        </p:nvSpPr>
        <p:spPr>
          <a:xfrm>
            <a:off x="1079500" y="2075061"/>
            <a:ext cx="1033399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8C2F39"/>
                </a:solidFill>
                <a:latin typeface="IBM Plex Sans" pitchFamily="34" charset="0"/>
                <a:ea typeface="IBM Plex Sans" pitchFamily="34" charset="-122"/>
                <a:cs typeface="IBM Plex Sans" pitchFamily="34" charset="-120"/>
              </a:rPr>
              <a:t>FOR EACH CLAIM:</a:t>
            </a:r>
            <a:endParaRPr lang="en-US" sz="1100" dirty="0"/>
          </a:p>
        </p:txBody>
      </p:sp>
      <p:sp>
        <p:nvSpPr>
          <p:cNvPr id="6" name="Text 4"/>
          <p:cNvSpPr/>
          <p:nvPr/>
        </p:nvSpPr>
        <p:spPr>
          <a:xfrm>
            <a:off x="1108273" y="2346821"/>
            <a:ext cx="10297597" cy="939800"/>
          </a:xfrm>
          <a:prstGeom prst="rect">
            <a:avLst/>
          </a:prstGeom>
          <a:noFill/>
          <a:ln/>
        </p:spPr>
        <p:txBody>
          <a:bodyPr wrap="square" lIns="0" tIns="0" rIns="0" bIns="0" rtlCol="0" anchor="t">
            <a:normAutofit/>
          </a:bodyPr>
          <a:lstStyle/>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Decide: </a:t>
            </a:r>
            <a:r>
              <a:rPr lang="en-US" sz="1600" b="1" dirty="0">
                <a:solidFill>
                  <a:srgbClr val="3B4050"/>
                </a:solidFill>
                <a:latin typeface="IBM Plex Sans" pitchFamily="34" charset="0"/>
                <a:ea typeface="IBM Plex Sans" pitchFamily="34" charset="-122"/>
                <a:cs typeface="IBM Plex Sans" pitchFamily="34" charset="-120"/>
              </a:rPr>
              <a:t>true, false, or misleading?</a:t>
            </a:r>
            <a:endParaRPr lang="en-US" sz="1600" dirty="0"/>
          </a:p>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Identify what mathematical idea is involved.</a:t>
            </a:r>
            <a:endParaRPr lang="en-US" sz="1600" dirty="0"/>
          </a:p>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Ask: who or what disappears if we say it too quickly?</a:t>
            </a:r>
            <a:endParaRPr lang="en-US" sz="1600" dirty="0"/>
          </a:p>
        </p:txBody>
      </p:sp>
      <p:sp>
        <p:nvSpPr>
          <p:cNvPr id="7" name="Text 5"/>
          <p:cNvSpPr/>
          <p:nvPr/>
        </p:nvSpPr>
        <p:spPr>
          <a:xfrm>
            <a:off x="2165350" y="3737471"/>
            <a:ext cx="2273300" cy="547291"/>
          </a:xfrm>
          <a:prstGeom prst="roundRect">
            <a:avLst>
              <a:gd name="adj" fmla="val 12763"/>
            </a:avLst>
          </a:prstGeom>
          <a:solidFill>
            <a:srgbClr val="FBF8F1"/>
          </a:solidFill>
          <a:ln w="12700">
            <a:solidFill>
              <a:srgbClr val="1F2433"/>
            </a:solidFill>
            <a:prstDash val="solid"/>
          </a:ln>
        </p:spPr>
        <p:txBody>
          <a:bodyPr wrap="square" lIns="163692" tIns="100192" rIns="163692" bIns="100192" rtlCol="0" anchor="ctr">
            <a:normAutofit/>
          </a:bodyPr>
          <a:lstStyle/>
          <a:p>
            <a:pPr algn="ctr" indent="0" marL="0">
              <a:lnSpc>
                <a:spcPts val="2210"/>
              </a:lnSpc>
              <a:buNone/>
            </a:pPr>
            <a:r>
              <a:rPr lang="en-US" sz="1700" dirty="0">
                <a:solidFill>
                  <a:srgbClr val="1F2433"/>
                </a:solidFill>
                <a:latin typeface="IBM Plex Sans" pitchFamily="34" charset="0"/>
                <a:ea typeface="IBM Plex Sans" pitchFamily="34" charset="-122"/>
                <a:cs typeface="IBM Plex Sans" pitchFamily="34" charset="-120"/>
              </a:rPr>
              <a:t>Mathematics</a:t>
            </a:r>
            <a:endParaRPr lang="en-US" sz="1700" dirty="0"/>
          </a:p>
        </p:txBody>
      </p:sp>
      <p:sp>
        <p:nvSpPr>
          <p:cNvPr id="8" name="Text 6"/>
          <p:cNvSpPr/>
          <p:nvPr/>
        </p:nvSpPr>
        <p:spPr>
          <a:xfrm>
            <a:off x="4572000" y="3833316"/>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C2F39"/>
                </a:solidFill>
                <a:latin typeface="IBM Plex Sans" pitchFamily="34" charset="0"/>
                <a:ea typeface="IBM Plex Sans" pitchFamily="34" charset="-122"/>
                <a:cs typeface="IBM Plex Sans" pitchFamily="34" charset="-120"/>
              </a:rPr>
              <a:t>→</a:t>
            </a:r>
            <a:endParaRPr lang="en-US" sz="2000" dirty="0"/>
          </a:p>
        </p:txBody>
      </p:sp>
      <p:sp>
        <p:nvSpPr>
          <p:cNvPr id="9" name="Text 7"/>
          <p:cNvSpPr/>
          <p:nvPr/>
        </p:nvSpPr>
        <p:spPr>
          <a:xfrm>
            <a:off x="4959350" y="3737471"/>
            <a:ext cx="2273300" cy="547291"/>
          </a:xfrm>
          <a:prstGeom prst="roundRect">
            <a:avLst>
              <a:gd name="adj" fmla="val 12763"/>
            </a:avLst>
          </a:prstGeom>
          <a:solidFill>
            <a:srgbClr val="FBF8F1"/>
          </a:solidFill>
          <a:ln w="12700">
            <a:solidFill>
              <a:srgbClr val="1F2433"/>
            </a:solidFill>
            <a:prstDash val="solid"/>
          </a:ln>
        </p:spPr>
        <p:txBody>
          <a:bodyPr wrap="square" lIns="163692" tIns="100192" rIns="163692" bIns="100192" rtlCol="0" anchor="ctr">
            <a:normAutofit/>
          </a:bodyPr>
          <a:lstStyle/>
          <a:p>
            <a:pPr algn="ctr" indent="0" marL="0">
              <a:lnSpc>
                <a:spcPts val="2210"/>
              </a:lnSpc>
              <a:buNone/>
            </a:pPr>
            <a:r>
              <a:rPr lang="en-US" sz="1700" dirty="0">
                <a:solidFill>
                  <a:srgbClr val="1F2433"/>
                </a:solidFill>
                <a:latin typeface="IBM Plex Sans" pitchFamily="34" charset="0"/>
                <a:ea typeface="IBM Plex Sans" pitchFamily="34" charset="-122"/>
                <a:cs typeface="IBM Plex Sans" pitchFamily="34" charset="-120"/>
              </a:rPr>
              <a:t>History</a:t>
            </a:r>
            <a:endParaRPr lang="en-US" sz="1700" dirty="0"/>
          </a:p>
        </p:txBody>
      </p:sp>
      <p:sp>
        <p:nvSpPr>
          <p:cNvPr id="10" name="Text 8"/>
          <p:cNvSpPr/>
          <p:nvPr/>
        </p:nvSpPr>
        <p:spPr>
          <a:xfrm>
            <a:off x="7366000" y="3833316"/>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C2F39"/>
                </a:solidFill>
                <a:latin typeface="IBM Plex Sans" pitchFamily="34" charset="0"/>
                <a:ea typeface="IBM Plex Sans" pitchFamily="34" charset="-122"/>
                <a:cs typeface="IBM Plex Sans" pitchFamily="34" charset="-120"/>
              </a:rPr>
              <a:t>→</a:t>
            </a:r>
            <a:endParaRPr lang="en-US" sz="2000" dirty="0"/>
          </a:p>
        </p:txBody>
      </p:sp>
      <p:sp>
        <p:nvSpPr>
          <p:cNvPr id="11" name="Text 9"/>
          <p:cNvSpPr/>
          <p:nvPr/>
        </p:nvSpPr>
        <p:spPr>
          <a:xfrm>
            <a:off x="7753350" y="3737471"/>
            <a:ext cx="2273300" cy="547291"/>
          </a:xfrm>
          <a:prstGeom prst="roundRect">
            <a:avLst>
              <a:gd name="adj" fmla="val 12763"/>
            </a:avLst>
          </a:prstGeom>
          <a:solidFill>
            <a:srgbClr val="FBF8F1"/>
          </a:solidFill>
          <a:ln w="12700">
            <a:solidFill>
              <a:srgbClr val="1F2433"/>
            </a:solidFill>
            <a:prstDash val="solid"/>
          </a:ln>
        </p:spPr>
        <p:txBody>
          <a:bodyPr wrap="square" lIns="163692" tIns="100192" rIns="163692" bIns="100192" rtlCol="0" anchor="ctr">
            <a:normAutofit/>
          </a:bodyPr>
          <a:lstStyle/>
          <a:p>
            <a:pPr algn="ctr" indent="0" marL="0">
              <a:lnSpc>
                <a:spcPts val="2210"/>
              </a:lnSpc>
              <a:buNone/>
            </a:pPr>
            <a:r>
              <a:rPr lang="en-US" sz="1700" dirty="0">
                <a:solidFill>
                  <a:srgbClr val="1F2433"/>
                </a:solidFill>
                <a:latin typeface="IBM Plex Sans" pitchFamily="34" charset="0"/>
                <a:ea typeface="IBM Plex Sans" pitchFamily="34" charset="-122"/>
                <a:cs typeface="IBM Plex Sans" pitchFamily="34" charset="-120"/>
              </a:rPr>
              <a:t>Credit</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Claim 1: “Newton invented calculus alone”</a:t>
            </a:r>
            <a:endParaRPr lang="en-US" sz="3200" dirty="0"/>
          </a:p>
        </p:txBody>
      </p:sp>
      <p:sp>
        <p:nvSpPr>
          <p:cNvPr id="4" name="Text 2"/>
          <p:cNvSpPr/>
          <p:nvPr/>
        </p:nvSpPr>
        <p:spPr>
          <a:xfrm>
            <a:off x="819150" y="1758851"/>
            <a:ext cx="10553700" cy="764480"/>
          </a:xfrm>
          <a:prstGeom prst="roundRect">
            <a:avLst>
              <a:gd name="adj" fmla="val 12459"/>
            </a:avLst>
          </a:prstGeom>
          <a:solidFill>
            <a:srgbClr val="FBF8F1"/>
          </a:solidFill>
          <a:ln w="12700">
            <a:solidFill>
              <a:srgbClr val="6B6F7A"/>
            </a:solidFill>
            <a:prstDash val="solid"/>
          </a:ln>
        </p:spPr>
        <p:txBody>
          <a:bodyPr wrap="square" lIns="232452" tIns="156252" rIns="232452" bIns="130852" rtlCol="0" anchor="t">
            <a:normAutofit/>
          </a:bodyPr>
          <a:lstStyle/>
          <a:p>
            <a:pPr algn="ctr" indent="0" marL="0">
              <a:lnSpc>
                <a:spcPts val="3120"/>
              </a:lnSpc>
              <a:buNone/>
            </a:pPr>
            <a:r>
              <a:rPr lang="en-US" sz="2600" dirty="0">
                <a:solidFill>
                  <a:srgbClr val="1F2433"/>
                </a:solidFill>
                <a:latin typeface="EB Garamond" pitchFamily="18" charset="0"/>
                <a:ea typeface="EB Garamond" pitchFamily="18" charset="-122"/>
                <a:cs typeface="EB Garamond" pitchFamily="18" charset="-120"/>
              </a:rPr>
              <a:t>Newton invented calculus alone.</a:t>
            </a:r>
            <a:endParaRPr lang="en-US" sz="2600" dirty="0"/>
          </a:p>
        </p:txBody>
      </p:sp>
      <p:sp>
        <p:nvSpPr>
          <p:cNvPr id="5" name="Text 3"/>
          <p:cNvSpPr/>
          <p:nvPr/>
        </p:nvSpPr>
        <p:spPr>
          <a:xfrm>
            <a:off x="812800" y="2732881"/>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What is true?</a:t>
            </a:r>
            <a:endParaRPr lang="en-US" sz="1500" dirty="0"/>
          </a:p>
        </p:txBody>
      </p:sp>
      <p:sp>
        <p:nvSpPr>
          <p:cNvPr id="6" name="Text 4"/>
          <p:cNvSpPr/>
          <p:nvPr/>
        </p:nvSpPr>
        <p:spPr>
          <a:xfrm>
            <a:off x="883920" y="3101181"/>
            <a:ext cx="5153660"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Newton created a powerful systematic calculus.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His language of </a:t>
            </a:r>
            <a:r>
              <a:rPr lang="en-US" sz="1500" i="1" dirty="0">
                <a:solidFill>
                  <a:srgbClr val="3B4050"/>
                </a:solidFill>
                <a:latin typeface="IBM Plex Sans" pitchFamily="34" charset="0"/>
                <a:ea typeface="IBM Plex Sans" pitchFamily="34" charset="-122"/>
                <a:cs typeface="IBM Plex Sans" pitchFamily="34" charset="-120"/>
              </a:rPr>
              <a:t>fluents</a:t>
            </a:r>
            <a:r>
              <a:rPr lang="en-US" sz="1500" dirty="0">
                <a:solidFill>
                  <a:srgbClr val="3B4050"/>
                </a:solidFill>
                <a:latin typeface="IBM Plex Sans" pitchFamily="34" charset="0"/>
                <a:ea typeface="IBM Plex Sans" pitchFamily="34" charset="-122"/>
                <a:cs typeface="IBM Plex Sans" pitchFamily="34" charset="-120"/>
              </a:rPr>
              <a:t> and </a:t>
            </a:r>
            <a:r>
              <a:rPr lang="en-US" sz="1500" i="1" dirty="0">
                <a:solidFill>
                  <a:srgbClr val="3B4050"/>
                </a:solidFill>
                <a:latin typeface="IBM Plex Sans" pitchFamily="34" charset="0"/>
                <a:ea typeface="IBM Plex Sans" pitchFamily="34" charset="-122"/>
                <a:cs typeface="IBM Plex Sans" pitchFamily="34" charset="-120"/>
              </a:rPr>
              <a:t>fluxions</a:t>
            </a:r>
            <a:r>
              <a:rPr lang="en-US" sz="1500" dirty="0">
                <a:solidFill>
                  <a:srgbClr val="3B4050"/>
                </a:solidFill>
                <a:latin typeface="IBM Plex Sans" pitchFamily="34" charset="0"/>
                <a:ea typeface="IBM Plex Sans" pitchFamily="34" charset="-122"/>
                <a:cs typeface="IBM Plex Sans" pitchFamily="34" charset="-120"/>
              </a:rPr>
              <a:t> suited motion and mechanics.</a:t>
            </a:r>
            <a:endParaRPr lang="en-US" sz="1500" dirty="0"/>
          </a:p>
        </p:txBody>
      </p:sp>
      <p:sp>
        <p:nvSpPr>
          <p:cNvPr id="7" name="Text 5"/>
          <p:cNvSpPr/>
          <p:nvPr/>
        </p:nvSpPr>
        <p:spPr>
          <a:xfrm>
            <a:off x="819150" y="4066381"/>
            <a:ext cx="5067300" cy="580330"/>
          </a:xfrm>
          <a:prstGeom prst="roundRect">
            <a:avLst>
              <a:gd name="adj" fmla="val 16413"/>
            </a:avLst>
          </a:prstGeom>
          <a:solidFill>
            <a:srgbClr val="E6ECF3"/>
          </a:solidFill>
          <a:ln w="12700">
            <a:solidFill>
              <a:srgbClr val="1F2433"/>
            </a:solidFill>
            <a:prstDash val="solid"/>
          </a:ln>
        </p:spPr>
        <p:txBody>
          <a:bodyPr wrap="square" lIns="111929" tIns="105452" rIns="111929" bIns="80052" rtlCol="0" anchor="t">
            <a:normAutofit/>
          </a:bodyPr>
          <a:lstStyle/>
          <a:p>
            <a:pPr algn="ctr" indent="0" marL="0">
              <a:lnSpc>
                <a:spcPts val="2470"/>
              </a:lnSpc>
              <a:buNone/>
            </a:pPr>
            <a:r>
              <a:rPr lang="en-US" sz="1900" dirty="0">
                <a:solidFill>
                  <a:srgbClr val="1F2433"/>
                </a:solidFill>
                <a:latin typeface="EB Garamond" pitchFamily="18" charset="0"/>
                <a:ea typeface="EB Garamond" pitchFamily="18" charset="-122"/>
                <a:cs typeface="EB Garamond" pitchFamily="18" charset="-120"/>
              </a:rPr>
              <a:t>ẋ(t) = dx/dt,     ẍ(t) = d²x/dt²</a:t>
            </a:r>
            <a:endParaRPr lang="en-US" sz="1900" dirty="0"/>
          </a:p>
        </p:txBody>
      </p:sp>
      <p:sp>
        <p:nvSpPr>
          <p:cNvPr id="8" name="Text 6"/>
          <p:cNvSpPr/>
          <p:nvPr/>
        </p:nvSpPr>
        <p:spPr>
          <a:xfrm>
            <a:off x="6299200" y="2732881"/>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What is missing?</a:t>
            </a:r>
            <a:endParaRPr lang="en-US" sz="1500" dirty="0"/>
          </a:p>
        </p:txBody>
      </p:sp>
      <p:sp>
        <p:nvSpPr>
          <p:cNvPr id="9" name="Text 7"/>
          <p:cNvSpPr/>
          <p:nvPr/>
        </p:nvSpPr>
        <p:spPr>
          <a:xfrm>
            <a:off x="6370320" y="3101181"/>
            <a:ext cx="5153660"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Exhaustion and approximation.</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Tangent and quadrature problems.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Infinitesimals and indivisibles.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Infinite series and algebraic methods.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Activity: build the background</a:t>
            </a:r>
            <a:endParaRPr lang="en-US" sz="3200" dirty="0"/>
          </a:p>
        </p:txBody>
      </p:sp>
      <p:sp>
        <p:nvSpPr>
          <p:cNvPr id="4" name="Text 2"/>
          <p:cNvSpPr/>
          <p:nvPr/>
        </p:nvSpPr>
        <p:spPr>
          <a:xfrm>
            <a:off x="819150" y="1758851"/>
            <a:ext cx="10553700" cy="593725"/>
          </a:xfrm>
          <a:prstGeom prst="roundRect">
            <a:avLst>
              <a:gd name="adj" fmla="val 16043"/>
            </a:avLst>
          </a:prstGeom>
          <a:solidFill>
            <a:srgbClr val="F7EBD6"/>
          </a:solidFill>
          <a:ln w="12700">
            <a:solidFill>
              <a:srgbClr val="E0A458"/>
            </a:solidFill>
            <a:prstDash val="solid"/>
          </a:ln>
        </p:spPr>
        <p:txBody>
          <a:bodyPr wrap="square" lIns="232452" tIns="130852" rIns="0" bIns="105452" rtlCol="0" anchor="t">
            <a:normAutofit/>
          </a:bodyPr>
          <a:lstStyle/>
          <a:p>
            <a:pPr algn="l" indent="0" marL="0">
              <a:lnSpc>
                <a:spcPts val="2175"/>
              </a:lnSpc>
              <a:buNone/>
            </a:pPr>
            <a:r>
              <a:rPr lang="en-US" sz="1500" b="1" dirty="0">
                <a:solidFill>
                  <a:srgbClr val="1F2433"/>
                </a:solidFill>
                <a:latin typeface="IBM Plex Sans" pitchFamily="34" charset="0"/>
                <a:ea typeface="IBM Plex Sans" pitchFamily="34" charset="-122"/>
                <a:cs typeface="IBM Plex Sans" pitchFamily="34" charset="-120"/>
              </a:rPr>
              <a:t>Pair task, 3 minutes:</a:t>
            </a:r>
            <a:r>
              <a:rPr lang="en-US" sz="1500" dirty="0">
                <a:solidFill>
                  <a:srgbClr val="1F2433"/>
                </a:solidFill>
                <a:latin typeface="IBM Plex Sans" pitchFamily="34" charset="0"/>
                <a:ea typeface="IBM Plex Sans" pitchFamily="34" charset="-122"/>
                <a:cs typeface="IBM Plex Sans" pitchFamily="34" charset="-120"/>
              </a:rPr>
              <a:t> choose one ingredient below and explain how it prepares the way for calculus.</a:t>
            </a:r>
            <a:endParaRPr lang="en-US" sz="1500" dirty="0"/>
          </a:p>
        </p:txBody>
      </p:sp>
      <p:sp>
        <p:nvSpPr>
          <p:cNvPr id="5" name="Text 3"/>
          <p:cNvSpPr/>
          <p:nvPr/>
        </p:nvSpPr>
        <p:spPr>
          <a:xfrm>
            <a:off x="1835150" y="2568476"/>
            <a:ext cx="4178300" cy="565150"/>
          </a:xfrm>
          <a:prstGeom prst="roundRect">
            <a:avLst>
              <a:gd name="adj" fmla="val 12360"/>
            </a:avLst>
          </a:prstGeom>
          <a:solidFill>
            <a:srgbClr val="FBF8F1"/>
          </a:solidFill>
          <a:ln w="12700">
            <a:solidFill>
              <a:srgbClr val="1F2433"/>
            </a:solidFill>
            <a:prstDash val="solid"/>
          </a:ln>
        </p:spPr>
        <p:txBody>
          <a:bodyPr wrap="square" lIns="189092" tIns="125592" rIns="189092" bIns="125592" rtlCol="0" anchor="ctr">
            <a:normAutofit/>
          </a:bodyPr>
          <a:lstStyle/>
          <a:p>
            <a:pPr algn="ctr" indent="0" marL="0">
              <a:lnSpc>
                <a:spcPts val="1950"/>
              </a:lnSpc>
              <a:buNone/>
            </a:pPr>
            <a:r>
              <a:rPr lang="en-US" sz="1500" b="1" dirty="0">
                <a:solidFill>
                  <a:srgbClr val="1F2433"/>
                </a:solidFill>
                <a:latin typeface="IBM Plex Sans" pitchFamily="34" charset="0"/>
                <a:ea typeface="IBM Plex Sans" pitchFamily="34" charset="-122"/>
                <a:cs typeface="IBM Plex Sans" pitchFamily="34" charset="-120"/>
              </a:rPr>
              <a:t>Exhaustion:</a:t>
            </a:r>
            <a:r>
              <a:rPr lang="en-US" sz="1500" dirty="0">
                <a:solidFill>
                  <a:srgbClr val="1F2433"/>
                </a:solidFill>
                <a:latin typeface="IBM Plex Sans" pitchFamily="34" charset="0"/>
                <a:ea typeface="IBM Plex Sans" pitchFamily="34" charset="-122"/>
                <a:cs typeface="IBM Plex Sans" pitchFamily="34" charset="-120"/>
              </a:rPr>
              <a:t> polygons approach a circle</a:t>
            </a:r>
            <a:endParaRPr lang="en-US" sz="1500" dirty="0"/>
          </a:p>
        </p:txBody>
      </p:sp>
      <p:sp>
        <p:nvSpPr>
          <p:cNvPr id="6" name="Text 4"/>
          <p:cNvSpPr/>
          <p:nvPr/>
        </p:nvSpPr>
        <p:spPr>
          <a:xfrm>
            <a:off x="6178550" y="2568476"/>
            <a:ext cx="4178300" cy="565150"/>
          </a:xfrm>
          <a:prstGeom prst="roundRect">
            <a:avLst>
              <a:gd name="adj" fmla="val 12360"/>
            </a:avLst>
          </a:prstGeom>
          <a:solidFill>
            <a:srgbClr val="FBF8F1"/>
          </a:solidFill>
          <a:ln w="12700">
            <a:solidFill>
              <a:srgbClr val="1F2433"/>
            </a:solidFill>
            <a:prstDash val="solid"/>
          </a:ln>
        </p:spPr>
        <p:txBody>
          <a:bodyPr wrap="square" lIns="189092" tIns="125592" rIns="189092" bIns="125592" rtlCol="0" anchor="ctr">
            <a:normAutofit/>
          </a:bodyPr>
          <a:lstStyle/>
          <a:p>
            <a:pPr algn="ctr" indent="0" marL="0">
              <a:lnSpc>
                <a:spcPts val="1950"/>
              </a:lnSpc>
              <a:buNone/>
            </a:pPr>
            <a:r>
              <a:rPr lang="en-US" sz="1500" b="1" dirty="0">
                <a:solidFill>
                  <a:srgbClr val="1F2433"/>
                </a:solidFill>
                <a:latin typeface="IBM Plex Sans" pitchFamily="34" charset="0"/>
                <a:ea typeface="IBM Plex Sans" pitchFamily="34" charset="-122"/>
                <a:cs typeface="IBM Plex Sans" pitchFamily="34" charset="-120"/>
              </a:rPr>
              <a:t>Indivisibles:</a:t>
            </a:r>
            <a:r>
              <a:rPr lang="en-US" sz="1500" dirty="0">
                <a:solidFill>
                  <a:srgbClr val="1F2433"/>
                </a:solidFill>
                <a:latin typeface="IBM Plex Sans" pitchFamily="34" charset="0"/>
                <a:ea typeface="IBM Plex Sans" pitchFamily="34" charset="-122"/>
                <a:cs typeface="IBM Plex Sans" pitchFamily="34" charset="-120"/>
              </a:rPr>
              <a:t> area as slices</a:t>
            </a:r>
            <a:endParaRPr lang="en-US" sz="1500" dirty="0"/>
          </a:p>
        </p:txBody>
      </p:sp>
      <p:sp>
        <p:nvSpPr>
          <p:cNvPr id="7" name="Text 5"/>
          <p:cNvSpPr/>
          <p:nvPr/>
        </p:nvSpPr>
        <p:spPr>
          <a:xfrm>
            <a:off x="1835150" y="3298726"/>
            <a:ext cx="4178300" cy="565150"/>
          </a:xfrm>
          <a:prstGeom prst="roundRect">
            <a:avLst>
              <a:gd name="adj" fmla="val 12360"/>
            </a:avLst>
          </a:prstGeom>
          <a:solidFill>
            <a:srgbClr val="FBF8F1"/>
          </a:solidFill>
          <a:ln w="12700">
            <a:solidFill>
              <a:srgbClr val="1F2433"/>
            </a:solidFill>
            <a:prstDash val="solid"/>
          </a:ln>
        </p:spPr>
        <p:txBody>
          <a:bodyPr wrap="square" lIns="189092" tIns="125592" rIns="189092" bIns="125592" rtlCol="0" anchor="ctr">
            <a:normAutofit/>
          </a:bodyPr>
          <a:lstStyle/>
          <a:p>
            <a:pPr algn="ctr" indent="0" marL="0">
              <a:lnSpc>
                <a:spcPts val="1950"/>
              </a:lnSpc>
              <a:buNone/>
            </a:pPr>
            <a:r>
              <a:rPr lang="en-US" sz="1500" b="1" dirty="0">
                <a:solidFill>
                  <a:srgbClr val="1F2433"/>
                </a:solidFill>
                <a:latin typeface="IBM Plex Sans" pitchFamily="34" charset="0"/>
                <a:ea typeface="IBM Plex Sans" pitchFamily="34" charset="-122"/>
                <a:cs typeface="IBM Plex Sans" pitchFamily="34" charset="-120"/>
              </a:rPr>
              <a:t>Tangents:</a:t>
            </a:r>
            <a:r>
              <a:rPr lang="en-US" sz="1500" dirty="0">
                <a:solidFill>
                  <a:srgbClr val="1F2433"/>
                </a:solidFill>
                <a:latin typeface="IBM Plex Sans" pitchFamily="34" charset="0"/>
                <a:ea typeface="IBM Plex Sans" pitchFamily="34" charset="-122"/>
                <a:cs typeface="IBM Plex Sans" pitchFamily="34" charset="-120"/>
              </a:rPr>
              <a:t> instantaneous direction</a:t>
            </a:r>
            <a:endParaRPr lang="en-US" sz="1500" dirty="0"/>
          </a:p>
        </p:txBody>
      </p:sp>
      <p:sp>
        <p:nvSpPr>
          <p:cNvPr id="8" name="Text 6"/>
          <p:cNvSpPr/>
          <p:nvPr/>
        </p:nvSpPr>
        <p:spPr>
          <a:xfrm>
            <a:off x="6178550" y="3298726"/>
            <a:ext cx="4178300" cy="565150"/>
          </a:xfrm>
          <a:prstGeom prst="roundRect">
            <a:avLst>
              <a:gd name="adj" fmla="val 12360"/>
            </a:avLst>
          </a:prstGeom>
          <a:solidFill>
            <a:srgbClr val="FBF8F1"/>
          </a:solidFill>
          <a:ln w="12700">
            <a:solidFill>
              <a:srgbClr val="1F2433"/>
            </a:solidFill>
            <a:prstDash val="solid"/>
          </a:ln>
        </p:spPr>
        <p:txBody>
          <a:bodyPr wrap="square" lIns="189092" tIns="125592" rIns="189092" bIns="125592" rtlCol="0" anchor="ctr">
            <a:normAutofit/>
          </a:bodyPr>
          <a:lstStyle/>
          <a:p>
            <a:pPr algn="ctr" indent="0" marL="0">
              <a:lnSpc>
                <a:spcPts val="1950"/>
              </a:lnSpc>
              <a:buNone/>
            </a:pPr>
            <a:r>
              <a:rPr lang="en-US" sz="1500" b="1" dirty="0">
                <a:solidFill>
                  <a:srgbClr val="1F2433"/>
                </a:solidFill>
                <a:latin typeface="IBM Plex Sans" pitchFamily="34" charset="0"/>
                <a:ea typeface="IBM Plex Sans" pitchFamily="34" charset="-122"/>
                <a:cs typeface="IBM Plex Sans" pitchFamily="34" charset="-120"/>
              </a:rPr>
              <a:t>Series:</a:t>
            </a:r>
            <a:r>
              <a:rPr lang="en-US" sz="1500" dirty="0">
                <a:solidFill>
                  <a:srgbClr val="1F2433"/>
                </a:solidFill>
                <a:latin typeface="IBM Plex Sans" pitchFamily="34" charset="0"/>
                <a:ea typeface="IBM Plex Sans" pitchFamily="34" charset="-122"/>
                <a:cs typeface="IBM Plex Sans" pitchFamily="34" charset="-120"/>
              </a:rPr>
              <a:t> infinite algebraic processes</a:t>
            </a:r>
            <a:endParaRPr lang="en-US" sz="1500" dirty="0"/>
          </a:p>
        </p:txBody>
      </p:sp>
      <p:sp>
        <p:nvSpPr>
          <p:cNvPr id="9" name="Text 7"/>
          <p:cNvSpPr/>
          <p:nvPr/>
        </p:nvSpPr>
        <p:spPr>
          <a:xfrm>
            <a:off x="819150" y="4079776"/>
            <a:ext cx="10553700" cy="593725"/>
          </a:xfrm>
          <a:prstGeom prst="roundRect">
            <a:avLst>
              <a:gd name="adj" fmla="val 16043"/>
            </a:avLst>
          </a:prstGeom>
          <a:solidFill>
            <a:srgbClr val="FBF8F1"/>
          </a:solidFill>
          <a:ln w="12700">
            <a:solidFill>
              <a:srgbClr val="8C2F39"/>
            </a:solidFill>
            <a:prstDash val="solid"/>
          </a:ln>
        </p:spPr>
        <p:txBody>
          <a:bodyPr wrap="square" lIns="232452" tIns="130852" rIns="0" bIns="105452"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Which ingredient feels most like calculus? Which one feels least like calculus? Why?</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Claim 2: “Leibniz copied Newton”</a:t>
            </a:r>
            <a:endParaRPr lang="en-US" sz="3200" dirty="0"/>
          </a:p>
        </p:txBody>
      </p:sp>
      <p:sp>
        <p:nvSpPr>
          <p:cNvPr id="4" name="Text 2"/>
          <p:cNvSpPr/>
          <p:nvPr/>
        </p:nvSpPr>
        <p:spPr>
          <a:xfrm>
            <a:off x="819150" y="1708051"/>
            <a:ext cx="10553700" cy="764480"/>
          </a:xfrm>
          <a:prstGeom prst="roundRect">
            <a:avLst>
              <a:gd name="adj" fmla="val 12459"/>
            </a:avLst>
          </a:prstGeom>
          <a:solidFill>
            <a:srgbClr val="FBF8F1"/>
          </a:solidFill>
          <a:ln w="12700">
            <a:solidFill>
              <a:srgbClr val="6B6F7A"/>
            </a:solidFill>
            <a:prstDash val="solid"/>
          </a:ln>
        </p:spPr>
        <p:txBody>
          <a:bodyPr wrap="square" lIns="232452" tIns="156252" rIns="232452" bIns="130852" rtlCol="0" anchor="t">
            <a:normAutofit/>
          </a:bodyPr>
          <a:lstStyle/>
          <a:p>
            <a:pPr algn="ctr" indent="0" marL="0">
              <a:lnSpc>
                <a:spcPts val="3120"/>
              </a:lnSpc>
              <a:buNone/>
            </a:pPr>
            <a:r>
              <a:rPr lang="en-US" sz="2600" dirty="0">
                <a:solidFill>
                  <a:srgbClr val="1F2433"/>
                </a:solidFill>
                <a:latin typeface="EB Garamond" pitchFamily="18" charset="0"/>
                <a:ea typeface="EB Garamond" pitchFamily="18" charset="-122"/>
                <a:cs typeface="EB Garamond" pitchFamily="18" charset="-120"/>
              </a:rPr>
              <a:t>Leibniz copied Newton.</a:t>
            </a:r>
            <a:endParaRPr lang="en-US" sz="2600" dirty="0"/>
          </a:p>
        </p:txBody>
      </p:sp>
      <p:sp>
        <p:nvSpPr>
          <p:cNvPr id="5" name="Text 3"/>
          <p:cNvSpPr/>
          <p:nvPr/>
        </p:nvSpPr>
        <p:spPr>
          <a:xfrm>
            <a:off x="812800" y="2631281"/>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Newton's emphasis</a:t>
            </a:r>
            <a:endParaRPr lang="en-US" sz="1500" dirty="0"/>
          </a:p>
        </p:txBody>
      </p:sp>
      <p:sp>
        <p:nvSpPr>
          <p:cNvPr id="6" name="Text 4"/>
          <p:cNvSpPr/>
          <p:nvPr/>
        </p:nvSpPr>
        <p:spPr>
          <a:xfrm>
            <a:off x="883920" y="2999581"/>
            <a:ext cx="5153660"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Motion through time.</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Rates as fluxions.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Strong link with mechanics.</a:t>
            </a:r>
            <a:endParaRPr lang="en-US" sz="1500" dirty="0"/>
          </a:p>
        </p:txBody>
      </p:sp>
      <p:sp>
        <p:nvSpPr>
          <p:cNvPr id="7" name="Text 5"/>
          <p:cNvSpPr/>
          <p:nvPr/>
        </p:nvSpPr>
        <p:spPr>
          <a:xfrm>
            <a:off x="736600" y="3958431"/>
            <a:ext cx="5232400" cy="339030"/>
          </a:xfrm>
          <a:prstGeom prst="rect">
            <a:avLst/>
          </a:prstGeom>
          <a:noFill/>
          <a:ln/>
        </p:spPr>
        <p:txBody>
          <a:bodyPr wrap="square" lIns="0" tIns="0" rIns="0" bIns="0" rtlCol="0" anchor="t">
            <a:normAutofit/>
          </a:bodyPr>
          <a:lstStyle/>
          <a:p>
            <a:pPr algn="ctr" indent="0" marL="0">
              <a:lnSpc>
                <a:spcPts val="2470"/>
              </a:lnSpc>
              <a:buNone/>
            </a:pPr>
            <a:r>
              <a:rPr lang="en-US" sz="1900" dirty="0">
                <a:solidFill>
                  <a:srgbClr val="1F2433"/>
                </a:solidFill>
                <a:latin typeface="EB Garamond" pitchFamily="18" charset="0"/>
                <a:ea typeface="EB Garamond" pitchFamily="18" charset="-122"/>
                <a:cs typeface="EB Garamond" pitchFamily="18" charset="-120"/>
              </a:rPr>
              <a:t>ẋ,   ẍ</a:t>
            </a:r>
            <a:endParaRPr lang="en-US" sz="1900" dirty="0"/>
          </a:p>
        </p:txBody>
      </p:sp>
      <p:sp>
        <p:nvSpPr>
          <p:cNvPr id="8" name="Text 6"/>
          <p:cNvSpPr/>
          <p:nvPr/>
        </p:nvSpPr>
        <p:spPr>
          <a:xfrm>
            <a:off x="6299200" y="2631281"/>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Leibniz's emphasis</a:t>
            </a:r>
            <a:endParaRPr lang="en-US" sz="1500" dirty="0"/>
          </a:p>
        </p:txBody>
      </p:sp>
      <p:sp>
        <p:nvSpPr>
          <p:cNvPr id="9" name="Text 7"/>
          <p:cNvSpPr/>
          <p:nvPr/>
        </p:nvSpPr>
        <p:spPr>
          <a:xfrm>
            <a:off x="6370320" y="2999581"/>
            <a:ext cx="5153660" cy="8826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Relationships between variables.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Differentials and sums.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Notation that travelled well.</a:t>
            </a:r>
            <a:endParaRPr lang="en-US" sz="1500" dirty="0"/>
          </a:p>
        </p:txBody>
      </p:sp>
      <p:sp>
        <p:nvSpPr>
          <p:cNvPr id="10" name="Text 8"/>
          <p:cNvSpPr/>
          <p:nvPr/>
        </p:nvSpPr>
        <p:spPr>
          <a:xfrm>
            <a:off x="6223000" y="3958431"/>
            <a:ext cx="5232400" cy="339030"/>
          </a:xfrm>
          <a:prstGeom prst="rect">
            <a:avLst/>
          </a:prstGeom>
          <a:noFill/>
          <a:ln/>
        </p:spPr>
        <p:txBody>
          <a:bodyPr wrap="square" lIns="0" tIns="0" rIns="0" bIns="0" rtlCol="0" anchor="t">
            <a:normAutofit/>
          </a:bodyPr>
          <a:lstStyle/>
          <a:p>
            <a:pPr algn="ctr" indent="0" marL="0">
              <a:lnSpc>
                <a:spcPts val="2470"/>
              </a:lnSpc>
              <a:buNone/>
            </a:pPr>
            <a:r>
              <a:rPr lang="en-US" sz="1900" dirty="0">
                <a:solidFill>
                  <a:srgbClr val="1F2433"/>
                </a:solidFill>
                <a:latin typeface="EB Garamond" pitchFamily="18" charset="0"/>
                <a:ea typeface="EB Garamond" pitchFamily="18" charset="-122"/>
                <a:cs typeface="EB Garamond" pitchFamily="18" charset="-120"/>
              </a:rPr>
              <a:t>dx,   dy,   dy/dx,   ∫</a:t>
            </a:r>
            <a:endParaRPr lang="en-US" sz="1900" dirty="0"/>
          </a:p>
        </p:txBody>
      </p:sp>
      <p:sp>
        <p:nvSpPr>
          <p:cNvPr id="11" name="Text 9"/>
          <p:cNvSpPr/>
          <p:nvPr/>
        </p:nvSpPr>
        <p:spPr>
          <a:xfrm>
            <a:off x="819150" y="4430812"/>
            <a:ext cx="10553700" cy="524470"/>
          </a:xfrm>
          <a:prstGeom prst="roundRect">
            <a:avLst>
              <a:gd name="adj" fmla="val 18161"/>
            </a:avLst>
          </a:prstGeom>
          <a:solidFill>
            <a:srgbClr val="E6ECF3"/>
          </a:solidFill>
          <a:ln w="12700">
            <a:solidFill>
              <a:srgbClr val="1F2433"/>
            </a:solidFill>
            <a:prstDash val="solid"/>
          </a:ln>
        </p:spPr>
        <p:txBody>
          <a:bodyPr wrap="square" lIns="232452" tIns="105452" rIns="0" bIns="80052" rtlCol="0" anchor="t">
            <a:normAutofit/>
          </a:bodyPr>
          <a:lstStyle/>
          <a:p>
            <a:pPr algn="l" indent="0" marL="0">
              <a:lnSpc>
                <a:spcPts val="2030"/>
              </a:lnSpc>
              <a:buNone/>
            </a:pPr>
            <a:r>
              <a:rPr lang="en-US" sz="1400" dirty="0">
                <a:solidFill>
                  <a:srgbClr val="1F2433"/>
                </a:solidFill>
                <a:latin typeface="IBM Plex Sans" pitchFamily="34" charset="0"/>
                <a:ea typeface="IBM Plex Sans" pitchFamily="34" charset="-122"/>
                <a:cs typeface="IBM Plex Sans" pitchFamily="34" charset="-120"/>
              </a:rPr>
              <a:t>The priority dispute matters historically, but the deeper story is about publication, notation, institutions, and communication.</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Discussion: what counts as invention?</a:t>
            </a:r>
            <a:endParaRPr lang="en-US" sz="3200" dirty="0"/>
          </a:p>
        </p:txBody>
      </p:sp>
      <p:sp>
        <p:nvSpPr>
          <p:cNvPr id="4" name="Shape 2"/>
          <p:cNvSpPr/>
          <p:nvPr/>
        </p:nvSpPr>
        <p:spPr>
          <a:xfrm>
            <a:off x="819150" y="1809651"/>
            <a:ext cx="10553700" cy="1280021"/>
          </a:xfrm>
          <a:prstGeom prst="roundRect">
            <a:avLst>
              <a:gd name="adj" fmla="val 7441"/>
            </a:avLst>
          </a:prstGeom>
          <a:solidFill>
            <a:srgbClr val="FBF8F1"/>
          </a:solidFill>
          <a:ln w="12700">
            <a:solidFill>
              <a:srgbClr val="8C2F39"/>
            </a:solidFill>
            <a:prstDash val="solid"/>
          </a:ln>
        </p:spPr>
      </p:sp>
      <p:sp>
        <p:nvSpPr>
          <p:cNvPr id="5" name="Text 3"/>
          <p:cNvSpPr/>
          <p:nvPr/>
        </p:nvSpPr>
        <p:spPr>
          <a:xfrm>
            <a:off x="1079500" y="2019201"/>
            <a:ext cx="1033399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8C2F39"/>
                </a:solidFill>
                <a:latin typeface="IBM Plex Sans" pitchFamily="34" charset="0"/>
                <a:ea typeface="IBM Plex Sans" pitchFamily="34" charset="-122"/>
                <a:cs typeface="IBM Plex Sans" pitchFamily="34" charset="-120"/>
              </a:rPr>
              <a:t>SMALL GROUP DISCUSSION · 4 MINUTES</a:t>
            </a:r>
            <a:endParaRPr lang="en-US" sz="1100" dirty="0"/>
          </a:p>
        </p:txBody>
      </p:sp>
      <p:sp>
        <p:nvSpPr>
          <p:cNvPr id="6" name="Text 4"/>
          <p:cNvSpPr/>
          <p:nvPr/>
        </p:nvSpPr>
        <p:spPr>
          <a:xfrm>
            <a:off x="1079500" y="2290961"/>
            <a:ext cx="1033399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433"/>
                </a:solidFill>
                <a:latin typeface="IBM Plex Sans" pitchFamily="34" charset="0"/>
                <a:ea typeface="IBM Plex Sans" pitchFamily="34" charset="-122"/>
                <a:cs typeface="IBM Plex Sans" pitchFamily="34" charset="-120"/>
              </a:rPr>
              <a:t>If two mathematicians independently organise similar ideas differently, what should count as “inventing” a subject?</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3362722"/>
          <a:ext cx="10553700" cy="825500"/>
        </p:xfrm>
        <a:graphic>
          <a:graphicData uri="http://schemas.openxmlformats.org/drawingml/2006/table">
            <a:tbl>
              <a:tblPr/>
              <a:tblGrid>
                <a:gridCol w="3482721"/>
                <a:gridCol w="3482721"/>
                <a:gridCol w="3588258"/>
              </a:tblGrid>
              <a:tr h="412750">
                <a:tc>
                  <a:txBody>
                    <a:bodyPr/>
                    <a:lstStyle/>
                    <a:p>
                      <a:pPr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Discovery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Publication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c>
                  <a:txBody>
                    <a:bodyPr/>
                    <a:lstStyle/>
                    <a:p>
                      <a:pPr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Influence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6B2AB"/>
                      </a:solidFill>
                      <a:prstDash val="solid"/>
                      <a:round/>
                      <a:headEnd type="none" w="med" len="med"/>
                      <a:tailEnd type="none" w="med" len="med"/>
                    </a:lnL>
                    <a:lnR w="12700" cap="flat" cmpd="sng" algn="ctr">
                      <a:solidFill>
                        <a:srgbClr val="B6B2AB"/>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B6B2AB"/>
                      </a:solidFill>
                      <a:prstDash val="solid"/>
                      <a:round/>
                      <a:headEnd type="none" w="med" len="med"/>
                      <a:tailEnd type="none" w="med" len="med"/>
                    </a:lnB>
                    <a:solidFill>
                      <a:srgbClr val="E4DFD6"/>
                    </a:solidFill>
                  </a:tcPr>
                </a:tc>
              </a:tr>
              <a:tr h="412750">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Who had the idea?</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Who made it public?</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Whose notation and methods spread?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B6B2AB"/>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bl>
          </a:graphicData>
        </a:graphic>
      </p:graphicFrame>
      <p:sp>
        <p:nvSpPr>
          <p:cNvPr id="8" name="Text 5"/>
          <p:cNvSpPr/>
          <p:nvPr/>
        </p:nvSpPr>
        <p:spPr>
          <a:xfrm>
            <a:off x="819150" y="4448572"/>
            <a:ext cx="10553700" cy="593725"/>
          </a:xfrm>
          <a:prstGeom prst="roundRect">
            <a:avLst>
              <a:gd name="adj" fmla="val 16043"/>
            </a:avLst>
          </a:prstGeom>
          <a:solidFill>
            <a:srgbClr val="E6ECF3"/>
          </a:solidFill>
          <a:ln w="12700">
            <a:solidFill>
              <a:srgbClr val="1F2433"/>
            </a:solidFill>
            <a:prstDash val="solid"/>
          </a:ln>
        </p:spPr>
        <p:txBody>
          <a:bodyPr wrap="square" lIns="232452" tIns="130852" rIns="0" bIns="105452"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Credit in mathematics is not always a single-person answer.</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Claim 3: “Calculus is a purely European story”</a:t>
            </a:r>
            <a:endParaRPr lang="en-US" sz="3200" dirty="0"/>
          </a:p>
        </p:txBody>
      </p:sp>
      <p:sp>
        <p:nvSpPr>
          <p:cNvPr id="4" name="Text 2"/>
          <p:cNvSpPr/>
          <p:nvPr/>
        </p:nvSpPr>
        <p:spPr>
          <a:xfrm>
            <a:off x="819150" y="1758851"/>
            <a:ext cx="10553700" cy="764480"/>
          </a:xfrm>
          <a:prstGeom prst="roundRect">
            <a:avLst>
              <a:gd name="adj" fmla="val 12459"/>
            </a:avLst>
          </a:prstGeom>
          <a:solidFill>
            <a:srgbClr val="FBF8F1"/>
          </a:solidFill>
          <a:ln w="12700">
            <a:solidFill>
              <a:srgbClr val="6B6F7A"/>
            </a:solidFill>
            <a:prstDash val="solid"/>
          </a:ln>
        </p:spPr>
        <p:txBody>
          <a:bodyPr wrap="square" lIns="232452" tIns="156252" rIns="232452" bIns="130852" rtlCol="0" anchor="t">
            <a:normAutofit/>
          </a:bodyPr>
          <a:lstStyle/>
          <a:p>
            <a:pPr algn="ctr" indent="0" marL="0">
              <a:lnSpc>
                <a:spcPts val="3120"/>
              </a:lnSpc>
              <a:buNone/>
            </a:pPr>
            <a:r>
              <a:rPr lang="en-US" sz="2600" dirty="0">
                <a:solidFill>
                  <a:srgbClr val="1F2433"/>
                </a:solidFill>
                <a:latin typeface="EB Garamond" pitchFamily="18" charset="0"/>
                <a:ea typeface="EB Garamond" pitchFamily="18" charset="-122"/>
                <a:cs typeface="EB Garamond" pitchFamily="18" charset="-120"/>
              </a:rPr>
              <a:t>Calculus is a purely European story.</a:t>
            </a:r>
            <a:endParaRPr lang="en-US" sz="2600" dirty="0"/>
          </a:p>
        </p:txBody>
      </p:sp>
      <p:sp>
        <p:nvSpPr>
          <p:cNvPr id="5" name="Text 3"/>
          <p:cNvSpPr/>
          <p:nvPr/>
        </p:nvSpPr>
        <p:spPr>
          <a:xfrm>
            <a:off x="1276350" y="2739231"/>
            <a:ext cx="2019300" cy="728861"/>
          </a:xfrm>
          <a:prstGeom prst="roundRect">
            <a:avLst>
              <a:gd name="adj" fmla="val 9583"/>
            </a:avLst>
          </a:prstGeom>
          <a:solidFill>
            <a:srgbClr val="FBF8F1"/>
          </a:solidFill>
          <a:ln w="12700">
            <a:solidFill>
              <a:srgbClr val="1F2433"/>
            </a:solidFill>
            <a:prstDash val="solid"/>
          </a:ln>
        </p:spPr>
        <p:txBody>
          <a:bodyPr wrap="square" lIns="526039" tIns="100192" rIns="526138" bIns="100192" rtlCol="0" anchor="ctr">
            <a:normAutofit/>
          </a:bodyPr>
          <a:lstStyle/>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Greek</a:t>
            </a:r>
            <a:endParaRPr lang="en-US" sz="1400" dirty="0"/>
          </a:p>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exhaustion</a:t>
            </a:r>
            <a:endParaRPr lang="en-US" sz="1400" dirty="0"/>
          </a:p>
        </p:txBody>
      </p:sp>
      <p:sp>
        <p:nvSpPr>
          <p:cNvPr id="6" name="Text 4"/>
          <p:cNvSpPr/>
          <p:nvPr/>
        </p:nvSpPr>
        <p:spPr>
          <a:xfrm>
            <a:off x="3429000" y="2925862"/>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C2F39"/>
                </a:solidFill>
                <a:latin typeface="IBM Plex Sans" pitchFamily="34" charset="0"/>
                <a:ea typeface="IBM Plex Sans" pitchFamily="34" charset="-122"/>
                <a:cs typeface="IBM Plex Sans" pitchFamily="34" charset="-120"/>
              </a:rPr>
              <a:t>→</a:t>
            </a:r>
            <a:endParaRPr lang="en-US" sz="2000" dirty="0"/>
          </a:p>
        </p:txBody>
      </p:sp>
      <p:sp>
        <p:nvSpPr>
          <p:cNvPr id="7" name="Text 5"/>
          <p:cNvSpPr/>
          <p:nvPr/>
        </p:nvSpPr>
        <p:spPr>
          <a:xfrm>
            <a:off x="3816350" y="2739231"/>
            <a:ext cx="2019300" cy="728861"/>
          </a:xfrm>
          <a:prstGeom prst="roundRect">
            <a:avLst>
              <a:gd name="adj" fmla="val 9583"/>
            </a:avLst>
          </a:prstGeom>
          <a:solidFill>
            <a:srgbClr val="FBF8F1"/>
          </a:solidFill>
          <a:ln w="12700">
            <a:solidFill>
              <a:srgbClr val="1F2433"/>
            </a:solidFill>
            <a:prstDash val="solid"/>
          </a:ln>
        </p:spPr>
        <p:txBody>
          <a:bodyPr wrap="square" lIns="342881" tIns="100192" rIns="342881" bIns="100192" rtlCol="0" anchor="ctr">
            <a:normAutofit/>
          </a:bodyPr>
          <a:lstStyle/>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Chinese</a:t>
            </a:r>
            <a:endParaRPr lang="en-US" sz="1400" dirty="0"/>
          </a:p>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approximations</a:t>
            </a:r>
            <a:endParaRPr lang="en-US" sz="1400" dirty="0"/>
          </a:p>
        </p:txBody>
      </p:sp>
      <p:sp>
        <p:nvSpPr>
          <p:cNvPr id="8" name="Text 6"/>
          <p:cNvSpPr/>
          <p:nvPr/>
        </p:nvSpPr>
        <p:spPr>
          <a:xfrm>
            <a:off x="5969000" y="2925862"/>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C2F39"/>
                </a:solidFill>
                <a:latin typeface="IBM Plex Sans" pitchFamily="34" charset="0"/>
                <a:ea typeface="IBM Plex Sans" pitchFamily="34" charset="-122"/>
                <a:cs typeface="IBM Plex Sans" pitchFamily="34" charset="-120"/>
              </a:rPr>
              <a:t>→</a:t>
            </a:r>
            <a:endParaRPr lang="en-US" sz="2000" dirty="0"/>
          </a:p>
        </p:txBody>
      </p:sp>
      <p:sp>
        <p:nvSpPr>
          <p:cNvPr id="9" name="Text 7"/>
          <p:cNvSpPr/>
          <p:nvPr/>
        </p:nvSpPr>
        <p:spPr>
          <a:xfrm>
            <a:off x="6356350" y="2739231"/>
            <a:ext cx="2019300" cy="728861"/>
          </a:xfrm>
          <a:prstGeom prst="roundRect">
            <a:avLst>
              <a:gd name="adj" fmla="val 9583"/>
            </a:avLst>
          </a:prstGeom>
          <a:solidFill>
            <a:srgbClr val="FBF8F1"/>
          </a:solidFill>
          <a:ln w="12700">
            <a:solidFill>
              <a:srgbClr val="1F2433"/>
            </a:solidFill>
            <a:prstDash val="solid"/>
          </a:ln>
        </p:spPr>
        <p:txBody>
          <a:bodyPr wrap="square" lIns="177086" tIns="100192" rIns="177086" bIns="100192" rtlCol="0" anchor="ctr">
            <a:normAutofit/>
          </a:bodyPr>
          <a:lstStyle/>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Islamic</a:t>
            </a:r>
            <a:endParaRPr lang="en-US" sz="1400" dirty="0"/>
          </a:p>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sums and geometry</a:t>
            </a:r>
            <a:endParaRPr lang="en-US" sz="1400" dirty="0"/>
          </a:p>
        </p:txBody>
      </p:sp>
      <p:sp>
        <p:nvSpPr>
          <p:cNvPr id="10" name="Text 8"/>
          <p:cNvSpPr/>
          <p:nvPr/>
        </p:nvSpPr>
        <p:spPr>
          <a:xfrm>
            <a:off x="8509000" y="2925862"/>
            <a:ext cx="304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8C2F39"/>
                </a:solidFill>
                <a:latin typeface="IBM Plex Sans" pitchFamily="34" charset="0"/>
                <a:ea typeface="IBM Plex Sans" pitchFamily="34" charset="-122"/>
                <a:cs typeface="IBM Plex Sans" pitchFamily="34" charset="-120"/>
              </a:rPr>
              <a:t>→</a:t>
            </a:r>
            <a:endParaRPr lang="en-US" sz="2000" dirty="0"/>
          </a:p>
        </p:txBody>
      </p:sp>
      <p:sp>
        <p:nvSpPr>
          <p:cNvPr id="11" name="Text 9"/>
          <p:cNvSpPr/>
          <p:nvPr/>
        </p:nvSpPr>
        <p:spPr>
          <a:xfrm>
            <a:off x="8896350" y="2739231"/>
            <a:ext cx="2019300" cy="728861"/>
          </a:xfrm>
          <a:prstGeom prst="roundRect">
            <a:avLst>
              <a:gd name="adj" fmla="val 9583"/>
            </a:avLst>
          </a:prstGeom>
          <a:solidFill>
            <a:srgbClr val="FBF8F1"/>
          </a:solidFill>
          <a:ln w="12700">
            <a:solidFill>
              <a:srgbClr val="1F2433"/>
            </a:solidFill>
            <a:prstDash val="solid"/>
          </a:ln>
        </p:spPr>
        <p:txBody>
          <a:bodyPr wrap="square" lIns="705922" tIns="100192" rIns="706021" bIns="100192" rtlCol="0" anchor="ctr">
            <a:normAutofit/>
          </a:bodyPr>
          <a:lstStyle/>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Indian</a:t>
            </a:r>
            <a:endParaRPr lang="en-US" sz="1400" dirty="0"/>
          </a:p>
          <a:p>
            <a:pPr algn="ctr" indent="0" marL="0">
              <a:lnSpc>
                <a:spcPts val="1820"/>
              </a:lnSpc>
              <a:buNone/>
            </a:pPr>
            <a:r>
              <a:rPr lang="en-US" sz="1400" dirty="0">
                <a:solidFill>
                  <a:srgbClr val="1F2433"/>
                </a:solidFill>
                <a:latin typeface="IBM Plex Sans" pitchFamily="34" charset="0"/>
                <a:ea typeface="IBM Plex Sans" pitchFamily="34" charset="-122"/>
                <a:cs typeface="IBM Plex Sans" pitchFamily="34" charset="-120"/>
              </a:rPr>
              <a:t>series</a:t>
            </a:r>
            <a:endParaRPr lang="en-US" sz="1400" dirty="0"/>
          </a:p>
        </p:txBody>
      </p:sp>
      <p:sp>
        <p:nvSpPr>
          <p:cNvPr id="12" name="Text 10"/>
          <p:cNvSpPr/>
          <p:nvPr/>
        </p:nvSpPr>
        <p:spPr>
          <a:xfrm>
            <a:off x="819150" y="3683992"/>
            <a:ext cx="10553700" cy="971550"/>
          </a:xfrm>
          <a:prstGeom prst="roundRect">
            <a:avLst>
              <a:gd name="adj" fmla="val 9804"/>
            </a:avLst>
          </a:prstGeom>
          <a:solidFill>
            <a:srgbClr val="E6ECF3"/>
          </a:solidFill>
          <a:ln w="12700">
            <a:solidFill>
              <a:srgbClr val="1F2433"/>
            </a:solidFill>
            <a:prstDash val="solid"/>
          </a:ln>
        </p:spPr>
        <p:txBody>
          <a:bodyPr wrap="square" lIns="232452" tIns="181652" rIns="0" bIns="156252" rtlCol="0" anchor="t">
            <a:normAutofit/>
          </a:bodyPr>
          <a:lstStyle/>
          <a:p>
            <a:pPr algn="l" indent="0" marL="0">
              <a:lnSpc>
                <a:spcPts val="2175"/>
              </a:lnSpc>
              <a:buNone/>
            </a:pPr>
            <a:r>
              <a:rPr lang="en-US" sz="1500" b="1" dirty="0">
                <a:solidFill>
                  <a:srgbClr val="1F2433"/>
                </a:solidFill>
                <a:latin typeface="IBM Plex Sans" pitchFamily="34" charset="0"/>
                <a:ea typeface="IBM Plex Sans" pitchFamily="34" charset="-122"/>
                <a:cs typeface="IBM Plex Sans" pitchFamily="34" charset="-120"/>
              </a:rPr>
              <a:t>A careful statement:</a:t>
            </a:r>
            <a:r>
              <a:rPr lang="en-US" sz="1500" dirty="0">
                <a:solidFill>
                  <a:srgbClr val="1F2433"/>
                </a:solidFill>
                <a:latin typeface="IBM Plex Sans" pitchFamily="34" charset="0"/>
                <a:ea typeface="IBM Plex Sans" pitchFamily="34" charset="-122"/>
                <a:cs typeface="IBM Plex Sans" pitchFamily="34" charset="-120"/>
              </a:rPr>
              <a:t> Newton and Leibniz produced systematic calculi in seventeenth-century Europe, but many earlier cultures worked on calculus-like problems.</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Case study: sums and areas</a:t>
            </a:r>
            <a:endParaRPr lang="en-US" sz="3600" dirty="0"/>
          </a:p>
        </p:txBody>
      </p:sp>
      <p:sp>
        <p:nvSpPr>
          <p:cNvPr id="4" name="Text 2"/>
          <p:cNvSpPr/>
          <p:nvPr/>
        </p:nvSpPr>
        <p:spPr>
          <a:xfrm>
            <a:off x="812800" y="1909961"/>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A historical bridge</a:t>
            </a:r>
            <a:endParaRPr lang="en-US" sz="1500" dirty="0"/>
          </a:p>
        </p:txBody>
      </p:sp>
      <p:sp>
        <p:nvSpPr>
          <p:cNvPr id="5" name="Text 3"/>
          <p:cNvSpPr/>
          <p:nvPr/>
        </p:nvSpPr>
        <p:spPr>
          <a:xfrm>
            <a:off x="812800" y="2278261"/>
            <a:ext cx="52324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Sums of powers appear in problems about areas and volumes:</a:t>
            </a:r>
            <a:endParaRPr lang="en-US" sz="1500" dirty="0"/>
          </a:p>
        </p:txBody>
      </p:sp>
      <p:sp>
        <p:nvSpPr>
          <p:cNvPr id="6" name="Text 4"/>
          <p:cNvSpPr/>
          <p:nvPr/>
        </p:nvSpPr>
        <p:spPr>
          <a:xfrm>
            <a:off x="819150" y="2938661"/>
            <a:ext cx="5067300" cy="629841"/>
          </a:xfrm>
          <a:prstGeom prst="roundRect">
            <a:avLst>
              <a:gd name="adj" fmla="val 15123"/>
            </a:avLst>
          </a:prstGeom>
          <a:solidFill>
            <a:srgbClr val="E6ECF3"/>
          </a:solidFill>
          <a:ln w="12700">
            <a:solidFill>
              <a:srgbClr val="1F2433"/>
            </a:solidFill>
            <a:prstDash val="solid"/>
          </a:ln>
        </p:spPr>
        <p:txBody>
          <a:bodyPr wrap="square" lIns="111929" tIns="105452" rIns="111929" bIns="80052" rtlCol="0" anchor="t">
            <a:normAutofit/>
          </a:bodyPr>
          <a:lstStyle/>
          <a:p>
            <a:pPr algn="ctr" indent="0" marL="0">
              <a:lnSpc>
                <a:spcPts val="2860"/>
              </a:lnSpc>
              <a:buNone/>
            </a:pPr>
            <a:r>
              <a:rPr lang="en-US" sz="2200" dirty="0">
                <a:solidFill>
                  <a:srgbClr val="1F2433"/>
                </a:solidFill>
                <a:latin typeface="EB Garamond" pitchFamily="18" charset="0"/>
                <a:ea typeface="EB Garamond" pitchFamily="18" charset="-122"/>
                <a:cs typeface="EB Garamond" pitchFamily="18" charset="-120"/>
              </a:rPr>
              <a:t>1ᵏ + 2ᵏ + ⋯ + nᵏ</a:t>
            </a:r>
            <a:endParaRPr lang="en-US" sz="2200" dirty="0"/>
          </a:p>
        </p:txBody>
      </p:sp>
      <p:sp>
        <p:nvSpPr>
          <p:cNvPr id="7" name="Text 5"/>
          <p:cNvSpPr/>
          <p:nvPr/>
        </p:nvSpPr>
        <p:spPr>
          <a:xfrm>
            <a:off x="812800" y="3676452"/>
            <a:ext cx="523240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Ibn al-Haytham's work on sums belongs to the prehistory of integral calculus.</a:t>
            </a:r>
            <a:endParaRPr lang="en-US" sz="1500" dirty="0"/>
          </a:p>
        </p:txBody>
      </p:sp>
      <p:pic>
        <p:nvPicPr>
          <p:cNvPr id="8" name="Image 0" descr="preencoded.png">    </p:cNvPr>
          <p:cNvPicPr>
            <a:picLocks noChangeAspect="1"/>
          </p:cNvPicPr>
          <p:nvPr/>
        </p:nvPicPr>
        <p:blipFill>
          <a:blip r:embed="rId1"/>
          <a:srcRect l="0" r="0" t="0" b="0"/>
          <a:stretch/>
        </p:blipFill>
        <p:spPr>
          <a:xfrm>
            <a:off x="7061200" y="1909961"/>
            <a:ext cx="3556000" cy="2667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Case study: infinite series in India</a:t>
            </a:r>
            <a:endParaRPr lang="en-US" sz="3600" dirty="0"/>
          </a:p>
        </p:txBody>
      </p:sp>
      <p:sp>
        <p:nvSpPr>
          <p:cNvPr id="4" name="Text 2"/>
          <p:cNvSpPr/>
          <p:nvPr/>
        </p:nvSpPr>
        <p:spPr>
          <a:xfrm>
            <a:off x="812800" y="180836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433"/>
                </a:solidFill>
                <a:latin typeface="IBM Plex Sans" pitchFamily="34" charset="0"/>
                <a:ea typeface="IBM Plex Sans" pitchFamily="34" charset="-122"/>
                <a:cs typeface="IBM Plex Sans" pitchFamily="34" charset="-120"/>
              </a:rPr>
              <a:t>Madhava and the Kerala school</a:t>
            </a:r>
            <a:endParaRPr lang="en-US" sz="1500" dirty="0"/>
          </a:p>
        </p:txBody>
      </p:sp>
      <p:sp>
        <p:nvSpPr>
          <p:cNvPr id="5" name="Text 3"/>
          <p:cNvSpPr/>
          <p:nvPr/>
        </p:nvSpPr>
        <p:spPr>
          <a:xfrm>
            <a:off x="812800" y="2278261"/>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A modern way to write one related result is:</a:t>
            </a:r>
            <a:endParaRPr lang="en-US" sz="1500" dirty="0"/>
          </a:p>
        </p:txBody>
      </p:sp>
      <p:sp>
        <p:nvSpPr>
          <p:cNvPr id="6" name="Text 4"/>
          <p:cNvSpPr/>
          <p:nvPr/>
        </p:nvSpPr>
        <p:spPr>
          <a:xfrm>
            <a:off x="819150" y="2764036"/>
            <a:ext cx="10553700" cy="797520"/>
          </a:xfrm>
          <a:prstGeom prst="roundRect">
            <a:avLst>
              <a:gd name="adj" fmla="val 11943"/>
            </a:avLst>
          </a:prstGeom>
          <a:solidFill>
            <a:srgbClr val="E6ECF3"/>
          </a:solidFill>
          <a:ln w="12700">
            <a:solidFill>
              <a:srgbClr val="1F2433"/>
            </a:solidFill>
            <a:prstDash val="solid"/>
          </a:ln>
        </p:spPr>
        <p:txBody>
          <a:bodyPr wrap="square" lIns="81957" tIns="156252" rIns="81957" bIns="130852" rtlCol="0" anchor="t">
            <a:normAutofit/>
          </a:bodyPr>
          <a:lstStyle/>
          <a:p>
            <a:pPr algn="ctr" indent="0" marL="0">
              <a:lnSpc>
                <a:spcPts val="3380"/>
              </a:lnSpc>
              <a:buNone/>
            </a:pPr>
            <a:r>
              <a:rPr lang="en-US" sz="2600" dirty="0">
                <a:solidFill>
                  <a:srgbClr val="1F2433"/>
                </a:solidFill>
                <a:latin typeface="EB Garamond" pitchFamily="18" charset="0"/>
                <a:ea typeface="EB Garamond" pitchFamily="18" charset="-122"/>
                <a:cs typeface="EB Garamond" pitchFamily="18" charset="-120"/>
              </a:rPr>
              <a:t>arctan(x) = x − x³/3 + x⁵/5 − x⁷/7 + ⋯</a:t>
            </a:r>
            <a:endParaRPr lang="en-US" sz="2600" dirty="0"/>
          </a:p>
        </p:txBody>
      </p:sp>
      <p:sp>
        <p:nvSpPr>
          <p:cNvPr id="7" name="Text 5"/>
          <p:cNvSpPr/>
          <p:nvPr/>
        </p:nvSpPr>
        <p:spPr>
          <a:xfrm>
            <a:off x="812800" y="3771106"/>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This is not Newton–Leibniz calculus, but it is part of the longer history of infinite processes.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Claim 4: “Women were absent from calculus”</a:t>
            </a:r>
            <a:endParaRPr lang="en-US" sz="3200" dirty="0"/>
          </a:p>
        </p:txBody>
      </p:sp>
      <p:sp>
        <p:nvSpPr>
          <p:cNvPr id="4" name="Text 2"/>
          <p:cNvSpPr/>
          <p:nvPr/>
        </p:nvSpPr>
        <p:spPr>
          <a:xfrm>
            <a:off x="819150" y="1758851"/>
            <a:ext cx="10553700" cy="764480"/>
          </a:xfrm>
          <a:prstGeom prst="roundRect">
            <a:avLst>
              <a:gd name="adj" fmla="val 12459"/>
            </a:avLst>
          </a:prstGeom>
          <a:solidFill>
            <a:srgbClr val="FBF8F1"/>
          </a:solidFill>
          <a:ln w="12700">
            <a:solidFill>
              <a:srgbClr val="6B6F7A"/>
            </a:solidFill>
            <a:prstDash val="solid"/>
          </a:ln>
        </p:spPr>
        <p:txBody>
          <a:bodyPr wrap="square" lIns="232452" tIns="156252" rIns="232452" bIns="130852" rtlCol="0" anchor="t">
            <a:normAutofit/>
          </a:bodyPr>
          <a:lstStyle/>
          <a:p>
            <a:pPr algn="ctr" indent="0" marL="0">
              <a:lnSpc>
                <a:spcPts val="3120"/>
              </a:lnSpc>
              <a:buNone/>
            </a:pPr>
            <a:r>
              <a:rPr lang="en-US" sz="2600" dirty="0">
                <a:solidFill>
                  <a:srgbClr val="1F2433"/>
                </a:solidFill>
                <a:latin typeface="EB Garamond" pitchFamily="18" charset="0"/>
                <a:ea typeface="EB Garamond" pitchFamily="18" charset="-122"/>
                <a:cs typeface="EB Garamond" pitchFamily="18" charset="-120"/>
              </a:rPr>
              <a:t>Women were absent from calculus.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745581"/>
          <a:ext cx="10553700" cy="1504950"/>
        </p:xfrm>
        <a:graphic>
          <a:graphicData uri="http://schemas.openxmlformats.org/drawingml/2006/table">
            <a:tbl>
              <a:tblPr/>
              <a:tblGrid>
                <a:gridCol w="5276850"/>
                <a:gridCol w="5276850"/>
              </a:tblGrid>
              <a:tr h="412750">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Agnesi</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organised and taught calculus through a major textbook.</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679450">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Somerville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communicated mathematical physics and continental analysis.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r h="412750">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Germain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c>
                  <a:txBody>
                    <a:bodyPr/>
                    <a:lstStyle/>
                    <a:p>
                      <a:pPr indent="0" marL="0">
                        <a:lnSpc>
                          <a:spcPts val="2100"/>
                        </a:lnSpc>
                        <a:buNone/>
                      </a:pPr>
                      <a:r>
                        <a:rPr lang="en-US" sz="1500" dirty="0">
                          <a:solidFill>
                            <a:srgbClr val="1F2433"/>
                          </a:solidFill>
                          <a:latin typeface="IBM Plex Sans" pitchFamily="34" charset="0"/>
                          <a:ea typeface="IBM Plex Sans" pitchFamily="34" charset="-122"/>
                          <a:cs typeface="IBM Plex Sans" pitchFamily="34" charset="-120"/>
                        </a:rPr>
                        <a:t>applied calculus and differential equations to elasticity.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0B8"/>
                      </a:solidFill>
                      <a:prstDash val="solid"/>
                      <a:round/>
                      <a:headEnd type="none" w="med" len="med"/>
                      <a:tailEnd type="none" w="med" len="med"/>
                    </a:lnL>
                    <a:lnR w="12700" cap="flat" cmpd="sng" algn="ctr">
                      <a:solidFill>
                        <a:srgbClr val="C4C0B8"/>
                      </a:solidFill>
                      <a:prstDash val="solid"/>
                      <a:round/>
                      <a:headEnd type="none" w="med" len="med"/>
                      <a:tailEnd type="none" w="med" len="med"/>
                    </a:lnR>
                    <a:lnT w="12700" cap="flat" cmpd="sng" algn="ctr">
                      <a:solidFill>
                        <a:srgbClr val="C4C0B8"/>
                      </a:solidFill>
                      <a:prstDash val="solid"/>
                      <a:round/>
                      <a:headEnd type="none" w="med" len="med"/>
                      <a:tailEnd type="none" w="med" len="med"/>
                    </a:lnT>
                    <a:lnB w="12700" cap="flat" cmpd="sng" algn="ctr">
                      <a:solidFill>
                        <a:srgbClr val="C4C0B8"/>
                      </a:solidFill>
                      <a:prstDash val="solid"/>
                      <a:round/>
                      <a:headEnd type="none" w="med" len="med"/>
                      <a:tailEnd type="none" w="med" len="med"/>
                    </a:lnB>
                  </a:tcPr>
                </a:tc>
              </a:tr>
            </a:tbl>
          </a:graphicData>
        </a:graphic>
      </p:graphicFrame>
      <p:sp>
        <p:nvSpPr>
          <p:cNvPr id="6" name="Text 3"/>
          <p:cNvSpPr/>
          <p:nvPr/>
        </p:nvSpPr>
        <p:spPr>
          <a:xfrm>
            <a:off x="819150" y="4460081"/>
            <a:ext cx="10553700" cy="593725"/>
          </a:xfrm>
          <a:prstGeom prst="roundRect">
            <a:avLst>
              <a:gd name="adj" fmla="val 16043"/>
            </a:avLst>
          </a:prstGeom>
          <a:solidFill>
            <a:srgbClr val="E6ECF3"/>
          </a:solidFill>
          <a:ln w="12700">
            <a:solidFill>
              <a:srgbClr val="1F2433"/>
            </a:solidFill>
            <a:prstDash val="solid"/>
          </a:ln>
        </p:spPr>
        <p:txBody>
          <a:bodyPr wrap="square" lIns="232452" tIns="130852" rIns="0" bIns="105452"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Mathematical contribution can mean discovery, but also teaching, exposition, translation, circulation, and application.</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The Fundamental Theorem as a historical bridge</a:t>
            </a:r>
            <a:endParaRPr lang="en-US" sz="3200" dirty="0"/>
          </a:p>
        </p:txBody>
      </p:sp>
      <p:sp>
        <p:nvSpPr>
          <p:cNvPr id="4" name="Text 2"/>
          <p:cNvSpPr/>
          <p:nvPr/>
        </p:nvSpPr>
        <p:spPr>
          <a:xfrm>
            <a:off x="654304" y="1803301"/>
            <a:ext cx="10883392" cy="520700"/>
          </a:xfrm>
          <a:prstGeom prst="rect">
            <a:avLst/>
          </a:prstGeom>
          <a:noFill/>
          <a:ln/>
        </p:spPr>
        <p:txBody>
          <a:bodyPr wrap="square" lIns="0" tIns="0" rIns="0" bIns="0" rtlCol="0" anchor="t">
            <a:normAutofit/>
          </a:bodyPr>
          <a:lstStyle/>
          <a:p>
            <a:pPr algn="ctr" indent="0" marL="0">
              <a:lnSpc>
                <a:spcPts val="3900"/>
              </a:lnSpc>
              <a:buNone/>
            </a:pPr>
            <a:r>
              <a:rPr lang="en-US" sz="3000" dirty="0">
                <a:solidFill>
                  <a:srgbClr val="1F2433"/>
                </a:solidFill>
                <a:latin typeface="EB Garamond" pitchFamily="18" charset="0"/>
                <a:ea typeface="EB Garamond" pitchFamily="18" charset="-122"/>
                <a:cs typeface="EB Garamond" pitchFamily="18" charset="-120"/>
              </a:rPr>
              <a:t>F(x) = ∫ₐˣ f(t) dt     ⟹     F′(x) = f(x)</a:t>
            </a:r>
            <a:endParaRPr lang="en-US" sz="3000" dirty="0"/>
          </a:p>
        </p:txBody>
      </p:sp>
      <p:sp>
        <p:nvSpPr>
          <p:cNvPr id="5" name="Shape 3"/>
          <p:cNvSpPr/>
          <p:nvPr/>
        </p:nvSpPr>
        <p:spPr>
          <a:xfrm>
            <a:off x="819150" y="2558951"/>
            <a:ext cx="5143500" cy="967085"/>
          </a:xfrm>
          <a:prstGeom prst="roundRect">
            <a:avLst>
              <a:gd name="adj" fmla="val 9849"/>
            </a:avLst>
          </a:prstGeom>
          <a:solidFill>
            <a:srgbClr val="E6ECF3"/>
          </a:solidFill>
          <a:ln w="12700">
            <a:solidFill>
              <a:srgbClr val="1F2433"/>
            </a:solidFill>
            <a:prstDash val="solid"/>
          </a:ln>
        </p:spPr>
      </p:sp>
      <p:sp>
        <p:nvSpPr>
          <p:cNvPr id="6" name="Text 4"/>
          <p:cNvSpPr/>
          <p:nvPr/>
        </p:nvSpPr>
        <p:spPr>
          <a:xfrm>
            <a:off x="1079500" y="2768501"/>
            <a:ext cx="4761484"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8C2F39"/>
                </a:solidFill>
                <a:latin typeface="IBM Plex Sans" pitchFamily="34" charset="0"/>
                <a:ea typeface="IBM Plex Sans" pitchFamily="34" charset="-122"/>
                <a:cs typeface="IBM Plex Sans" pitchFamily="34" charset="-120"/>
              </a:rPr>
              <a:t>OLD PROBLEM 1</a:t>
            </a:r>
            <a:endParaRPr lang="en-US" sz="1100" dirty="0"/>
          </a:p>
        </p:txBody>
      </p:sp>
      <p:sp>
        <p:nvSpPr>
          <p:cNvPr id="7" name="Text 5"/>
          <p:cNvSpPr/>
          <p:nvPr/>
        </p:nvSpPr>
        <p:spPr>
          <a:xfrm>
            <a:off x="1079500" y="3040261"/>
            <a:ext cx="4761484"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Find the slope of a curve at one point.</a:t>
            </a:r>
            <a:endParaRPr lang="en-US" sz="1500" dirty="0"/>
          </a:p>
        </p:txBody>
      </p:sp>
      <p:sp>
        <p:nvSpPr>
          <p:cNvPr id="8" name="Shape 6"/>
          <p:cNvSpPr/>
          <p:nvPr/>
        </p:nvSpPr>
        <p:spPr>
          <a:xfrm>
            <a:off x="6229350" y="2558951"/>
            <a:ext cx="5143500" cy="967085"/>
          </a:xfrm>
          <a:prstGeom prst="roundRect">
            <a:avLst>
              <a:gd name="adj" fmla="val 9849"/>
            </a:avLst>
          </a:prstGeom>
          <a:solidFill>
            <a:srgbClr val="E6ECF3"/>
          </a:solidFill>
          <a:ln w="12700">
            <a:solidFill>
              <a:srgbClr val="1F2433"/>
            </a:solidFill>
            <a:prstDash val="solid"/>
          </a:ln>
        </p:spPr>
      </p:sp>
      <p:sp>
        <p:nvSpPr>
          <p:cNvPr id="9" name="Text 7"/>
          <p:cNvSpPr/>
          <p:nvPr/>
        </p:nvSpPr>
        <p:spPr>
          <a:xfrm>
            <a:off x="6489700" y="2768501"/>
            <a:ext cx="4761484"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8C2F39"/>
                </a:solidFill>
                <a:latin typeface="IBM Plex Sans" pitchFamily="34" charset="0"/>
                <a:ea typeface="IBM Plex Sans" pitchFamily="34" charset="-122"/>
                <a:cs typeface="IBM Plex Sans" pitchFamily="34" charset="-120"/>
              </a:rPr>
              <a:t>OLD PROBLEM 2</a:t>
            </a:r>
            <a:endParaRPr lang="en-US" sz="1100" dirty="0"/>
          </a:p>
        </p:txBody>
      </p:sp>
      <p:sp>
        <p:nvSpPr>
          <p:cNvPr id="10" name="Text 8"/>
          <p:cNvSpPr/>
          <p:nvPr/>
        </p:nvSpPr>
        <p:spPr>
          <a:xfrm>
            <a:off x="6489700" y="3040261"/>
            <a:ext cx="4761484"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Find the area accumulated under a curve.</a:t>
            </a:r>
            <a:endParaRPr lang="en-US" sz="1500" dirty="0"/>
          </a:p>
        </p:txBody>
      </p:sp>
      <p:sp>
        <p:nvSpPr>
          <p:cNvPr id="11" name="Text 9"/>
          <p:cNvSpPr/>
          <p:nvPr/>
        </p:nvSpPr>
        <p:spPr>
          <a:xfrm>
            <a:off x="819150" y="3792736"/>
            <a:ext cx="10553700" cy="593725"/>
          </a:xfrm>
          <a:prstGeom prst="roundRect">
            <a:avLst>
              <a:gd name="adj" fmla="val 16043"/>
            </a:avLst>
          </a:prstGeom>
          <a:solidFill>
            <a:srgbClr val="E6ECF3"/>
          </a:solidFill>
          <a:ln w="12700">
            <a:solidFill>
              <a:srgbClr val="1F2433"/>
            </a:solidFill>
            <a:prstDash val="solid"/>
          </a:ln>
        </p:spPr>
        <p:txBody>
          <a:bodyPr wrap="square" lIns="232452" tIns="130852" rIns="0" bIns="105452"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The theorem is powerful because it connects two traditions: tangents and quadrature.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0" i="0" dirty="0">
                <a:solidFill>
                  <a:srgbClr val="1F2433"/>
                </a:solidFill>
                <a:latin typeface="EB Garamond" pitchFamily="18" charset="0"/>
                <a:ea typeface="EB Garamond" pitchFamily="18" charset="-122"/>
                <a:cs typeface="EB Garamond" pitchFamily="18" charset="-120"/>
              </a:rPr>
              <a:t>Calculus did not stop there: Itô and randomness</a:t>
            </a:r>
            <a:endParaRPr lang="en-US" sz="3200" dirty="0"/>
          </a:p>
        </p:txBody>
      </p:sp>
      <p:sp>
        <p:nvSpPr>
          <p:cNvPr id="4" name="Text 2"/>
          <p:cNvSpPr/>
          <p:nvPr/>
        </p:nvSpPr>
        <p:spPr>
          <a:xfrm>
            <a:off x="812800" y="1803301"/>
            <a:ext cx="627888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Classical calculus often assumes smooth paths. But Brownian motion and noisy systems are irregular. Itô calculus studies equations such as:</a:t>
            </a:r>
            <a:endParaRPr lang="en-US" sz="1500" dirty="0"/>
          </a:p>
        </p:txBody>
      </p:sp>
      <p:sp>
        <p:nvSpPr>
          <p:cNvPr id="5" name="Text 3"/>
          <p:cNvSpPr/>
          <p:nvPr/>
        </p:nvSpPr>
        <p:spPr>
          <a:xfrm>
            <a:off x="819150" y="2463701"/>
            <a:ext cx="6083300" cy="613370"/>
          </a:xfrm>
          <a:prstGeom prst="roundRect">
            <a:avLst>
              <a:gd name="adj" fmla="val 15529"/>
            </a:avLst>
          </a:prstGeom>
          <a:solidFill>
            <a:srgbClr val="E6ECF3"/>
          </a:solidFill>
          <a:ln w="12700">
            <a:solidFill>
              <a:srgbClr val="1F2433"/>
            </a:solidFill>
            <a:prstDash val="solid"/>
          </a:ln>
        </p:spPr>
        <p:txBody>
          <a:bodyPr wrap="square" lIns="96689" tIns="105452" rIns="96689" bIns="80052" rtlCol="0" anchor="t">
            <a:normAutofit/>
          </a:bodyPr>
          <a:lstStyle/>
          <a:p>
            <a:pPr algn="ctr" indent="0" marL="0">
              <a:lnSpc>
                <a:spcPts val="2730"/>
              </a:lnSpc>
              <a:buNone/>
            </a:pPr>
            <a:r>
              <a:rPr lang="en-US" sz="2100" dirty="0">
                <a:solidFill>
                  <a:srgbClr val="1F2433"/>
                </a:solidFill>
                <a:latin typeface="EB Garamond" pitchFamily="18" charset="0"/>
                <a:ea typeface="EB Garamond" pitchFamily="18" charset="-122"/>
                <a:cs typeface="EB Garamond" pitchFamily="18" charset="-120"/>
              </a:rPr>
              <a:t>dXₜ = μ(Xₜ, t) dt + σ(Xₜ, t) dWₜ</a:t>
            </a:r>
            <a:endParaRPr lang="en-US" sz="2100" dirty="0"/>
          </a:p>
        </p:txBody>
      </p:sp>
      <p:sp>
        <p:nvSpPr>
          <p:cNvPr id="6" name="Text 4"/>
          <p:cNvSpPr/>
          <p:nvPr/>
        </p:nvSpPr>
        <p:spPr>
          <a:xfrm>
            <a:off x="812800" y="3185021"/>
            <a:ext cx="627888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One new rule is:</a:t>
            </a:r>
            <a:endParaRPr lang="en-US" sz="1500" dirty="0"/>
          </a:p>
        </p:txBody>
      </p:sp>
      <p:sp>
        <p:nvSpPr>
          <p:cNvPr id="7" name="Text 5"/>
          <p:cNvSpPr/>
          <p:nvPr/>
        </p:nvSpPr>
        <p:spPr>
          <a:xfrm>
            <a:off x="721360" y="3562846"/>
            <a:ext cx="6278880" cy="405110"/>
          </a:xfrm>
          <a:prstGeom prst="rect">
            <a:avLst/>
          </a:prstGeom>
          <a:noFill/>
          <a:ln/>
        </p:spPr>
        <p:txBody>
          <a:bodyPr wrap="square" lIns="0" tIns="0" rIns="0" bIns="0" rtlCol="0" anchor="t">
            <a:normAutofit/>
          </a:bodyPr>
          <a:lstStyle/>
          <a:p>
            <a:pPr algn="ctr" indent="0" marL="0">
              <a:lnSpc>
                <a:spcPts val="2990"/>
              </a:lnSpc>
              <a:buNone/>
            </a:pPr>
            <a:r>
              <a:rPr lang="en-US" sz="2300" dirty="0">
                <a:solidFill>
                  <a:srgbClr val="1F2433"/>
                </a:solidFill>
                <a:latin typeface="EB Garamond" pitchFamily="18" charset="0"/>
                <a:ea typeface="EB Garamond" pitchFamily="18" charset="-122"/>
                <a:cs typeface="EB Garamond" pitchFamily="18" charset="-120"/>
              </a:rPr>
              <a:t>(dWₜ)² = dt</a:t>
            </a:r>
            <a:endParaRPr lang="en-US" sz="2300" dirty="0"/>
          </a:p>
        </p:txBody>
      </p:sp>
      <p:sp>
        <p:nvSpPr>
          <p:cNvPr id="8" name="Text 6"/>
          <p:cNvSpPr/>
          <p:nvPr/>
        </p:nvSpPr>
        <p:spPr>
          <a:xfrm>
            <a:off x="7321550" y="2088654"/>
            <a:ext cx="4051300" cy="1568450"/>
          </a:xfrm>
          <a:prstGeom prst="roundRect">
            <a:avLst>
              <a:gd name="adj" fmla="val 6073"/>
            </a:avLst>
          </a:prstGeom>
          <a:solidFill>
            <a:srgbClr val="E6ECF3"/>
          </a:solidFill>
          <a:ln w="12700">
            <a:solidFill>
              <a:srgbClr val="1F2433"/>
            </a:solidFill>
            <a:prstDash val="solid"/>
          </a:ln>
        </p:spPr>
        <p:txBody>
          <a:bodyPr wrap="square" lIns="232452" tIns="232452" rIns="126534" bIns="207052" rtlCol="0" anchor="t">
            <a:normAutofit/>
          </a:bodyPr>
          <a:lstStyle/>
          <a:p>
            <a:pPr algn="l" indent="0" marL="0">
              <a:lnSpc>
                <a:spcPts val="2750"/>
              </a:lnSpc>
              <a:buNone/>
            </a:pPr>
            <a:r>
              <a:rPr lang="en-US" sz="2200" dirty="0">
                <a:solidFill>
                  <a:srgbClr val="1F2433"/>
                </a:solidFill>
                <a:latin typeface="EB Garamond" pitchFamily="18" charset="0"/>
                <a:ea typeface="EB Garamond" pitchFamily="18" charset="-122"/>
                <a:cs typeface="EB Garamond" pitchFamily="18" charset="-120"/>
              </a:rPr>
              <a:t>Calculus keeps changing when new mathematical problems appear.</a:t>
            </a:r>
            <a:endParaRPr lang="en-US" sz="2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Main activity: rewrite the myth</a:t>
            </a:r>
            <a:endParaRPr lang="en-US" sz="3600" dirty="0"/>
          </a:p>
        </p:txBody>
      </p:sp>
      <p:sp>
        <p:nvSpPr>
          <p:cNvPr id="4" name="Shape 2"/>
          <p:cNvSpPr/>
          <p:nvPr/>
        </p:nvSpPr>
        <p:spPr>
          <a:xfrm>
            <a:off x="819150" y="1789311"/>
            <a:ext cx="10553700" cy="1520726"/>
          </a:xfrm>
          <a:prstGeom prst="roundRect">
            <a:avLst>
              <a:gd name="adj" fmla="val 6263"/>
            </a:avLst>
          </a:prstGeom>
          <a:solidFill>
            <a:srgbClr val="F7EBD6"/>
          </a:solidFill>
          <a:ln w="12700">
            <a:solidFill>
              <a:srgbClr val="E0A458"/>
            </a:solidFill>
            <a:prstDash val="solid"/>
          </a:ln>
        </p:spPr>
      </p:sp>
      <p:sp>
        <p:nvSpPr>
          <p:cNvPr id="5" name="Text 3"/>
          <p:cNvSpPr/>
          <p:nvPr/>
        </p:nvSpPr>
        <p:spPr>
          <a:xfrm>
            <a:off x="1079500" y="1998861"/>
            <a:ext cx="10333990" cy="220960"/>
          </a:xfrm>
          <a:prstGeom prst="rect">
            <a:avLst/>
          </a:prstGeom>
          <a:noFill/>
          <a:ln/>
        </p:spPr>
        <p:txBody>
          <a:bodyPr wrap="square" lIns="0" tIns="0" rIns="0" bIns="0" rtlCol="0" anchor="t">
            <a:normAutofit/>
          </a:bodyPr>
          <a:lstStyle/>
          <a:p>
            <a:pPr algn="l" indent="0" marL="0">
              <a:lnSpc>
                <a:spcPts val="1540"/>
              </a:lnSpc>
              <a:buNone/>
            </a:pPr>
            <a:r>
              <a:rPr lang="en-US" sz="1100" b="1" spc="150" kern="0" dirty="0">
                <a:solidFill>
                  <a:srgbClr val="8C2F39"/>
                </a:solidFill>
                <a:latin typeface="IBM Plex Sans" pitchFamily="34" charset="0"/>
                <a:ea typeface="IBM Plex Sans" pitchFamily="34" charset="-122"/>
                <a:cs typeface="IBM Plex Sans" pitchFamily="34" charset="-120"/>
              </a:rPr>
              <a:t>GROUP TASK · 5 MINUTES</a:t>
            </a:r>
            <a:endParaRPr lang="en-US" sz="1100" dirty="0"/>
          </a:p>
        </p:txBody>
      </p:sp>
      <p:sp>
        <p:nvSpPr>
          <p:cNvPr id="6" name="Text 4"/>
          <p:cNvSpPr/>
          <p:nvPr/>
        </p:nvSpPr>
        <p:spPr>
          <a:xfrm>
            <a:off x="1079500" y="2296021"/>
            <a:ext cx="1033399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Rewrite this sentence so that it is mathematically and historically more accurate:</a:t>
            </a:r>
            <a:endParaRPr lang="en-US" sz="1500" dirty="0"/>
          </a:p>
        </p:txBody>
      </p:sp>
      <p:sp>
        <p:nvSpPr>
          <p:cNvPr id="7" name="Text 5"/>
          <p:cNvSpPr/>
          <p:nvPr/>
        </p:nvSpPr>
        <p:spPr>
          <a:xfrm>
            <a:off x="929005" y="2673846"/>
            <a:ext cx="10333990" cy="452041"/>
          </a:xfrm>
          <a:prstGeom prst="rect">
            <a:avLst/>
          </a:prstGeom>
          <a:noFill/>
          <a:ln/>
        </p:spPr>
        <p:txBody>
          <a:bodyPr wrap="square" lIns="0" tIns="0" rIns="0" bIns="0" rtlCol="0" anchor="t">
            <a:normAutofit/>
          </a:bodyPr>
          <a:lstStyle/>
          <a:p>
            <a:pPr algn="ctr" indent="0" marL="0">
              <a:lnSpc>
                <a:spcPts val="3360"/>
              </a:lnSpc>
              <a:buNone/>
            </a:pPr>
            <a:r>
              <a:rPr lang="en-US" sz="2800" dirty="0">
                <a:solidFill>
                  <a:srgbClr val="1F2433"/>
                </a:solidFill>
                <a:latin typeface="EB Garamond" pitchFamily="18" charset="0"/>
                <a:ea typeface="EB Garamond" pitchFamily="18" charset="-122"/>
                <a:cs typeface="EB Garamond" pitchFamily="18" charset="-120"/>
              </a:rPr>
              <a:t>“Newton invented calculus, and Leibniz copied him.”</a:t>
            </a:r>
            <a:endParaRPr lang="en-US" sz="2800" dirty="0"/>
          </a:p>
        </p:txBody>
      </p:sp>
      <p:sp>
        <p:nvSpPr>
          <p:cNvPr id="8" name="Text 6"/>
          <p:cNvSpPr/>
          <p:nvPr/>
        </p:nvSpPr>
        <p:spPr>
          <a:xfrm>
            <a:off x="812800" y="3494187"/>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B4050"/>
                </a:solidFill>
                <a:latin typeface="IBM Plex Sans" pitchFamily="34" charset="0"/>
                <a:ea typeface="IBM Plex Sans" pitchFamily="34" charset="-122"/>
                <a:cs typeface="IBM Plex Sans" pitchFamily="34" charset="-120"/>
              </a:rPr>
              <a:t>Your sentence should mention at least two of the following:</a:t>
            </a:r>
            <a:endParaRPr lang="en-US" sz="1500" dirty="0"/>
          </a:p>
        </p:txBody>
      </p:sp>
      <p:sp>
        <p:nvSpPr>
          <p:cNvPr id="9" name="Text 7"/>
          <p:cNvSpPr/>
          <p:nvPr/>
        </p:nvSpPr>
        <p:spPr>
          <a:xfrm>
            <a:off x="883920" y="3948212"/>
            <a:ext cx="10804652"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earlier mathematical background;</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Newton and Leibniz's different approaches;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notation, publication, or institutions;</a:t>
            </a:r>
            <a:endParaRPr lang="en-US" sz="1500" dirty="0"/>
          </a:p>
          <a:p>
            <a:pPr algn="l" marL="182880" indent="-182880">
              <a:lnSpc>
                <a:spcPts val="2250"/>
              </a:lnSpc>
              <a:buSzPct val="100000"/>
              <a:buChar char="•"/>
            </a:pPr>
            <a:r>
              <a:rPr lang="en-US" sz="1500" dirty="0">
                <a:solidFill>
                  <a:srgbClr val="3B4050"/>
                </a:solidFill>
                <a:latin typeface="IBM Plex Sans" pitchFamily="34" charset="0"/>
                <a:ea typeface="IBM Plex Sans" pitchFamily="34" charset="-122"/>
                <a:cs typeface="IBM Plex Sans" pitchFamily="34" charset="-120"/>
              </a:rPr>
              <a:t>global and inclusive contributions.</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Possible rewrite</a:t>
            </a:r>
            <a:endParaRPr lang="en-US" sz="3600" dirty="0"/>
          </a:p>
        </p:txBody>
      </p:sp>
      <p:sp>
        <p:nvSpPr>
          <p:cNvPr id="4" name="Text 2"/>
          <p:cNvSpPr/>
          <p:nvPr/>
        </p:nvSpPr>
        <p:spPr>
          <a:xfrm>
            <a:off x="819150" y="1865511"/>
            <a:ext cx="10553700" cy="2149376"/>
          </a:xfrm>
          <a:prstGeom prst="roundRect">
            <a:avLst>
              <a:gd name="adj" fmla="val 4432"/>
            </a:avLst>
          </a:prstGeom>
          <a:solidFill>
            <a:srgbClr val="E6ECF3"/>
          </a:solidFill>
          <a:ln w="12700">
            <a:solidFill>
              <a:srgbClr val="1F2433"/>
            </a:solidFill>
            <a:prstDash val="solid"/>
          </a:ln>
        </p:spPr>
        <p:txBody>
          <a:bodyPr wrap="square" lIns="283252" tIns="232452" rIns="0" bIns="207052" rtlCol="0" anchor="t">
            <a:normAutofit/>
          </a:bodyPr>
          <a:lstStyle/>
          <a:p>
            <a:pPr algn="l" indent="0" marL="0">
              <a:lnSpc>
                <a:spcPts val="2565"/>
              </a:lnSpc>
              <a:buNone/>
            </a:pPr>
            <a:r>
              <a:rPr lang="en-US" sz="1900" dirty="0">
                <a:solidFill>
                  <a:srgbClr val="1F2433"/>
                </a:solidFill>
                <a:latin typeface="EB Garamond" pitchFamily="18" charset="0"/>
                <a:ea typeface="EB Garamond" pitchFamily="18" charset="-122"/>
                <a:cs typeface="EB Garamond" pitchFamily="18" charset="-120"/>
              </a:rPr>
              <a:t>Newton and Leibniz independently developed systematic versions of calculus in the seventeenth century. Their work was revolutionary, but it built on earlier problems about areas, tangents, motion, infinitesimals, and infinite series. Leibniz's notation helped calculus spread, while Newton's approach was deeply connected to mechanics. A fuller history also includes contributions from Greek, Chinese, Islamic, Indian, European, women, and modern global mathematicians.</a:t>
            </a:r>
            <a:endParaRPr lang="en-US" sz="1900" dirty="0"/>
          </a:p>
        </p:txBody>
      </p:sp>
      <p:sp>
        <p:nvSpPr>
          <p:cNvPr id="5" name="Text 3"/>
          <p:cNvSpPr/>
          <p:nvPr/>
        </p:nvSpPr>
        <p:spPr>
          <a:xfrm>
            <a:off x="819150" y="4281587"/>
            <a:ext cx="10553700" cy="593725"/>
          </a:xfrm>
          <a:prstGeom prst="roundRect">
            <a:avLst>
              <a:gd name="adj" fmla="val 16043"/>
            </a:avLst>
          </a:prstGeom>
          <a:solidFill>
            <a:srgbClr val="FBF8F1"/>
          </a:solidFill>
          <a:ln w="12700">
            <a:solidFill>
              <a:srgbClr val="8C2F39"/>
            </a:solidFill>
            <a:prstDash val="solid"/>
          </a:ln>
        </p:spPr>
        <p:txBody>
          <a:bodyPr wrap="square" lIns="232452" tIns="130852" rIns="0" bIns="105452" rtlCol="0" anchor="t">
            <a:normAutofit/>
          </a:bodyPr>
          <a:lstStyle/>
          <a:p>
            <a:pPr algn="l" indent="0" marL="0">
              <a:lnSpc>
                <a:spcPts val="2175"/>
              </a:lnSpc>
              <a:buNone/>
            </a:pPr>
            <a:r>
              <a:rPr lang="en-US" sz="1500" dirty="0">
                <a:solidFill>
                  <a:srgbClr val="1F2433"/>
                </a:solidFill>
                <a:latin typeface="IBM Plex Sans" pitchFamily="34" charset="0"/>
                <a:ea typeface="IBM Plex Sans" pitchFamily="34" charset="-122"/>
                <a:cs typeface="IBM Plex Sans" pitchFamily="34" charset="-120"/>
              </a:rPr>
              <a:t>What would you change in this rewrite? Is it still too long? Too cautious? Too modern?</a:t>
            </a:r>
            <a:endParaRPr lang="en-US" sz="15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SECTION 5 · CALCULUS</a:t>
            </a:r>
            <a:endParaRPr lang="en-US" sz="1200" dirty="0"/>
          </a:p>
        </p:txBody>
      </p:sp>
      <p:sp>
        <p:nvSpPr>
          <p:cNvPr id="3" name="Text 1"/>
          <p:cNvSpPr/>
          <p:nvPr>
            <p:ph type="title"/>
          </p:nvPr>
        </p:nvSpPr>
        <p:spPr>
          <a:xfrm>
            <a:off x="812800" y="11023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F2433"/>
                </a:solidFill>
                <a:latin typeface="EB Garamond" pitchFamily="18" charset="0"/>
                <a:ea typeface="EB Garamond" pitchFamily="18" charset="-122"/>
                <a:cs typeface="EB Garamond" pitchFamily="18" charset="-120"/>
              </a:rPr>
              <a:t>What to take away</a:t>
            </a:r>
            <a:endParaRPr lang="en-US" sz="3600" dirty="0"/>
          </a:p>
        </p:txBody>
      </p:sp>
      <p:sp>
        <p:nvSpPr>
          <p:cNvPr id="4" name="Text 2"/>
          <p:cNvSpPr/>
          <p:nvPr/>
        </p:nvSpPr>
        <p:spPr>
          <a:xfrm>
            <a:off x="841573" y="1859161"/>
            <a:ext cx="10846999" cy="1549400"/>
          </a:xfrm>
          <a:prstGeom prst="rect">
            <a:avLst/>
          </a:prstGeom>
          <a:noFill/>
          <a:ln/>
        </p:spPr>
        <p:txBody>
          <a:bodyPr wrap="square" lIns="0" tIns="0" rIns="0" bIns="0" rtlCol="0" anchor="t">
            <a:normAutofit/>
          </a:bodyPr>
          <a:lstStyle/>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Calculus is a mathematical theory of change and accumulation.</a:t>
            </a:r>
            <a:endParaRPr lang="en-US" sz="1600" dirty="0"/>
          </a:p>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Newton and Leibniz matter, but they are not the whole story.</a:t>
            </a:r>
            <a:endParaRPr lang="en-US" sz="1600" dirty="0"/>
          </a:p>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Notation and publication affect who gets remembered.</a:t>
            </a:r>
            <a:endParaRPr lang="en-US" sz="1600" dirty="0"/>
          </a:p>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Inclusive history is not decoration: it changes the structure of the story.</a:t>
            </a:r>
            <a:endParaRPr lang="en-US" sz="1600" dirty="0"/>
          </a:p>
          <a:p>
            <a:pPr algn="l" marL="225227" indent="-225227">
              <a:lnSpc>
                <a:spcPts val="2400"/>
              </a:lnSpc>
              <a:buSzPct val="100000"/>
              <a:buFontTx/>
              <a:buAutoNum type="arabicPeriod" startAt="1"/>
            </a:pPr>
            <a:r>
              <a:rPr lang="en-US" sz="1600" dirty="0">
                <a:solidFill>
                  <a:srgbClr val="3B4050"/>
                </a:solidFill>
                <a:latin typeface="IBM Plex Sans" pitchFamily="34" charset="0"/>
                <a:ea typeface="IBM Plex Sans" pitchFamily="34" charset="-122"/>
                <a:cs typeface="IBM Plex Sans" pitchFamily="34" charset="-120"/>
              </a:rPr>
              <a:t>Modern calculus continues the same questions in new settings.</a:t>
            </a:r>
            <a:endParaRPr lang="en-US" sz="1600" dirty="0"/>
          </a:p>
        </p:txBody>
      </p:sp>
      <p:sp>
        <p:nvSpPr>
          <p:cNvPr id="5" name="Text 3"/>
          <p:cNvSpPr/>
          <p:nvPr/>
        </p:nvSpPr>
        <p:spPr>
          <a:xfrm>
            <a:off x="654304" y="3637161"/>
            <a:ext cx="10883392" cy="421580"/>
          </a:xfrm>
          <a:prstGeom prst="rect">
            <a:avLst/>
          </a:prstGeom>
          <a:noFill/>
          <a:ln/>
        </p:spPr>
        <p:txBody>
          <a:bodyPr wrap="square" lIns="0" tIns="0" rIns="0" bIns="0" rtlCol="0" anchor="t">
            <a:normAutofit/>
          </a:bodyPr>
          <a:lstStyle/>
          <a:p>
            <a:pPr algn="ctr" indent="0" marL="0">
              <a:lnSpc>
                <a:spcPts val="3120"/>
              </a:lnSpc>
              <a:buNone/>
            </a:pPr>
            <a:r>
              <a:rPr lang="en-US" sz="2600" dirty="0">
                <a:solidFill>
                  <a:srgbClr val="8C2F39"/>
                </a:solidFill>
                <a:latin typeface="EB Garamond" pitchFamily="18" charset="0"/>
                <a:ea typeface="EB Garamond" pitchFamily="18" charset="-122"/>
                <a:cs typeface="EB Garamond" pitchFamily="18" charset="-120"/>
              </a:rPr>
              <a:t>Calculus is a shared human history of change.</a:t>
            </a:r>
            <a:endParaRPr lang="en-US" sz="2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F2433"/>
        </a:solidFill>
      </p:bgPr>
    </p:bg>
    <p:spTree>
      <p:nvGrpSpPr>
        <p:cNvPr id="1" name=""/>
        <p:cNvGrpSpPr/>
        <p:nvPr/>
      </p:nvGrpSpPr>
      <p:grpSpPr>
        <a:xfrm>
          <a:off x="0" y="0"/>
          <a:ext cx="0" cy="0"/>
          <a:chOff x="0" y="0"/>
          <a:chExt cx="0" cy="0"/>
        </a:xfrm>
      </p:grpSpPr>
      <p:sp>
        <p:nvSpPr>
          <p:cNvPr id="2" name="Text 0"/>
          <p:cNvSpPr/>
          <p:nvPr/>
        </p:nvSpPr>
        <p:spPr>
          <a:xfrm>
            <a:off x="812800" y="20498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300" kern="0" dirty="0">
                <a:solidFill>
                  <a:srgbClr val="E0A458"/>
                </a:solidFill>
                <a:latin typeface="IBM Plex Sans" pitchFamily="34" charset="0"/>
                <a:ea typeface="IBM Plex Sans" pitchFamily="34" charset="-122"/>
                <a:cs typeface="IBM Plex Sans" pitchFamily="34" charset="-120"/>
              </a:rPr>
              <a:t>HISTORY OF MATHS · MTH6003U</a:t>
            </a:r>
            <a:endParaRPr lang="en-US" sz="1400" dirty="0"/>
          </a:p>
        </p:txBody>
      </p:sp>
      <p:sp>
        <p:nvSpPr>
          <p:cNvPr id="3" name="Text 1"/>
          <p:cNvSpPr/>
          <p:nvPr>
            <p:ph type="title"/>
          </p:nvPr>
        </p:nvSpPr>
        <p:spPr>
          <a:xfrm>
            <a:off x="812800" y="2552700"/>
            <a:ext cx="10883392" cy="1041400"/>
          </a:xfrm>
          <a:prstGeom prst="rect">
            <a:avLst/>
          </a:prstGeom>
          <a:noFill/>
          <a:ln/>
        </p:spPr>
        <p:txBody>
          <a:bodyPr wrap="square" lIns="0" tIns="0" rIns="0" bIns="0" rtlCol="0" anchor="t">
            <a:normAutofit/>
          </a:bodyPr>
          <a:lstStyle/>
          <a:p>
            <a:pPr algn="l" indent="0" marL="0">
              <a:lnSpc>
                <a:spcPts val="8000"/>
              </a:lnSpc>
              <a:buNone/>
            </a:pPr>
            <a:r>
              <a:rPr lang="en-US" sz="8000" b="0" i="0" dirty="0">
                <a:solidFill>
                  <a:srgbClr val="F6F1E7"/>
                </a:solidFill>
                <a:latin typeface="EB Garamond" pitchFamily="18" charset="0"/>
                <a:ea typeface="EB Garamond" pitchFamily="18" charset="-122"/>
                <a:cs typeface="EB Garamond" pitchFamily="18" charset="-120"/>
              </a:rPr>
              <a:t>Thank you</a:t>
            </a:r>
            <a:endParaRPr lang="en-US" sz="8000" dirty="0"/>
          </a:p>
        </p:txBody>
      </p:sp>
      <p:sp>
        <p:nvSpPr>
          <p:cNvPr id="4" name="Text 2"/>
          <p:cNvSpPr/>
          <p:nvPr/>
        </p:nvSpPr>
        <p:spPr>
          <a:xfrm>
            <a:off x="812800" y="382270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i="1" dirty="0">
                <a:solidFill>
                  <a:srgbClr val="E0A458"/>
                </a:solidFill>
                <a:latin typeface="EB Garamond" pitchFamily="18" charset="0"/>
                <a:ea typeface="EB Garamond" pitchFamily="18" charset="-122"/>
                <a:cs typeface="EB Garamond" pitchFamily="18" charset="-120"/>
              </a:rPr>
              <a:t>Questions?</a:t>
            </a:r>
            <a:endParaRPr lang="en-US" sz="3200" dirty="0"/>
          </a:p>
        </p:txBody>
      </p:sp>
      <p:sp>
        <p:nvSpPr>
          <p:cNvPr id="5" name="Text 3"/>
          <p:cNvSpPr/>
          <p:nvPr/>
        </p:nvSpPr>
        <p:spPr>
          <a:xfrm>
            <a:off x="812800" y="45236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CED8"/>
                </a:solidFill>
                <a:latin typeface="IBM Plex Sans" pitchFamily="34" charset="0"/>
                <a:ea typeface="IBM Plex Sans" pitchFamily="34" charset="-122"/>
                <a:cs typeface="IBM Plex Sans" pitchFamily="34" charset="-120"/>
              </a:rPr>
              <a:t>Ivelina Mladenova &amp; Norberto Lucero Azuara · Queen Mary University of London</a:t>
            </a:r>
            <a:endParaRPr lang="en-US" sz="1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1E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8C2F39"/>
                </a:solidFill>
                <a:latin typeface="IBM Plex Sans" pitchFamily="34" charset="0"/>
                <a:ea typeface="IBM Plex Sans" pitchFamily="34" charset="-122"/>
                <a:cs typeface="IBM Plex Sans" pitchFamily="34" charset="-120"/>
              </a:rPr>
              <a:t>APPENDIX · EXTRA ROUND FOR THE CAREFUL-SENTENCE GAME</a:t>
            </a:r>
            <a:endParaRPr lang="en-US" sz="1200" dirty="0"/>
          </a:p>
        </p:txBody>
      </p:sp>
      <p:sp>
        <p:nvSpPr>
          <p:cNvPr id="3" name="Text 1"/>
          <p:cNvSpPr/>
          <p:nvPr/>
        </p:nvSpPr>
        <p:spPr>
          <a:xfrm>
            <a:off x="812800" y="1280120"/>
            <a:ext cx="10883392" cy="1000720"/>
          </a:xfrm>
          <a:prstGeom prst="rect">
            <a:avLst/>
          </a:prstGeom>
          <a:noFill/>
          <a:ln/>
        </p:spPr>
        <p:txBody>
          <a:bodyPr wrap="square" lIns="0" tIns="0" rIns="0" bIns="0" rtlCol="0" anchor="t">
            <a:normAutofit/>
          </a:bodyPr>
          <a:lstStyle/>
          <a:p>
            <a:pPr algn="l" indent="0" marL="0">
              <a:lnSpc>
                <a:spcPts val="3840"/>
              </a:lnSpc>
              <a:buNone/>
            </a:pPr>
            <a:r>
              <a:rPr lang="en-US" sz="3200" dirty="0">
                <a:solidFill>
                  <a:srgbClr val="1F2433"/>
                </a:solidFill>
                <a:latin typeface="EB Garamond" pitchFamily="18" charset="0"/>
                <a:ea typeface="EB Garamond" pitchFamily="18" charset="-122"/>
                <a:cs typeface="EB Garamond" pitchFamily="18" charset="-120"/>
              </a:rPr>
              <a:t>"Jeffreys worked out the foundations of </a:t>
            </a:r>
            <a:r>
              <a:rPr lang="en-US" sz="3200" i="1" dirty="0">
                <a:solidFill>
                  <a:srgbClr val="1F2433"/>
                </a:solidFill>
                <a:latin typeface="EB Garamond" pitchFamily="18" charset="0"/>
                <a:ea typeface="EB Garamond" pitchFamily="18" charset="-122"/>
                <a:cs typeface="EB Garamond" pitchFamily="18" charset="-120"/>
              </a:rPr>
              <a:t>Scientific Inference</a:t>
            </a:r>
            <a:r>
              <a:rPr lang="en-US" sz="3200" dirty="0">
                <a:solidFill>
                  <a:srgbClr val="1F2433"/>
                </a:solidFill>
                <a:latin typeface="EB Garamond" pitchFamily="18" charset="0"/>
                <a:ea typeface="EB Garamond" pitchFamily="18" charset="-122"/>
                <a:cs typeface="EB Garamond" pitchFamily="18" charset="-120"/>
              </a:rPr>
              <a:t> (1931) on his own."</a:t>
            </a:r>
            <a:endParaRPr lang="en-US" sz="3200" dirty="0"/>
          </a:p>
        </p:txBody>
      </p:sp>
      <p:sp>
        <p:nvSpPr>
          <p:cNvPr id="4" name="Text 2"/>
          <p:cNvSpPr/>
          <p:nvPr/>
        </p:nvSpPr>
        <p:spPr>
          <a:xfrm>
            <a:off x="812800" y="2509441"/>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B6F7A"/>
                </a:solidFill>
                <a:latin typeface="IBM Plex Sans" pitchFamily="34" charset="0"/>
                <a:ea typeface="IBM Plex Sans" pitchFamily="34" charset="-122"/>
                <a:cs typeface="IBM Plex Sans" pitchFamily="34" charset="-120"/>
              </a:rPr>
              <a:t>What's wrong with it? Which rule does it break? How would you write it?</a:t>
            </a:r>
            <a:endParaRPr lang="en-US" sz="1400" dirty="0"/>
          </a:p>
        </p:txBody>
      </p:sp>
      <p:sp>
        <p:nvSpPr>
          <p:cNvPr id="5" name="Shape 3"/>
          <p:cNvSpPr/>
          <p:nvPr/>
        </p:nvSpPr>
        <p:spPr>
          <a:xfrm>
            <a:off x="819150" y="3765550"/>
            <a:ext cx="10553700" cy="2019300"/>
          </a:xfrm>
          <a:prstGeom prst="roundRect">
            <a:avLst>
              <a:gd name="adj" fmla="val 4717"/>
            </a:avLst>
          </a:prstGeom>
          <a:solidFill>
            <a:srgbClr val="E6ECF3"/>
          </a:solidFill>
          <a:ln w="12700">
            <a:solidFill>
              <a:srgbClr val="1F2433"/>
            </a:solidFill>
            <a:prstDash val="solid"/>
          </a:ln>
        </p:spPr>
      </p:sp>
      <p:sp>
        <p:nvSpPr>
          <p:cNvPr id="6" name="Text 4"/>
          <p:cNvSpPr/>
          <p:nvPr/>
        </p:nvSpPr>
        <p:spPr>
          <a:xfrm>
            <a:off x="1130300" y="4025900"/>
            <a:ext cx="1022934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2F39"/>
                </a:solidFill>
                <a:latin typeface="IBM Plex Sans" pitchFamily="34" charset="0"/>
                <a:ea typeface="IBM Plex Sans" pitchFamily="34" charset="-122"/>
                <a:cs typeface="IBM Plex Sans" pitchFamily="34" charset="-120"/>
              </a:rPr>
              <a:t>SOMEONE LEFT OUT · RULE 7</a:t>
            </a:r>
            <a:endParaRPr lang="en-US" sz="1200" dirty="0"/>
          </a:p>
        </p:txBody>
      </p:sp>
      <p:sp>
        <p:nvSpPr>
          <p:cNvPr id="7" name="Text 5"/>
          <p:cNvSpPr/>
          <p:nvPr/>
        </p:nvSpPr>
        <p:spPr>
          <a:xfrm>
            <a:off x="1130300" y="4340820"/>
            <a:ext cx="102293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050"/>
                </a:solidFill>
                <a:latin typeface="IBM Plex Sans" pitchFamily="34" charset="0"/>
                <a:ea typeface="IBM Plex Sans" pitchFamily="34" charset="-122"/>
                <a:cs typeface="IBM Plex Sans" pitchFamily="34" charset="-120"/>
              </a:rPr>
              <a:t>Jeffreys himself credited his joint papers with Dorothy Wrinch.</a:t>
            </a:r>
            <a:endParaRPr lang="en-US" sz="1400" dirty="0"/>
          </a:p>
        </p:txBody>
      </p:sp>
      <p:sp>
        <p:nvSpPr>
          <p:cNvPr id="8" name="Text 6"/>
          <p:cNvSpPr/>
          <p:nvPr/>
        </p:nvSpPr>
        <p:spPr>
          <a:xfrm>
            <a:off x="1130300" y="4691261"/>
            <a:ext cx="10229342" cy="31680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1F2433"/>
                </a:solidFill>
                <a:latin typeface="EB Garamond" pitchFamily="18" charset="0"/>
                <a:ea typeface="EB Garamond" pitchFamily="18" charset="-122"/>
                <a:cs typeface="EB Garamond" pitchFamily="18" charset="-120"/>
              </a:rPr>
              <a:t>Careful: "Jeffreys credited his papers with Dorothy Wrinch (1919–1923) as the basis of </a:t>
            </a:r>
            <a:r>
              <a:rPr lang="en-US" sz="1700" i="1" dirty="0">
                <a:solidFill>
                  <a:srgbClr val="1F2433"/>
                </a:solidFill>
                <a:latin typeface="EB Garamond" pitchFamily="18" charset="0"/>
                <a:ea typeface="EB Garamond" pitchFamily="18" charset="-122"/>
                <a:cs typeface="EB Garamond" pitchFamily="18" charset="-120"/>
              </a:rPr>
              <a:t>Scientific Inference</a:t>
            </a:r>
            <a:r>
              <a:rPr lang="en-US" sz="1700" dirty="0">
                <a:solidFill>
                  <a:srgbClr val="1F2433"/>
                </a:solidFill>
                <a:latin typeface="EB Garamond" pitchFamily="18" charset="0"/>
                <a:ea typeface="EB Garamond" pitchFamily="18" charset="-122"/>
                <a:cs typeface="EB Garamond" pitchFamily="18" charset="-120"/>
              </a:rPr>
              <a:t> (1931)."</a:t>
            </a:r>
            <a:endParaRPr lang="en-US" sz="1700" dirty="0"/>
          </a:p>
        </p:txBody>
      </p:sp>
    </p:spTree>
  </p:cSld>
  <p:clrMapOvr>
    <a:masterClrMapping/>
  </p:clrMapOvr>
</p:sld>
</file>

<file path=ppt/theme/theme1.xml><?xml version="1.0" encoding="utf-8"?>
<a:theme xmlns:a="http://schemas.openxmlformats.org/drawingml/2006/main" name="Read the Original">
  <a:themeElements>
    <a:clrScheme name="Read the Original">
      <a:dk1>
        <a:srgbClr val="1F2433"/>
      </a:dk1>
      <a:lt1>
        <a:srgbClr val="F6F1E7"/>
      </a:lt1>
      <a:dk2>
        <a:srgbClr val="555760"/>
      </a:dk2>
      <a:lt2>
        <a:srgbClr val="E1DDD5"/>
      </a:lt2>
      <a:accent1>
        <a:srgbClr val="8C2F39"/>
      </a:accent1>
      <a:accent2>
        <a:srgbClr val="E0A458"/>
      </a:accent2>
      <a:accent3>
        <a:srgbClr val="3B4050"/>
      </a:accent3>
      <a:accent4>
        <a:srgbClr val="6B6F7A"/>
      </a:accent4>
      <a:accent5>
        <a:srgbClr val="C9CED8"/>
      </a:accent5>
      <a:accent6>
        <a:srgbClr val="4A4F5C"/>
      </a:accent6>
      <a:hlink>
        <a:srgbClr val="0563C1"/>
      </a:hlink>
      <a:folHlink>
        <a:srgbClr val="954F72"/>
      </a:folHlink>
    </a:clrScheme>
    <a:fontScheme name="Read the Original">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 the Original</dc:title>
  <dc:subject/>
  <dc:creator/>
  <cp:lastModifiedBy/>
  <cp:revision>1</cp:revision>
  <dcterms:created xsi:type="dcterms:W3CDTF">2026-10-13T12:38:28Z</dcterms:created>
  <dcterms:modified xsi:type="dcterms:W3CDTF">2026-10-13T12:38:28Z</dcterms:modified>
</cp:coreProperties>
</file>